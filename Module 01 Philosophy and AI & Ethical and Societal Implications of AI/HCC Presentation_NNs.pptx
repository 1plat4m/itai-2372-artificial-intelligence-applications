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8" r:id="rId3"/>
    <p:sldId id="259" r:id="rId4"/>
    <p:sldId id="261" r:id="rId5"/>
    <p:sldId id="262" r:id="rId6"/>
    <p:sldId id="263" r:id="rId7"/>
    <p:sldId id="269" r:id="rId8"/>
    <p:sldId id="270" r:id="rId9"/>
    <p:sldId id="268" r:id="rId10"/>
    <p:sldId id="266" r:id="rId11"/>
    <p:sldId id="267" r:id="rId12"/>
  </p:sldIdLst>
  <p:sldSz cx="18288000" cy="10287000"/>
  <p:notesSz cx="6858000" cy="9144000"/>
  <p:embeddedFontLst>
    <p:embeddedFont>
      <p:font typeface="DM Sans" pitchFamily="2" charset="0"/>
      <p:regular r:id="rId14"/>
      <p:bold r:id="rId15"/>
      <p:italic r:id="rId16"/>
      <p:boldItalic r:id="rId17"/>
    </p:embeddedFont>
    <p:embeddedFont>
      <p:font typeface="DM Sans Bold"/>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B1DE5-3BD7-42E7-9B31-421BF60D8EDB}" v="6" dt="2024-11-05T15:15:48.8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8" d="100"/>
          <a:sy n="68" d="100"/>
        </p:scale>
        <p:origin x="108" y="87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2.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purna Rachapudi" userId="be4ceb0c83baf084" providerId="LiveId" clId="{3ADB1DE5-3BD7-42E7-9B31-421BF60D8EDB}"/>
    <pc:docChg chg="undo custSel addSld delSld modSld sldOrd">
      <pc:chgData name="Annapurna Rachapudi" userId="be4ceb0c83baf084" providerId="LiveId" clId="{3ADB1DE5-3BD7-42E7-9B31-421BF60D8EDB}" dt="2024-11-05T15:15:51.907" v="1571" actId="26606"/>
      <pc:docMkLst>
        <pc:docMk/>
      </pc:docMkLst>
      <pc:sldChg chg="del">
        <pc:chgData name="Annapurna Rachapudi" userId="be4ceb0c83baf084" providerId="LiveId" clId="{3ADB1DE5-3BD7-42E7-9B31-421BF60D8EDB}" dt="2024-11-05T08:49:50.316" v="1532" actId="47"/>
        <pc:sldMkLst>
          <pc:docMk/>
          <pc:sldMk cId="0" sldId="257"/>
        </pc:sldMkLst>
      </pc:sldChg>
      <pc:sldChg chg="ord modNotes">
        <pc:chgData name="Annapurna Rachapudi" userId="be4ceb0c83baf084" providerId="LiveId" clId="{3ADB1DE5-3BD7-42E7-9B31-421BF60D8EDB}" dt="2024-11-05T08:49:59.314" v="1534"/>
        <pc:sldMkLst>
          <pc:docMk/>
          <pc:sldMk cId="0" sldId="259"/>
        </pc:sldMkLst>
      </pc:sldChg>
      <pc:sldChg chg="del">
        <pc:chgData name="Annapurna Rachapudi" userId="be4ceb0c83baf084" providerId="LiveId" clId="{3ADB1DE5-3BD7-42E7-9B31-421BF60D8EDB}" dt="2024-11-05T08:05:34.504" v="4" actId="47"/>
        <pc:sldMkLst>
          <pc:docMk/>
          <pc:sldMk cId="0" sldId="260"/>
        </pc:sldMkLst>
      </pc:sldChg>
      <pc:sldChg chg="ord modNotes">
        <pc:chgData name="Annapurna Rachapudi" userId="be4ceb0c83baf084" providerId="LiveId" clId="{3ADB1DE5-3BD7-42E7-9B31-421BF60D8EDB}" dt="2024-11-05T08:50:18.380" v="1537"/>
        <pc:sldMkLst>
          <pc:docMk/>
          <pc:sldMk cId="0" sldId="263"/>
        </pc:sldMkLst>
      </pc:sldChg>
      <pc:sldChg chg="modSp del mod">
        <pc:chgData name="Annapurna Rachapudi" userId="be4ceb0c83baf084" providerId="LiveId" clId="{3ADB1DE5-3BD7-42E7-9B31-421BF60D8EDB}" dt="2024-11-05T08:32:40.369" v="970" actId="47"/>
        <pc:sldMkLst>
          <pc:docMk/>
          <pc:sldMk cId="0" sldId="264"/>
        </pc:sldMkLst>
        <pc:spChg chg="mod">
          <ac:chgData name="Annapurna Rachapudi" userId="be4ceb0c83baf084" providerId="LiveId" clId="{3ADB1DE5-3BD7-42E7-9B31-421BF60D8EDB}" dt="2024-11-05T08:17:45.863" v="165" actId="6549"/>
          <ac:spMkLst>
            <pc:docMk/>
            <pc:sldMk cId="0" sldId="264"/>
            <ac:spMk id="16" creationId="{00000000-0000-0000-0000-000000000000}"/>
          </ac:spMkLst>
        </pc:spChg>
      </pc:sldChg>
      <pc:sldChg chg="modSp del mod">
        <pc:chgData name="Annapurna Rachapudi" userId="be4ceb0c83baf084" providerId="LiveId" clId="{3ADB1DE5-3BD7-42E7-9B31-421BF60D8EDB}" dt="2024-11-05T08:32:56.433" v="971" actId="2696"/>
        <pc:sldMkLst>
          <pc:docMk/>
          <pc:sldMk cId="0" sldId="265"/>
        </pc:sldMkLst>
        <pc:spChg chg="mod">
          <ac:chgData name="Annapurna Rachapudi" userId="be4ceb0c83baf084" providerId="LiveId" clId="{3ADB1DE5-3BD7-42E7-9B31-421BF60D8EDB}" dt="2024-11-05T08:09:23.754" v="77" actId="108"/>
          <ac:spMkLst>
            <pc:docMk/>
            <pc:sldMk cId="0" sldId="265"/>
            <ac:spMk id="11" creationId="{00000000-0000-0000-0000-000000000000}"/>
          </ac:spMkLst>
        </pc:spChg>
        <pc:spChg chg="mod">
          <ac:chgData name="Annapurna Rachapudi" userId="be4ceb0c83baf084" providerId="LiveId" clId="{3ADB1DE5-3BD7-42E7-9B31-421BF60D8EDB}" dt="2024-11-05T08:10:54.043" v="154" actId="20577"/>
          <ac:spMkLst>
            <pc:docMk/>
            <pc:sldMk cId="0" sldId="265"/>
            <ac:spMk id="14" creationId="{00000000-0000-0000-0000-000000000000}"/>
          </ac:spMkLst>
        </pc:spChg>
        <pc:spChg chg="mod">
          <ac:chgData name="Annapurna Rachapudi" userId="be4ceb0c83baf084" providerId="LiveId" clId="{3ADB1DE5-3BD7-42E7-9B31-421BF60D8EDB}" dt="2024-11-05T08:10:34.249" v="137" actId="20577"/>
          <ac:spMkLst>
            <pc:docMk/>
            <pc:sldMk cId="0" sldId="265"/>
            <ac:spMk id="17" creationId="{00000000-0000-0000-0000-000000000000}"/>
          </ac:spMkLst>
        </pc:spChg>
        <pc:spChg chg="mod">
          <ac:chgData name="Annapurna Rachapudi" userId="be4ceb0c83baf084" providerId="LiveId" clId="{3ADB1DE5-3BD7-42E7-9B31-421BF60D8EDB}" dt="2024-11-05T08:09:56.191" v="84" actId="20577"/>
          <ac:spMkLst>
            <pc:docMk/>
            <pc:sldMk cId="0" sldId="265"/>
            <ac:spMk id="20" creationId="{00000000-0000-0000-0000-000000000000}"/>
          </ac:spMkLst>
        </pc:spChg>
      </pc:sldChg>
      <pc:sldChg chg="addSp delSp modSp new mod setBg">
        <pc:chgData name="Annapurna Rachapudi" userId="be4ceb0c83baf084" providerId="LiveId" clId="{3ADB1DE5-3BD7-42E7-9B31-421BF60D8EDB}" dt="2024-11-05T08:54:43.395" v="1552" actId="5793"/>
        <pc:sldMkLst>
          <pc:docMk/>
          <pc:sldMk cId="61899055" sldId="268"/>
        </pc:sldMkLst>
        <pc:spChg chg="add del">
          <ac:chgData name="Annapurna Rachapudi" userId="be4ceb0c83baf084" providerId="LiveId" clId="{3ADB1DE5-3BD7-42E7-9B31-421BF60D8EDB}" dt="2024-11-05T08:40:20.170" v="1193" actId="22"/>
          <ac:spMkLst>
            <pc:docMk/>
            <pc:sldMk cId="61899055" sldId="268"/>
            <ac:spMk id="3" creationId="{D3ACF274-BB72-02A4-CA52-84C227A3CDC8}"/>
          </ac:spMkLst>
        </pc:spChg>
        <pc:spChg chg="add mod">
          <ac:chgData name="Annapurna Rachapudi" userId="be4ceb0c83baf084" providerId="LiveId" clId="{3ADB1DE5-3BD7-42E7-9B31-421BF60D8EDB}" dt="2024-11-05T08:45:37.316" v="1531" actId="26606"/>
          <ac:spMkLst>
            <pc:docMk/>
            <pc:sldMk cId="61899055" sldId="268"/>
            <ac:spMk id="4" creationId="{DF769C6F-7F7E-09E4-4865-D1204FA84527}"/>
          </ac:spMkLst>
        </pc:spChg>
        <pc:spChg chg="add mod">
          <ac:chgData name="Annapurna Rachapudi" userId="be4ceb0c83baf084" providerId="LiveId" clId="{3ADB1DE5-3BD7-42E7-9B31-421BF60D8EDB}" dt="2024-11-05T08:54:43.395" v="1552" actId="5793"/>
          <ac:spMkLst>
            <pc:docMk/>
            <pc:sldMk cId="61899055" sldId="268"/>
            <ac:spMk id="5" creationId="{80B73401-1886-F184-6EA8-C992E860DBDE}"/>
          </ac:spMkLst>
        </pc:spChg>
        <pc:spChg chg="add del">
          <ac:chgData name="Annapurna Rachapudi" userId="be4ceb0c83baf084" providerId="LiveId" clId="{3ADB1DE5-3BD7-42E7-9B31-421BF60D8EDB}" dt="2024-11-05T08:45:37.316" v="1531" actId="26606"/>
          <ac:spMkLst>
            <pc:docMk/>
            <pc:sldMk cId="61899055" sldId="268"/>
            <ac:spMk id="10" creationId="{1709F1D5-B0F1-4714-A239-E5B61C161915}"/>
          </ac:spMkLst>
        </pc:spChg>
        <pc:spChg chg="add del">
          <ac:chgData name="Annapurna Rachapudi" userId="be4ceb0c83baf084" providerId="LiveId" clId="{3ADB1DE5-3BD7-42E7-9B31-421BF60D8EDB}" dt="2024-11-05T08:45:37.316" v="1531" actId="26606"/>
          <ac:spMkLst>
            <pc:docMk/>
            <pc:sldMk cId="61899055" sldId="268"/>
            <ac:spMk id="12" creationId="{228FB460-D3FF-4440-A020-05982A09E517}"/>
          </ac:spMkLst>
        </pc:spChg>
        <pc:spChg chg="add del">
          <ac:chgData name="Annapurna Rachapudi" userId="be4ceb0c83baf084" providerId="LiveId" clId="{3ADB1DE5-3BD7-42E7-9B31-421BF60D8EDB}" dt="2024-11-05T08:45:37.316" v="1531" actId="26606"/>
          <ac:spMkLst>
            <pc:docMk/>
            <pc:sldMk cId="61899055" sldId="268"/>
            <ac:spMk id="14" creationId="{14847E93-7DC1-4D4B-8829-B19AA7137C50}"/>
          </ac:spMkLst>
        </pc:spChg>
        <pc:spChg chg="add del">
          <ac:chgData name="Annapurna Rachapudi" userId="be4ceb0c83baf084" providerId="LiveId" clId="{3ADB1DE5-3BD7-42E7-9B31-421BF60D8EDB}" dt="2024-11-05T08:45:37.316" v="1531" actId="26606"/>
          <ac:spMkLst>
            <pc:docMk/>
            <pc:sldMk cId="61899055" sldId="268"/>
            <ac:spMk id="16" creationId="{5566D6E1-03A1-4D73-A4E0-35D74D568A04}"/>
          </ac:spMkLst>
        </pc:spChg>
        <pc:spChg chg="add del">
          <ac:chgData name="Annapurna Rachapudi" userId="be4ceb0c83baf084" providerId="LiveId" clId="{3ADB1DE5-3BD7-42E7-9B31-421BF60D8EDB}" dt="2024-11-05T08:45:37.316" v="1531" actId="26606"/>
          <ac:spMkLst>
            <pc:docMk/>
            <pc:sldMk cId="61899055" sldId="268"/>
            <ac:spMk id="18" creationId="{9F835A99-04AC-494A-A572-AFE8413CC938}"/>
          </ac:spMkLst>
        </pc:spChg>
        <pc:spChg chg="add del">
          <ac:chgData name="Annapurna Rachapudi" userId="be4ceb0c83baf084" providerId="LiveId" clId="{3ADB1DE5-3BD7-42E7-9B31-421BF60D8EDB}" dt="2024-11-05T08:45:37.316" v="1531" actId="26606"/>
          <ac:spMkLst>
            <pc:docMk/>
            <pc:sldMk cId="61899055" sldId="268"/>
            <ac:spMk id="20" creationId="{7B786209-1B0B-4CA9-9BDD-F7327066A84D}"/>
          </ac:spMkLst>
        </pc:spChg>
        <pc:spChg chg="add del">
          <ac:chgData name="Annapurna Rachapudi" userId="be4ceb0c83baf084" providerId="LiveId" clId="{3ADB1DE5-3BD7-42E7-9B31-421BF60D8EDB}" dt="2024-11-05T08:45:37.316" v="1531" actId="26606"/>
          <ac:spMkLst>
            <pc:docMk/>
            <pc:sldMk cId="61899055" sldId="268"/>
            <ac:spMk id="22" creationId="{2D2964BB-484D-45AE-AD66-D407D0629652}"/>
          </ac:spMkLst>
        </pc:spChg>
        <pc:spChg chg="add del">
          <ac:chgData name="Annapurna Rachapudi" userId="be4ceb0c83baf084" providerId="LiveId" clId="{3ADB1DE5-3BD7-42E7-9B31-421BF60D8EDB}" dt="2024-11-05T08:45:37.316" v="1531" actId="26606"/>
          <ac:spMkLst>
            <pc:docMk/>
            <pc:sldMk cId="61899055" sldId="268"/>
            <ac:spMk id="24" creationId="{6691AC69-A76E-4DAB-B565-468B6B87ACF3}"/>
          </ac:spMkLst>
        </pc:spChg>
        <pc:spChg chg="add">
          <ac:chgData name="Annapurna Rachapudi" userId="be4ceb0c83baf084" providerId="LiveId" clId="{3ADB1DE5-3BD7-42E7-9B31-421BF60D8EDB}" dt="2024-11-05T08:45:37.316" v="1531" actId="26606"/>
          <ac:spMkLst>
            <pc:docMk/>
            <pc:sldMk cId="61899055" sldId="268"/>
            <ac:spMk id="29" creationId="{100EDD19-6802-4EC3-95CE-CFFAB042CFD6}"/>
          </ac:spMkLst>
        </pc:spChg>
        <pc:spChg chg="add">
          <ac:chgData name="Annapurna Rachapudi" userId="be4ceb0c83baf084" providerId="LiveId" clId="{3ADB1DE5-3BD7-42E7-9B31-421BF60D8EDB}" dt="2024-11-05T08:45:37.316" v="1531" actId="26606"/>
          <ac:spMkLst>
            <pc:docMk/>
            <pc:sldMk cId="61899055" sldId="268"/>
            <ac:spMk id="31" creationId="{DB17E863-922E-4C26-BD64-E8FD41D28661}"/>
          </ac:spMkLst>
        </pc:spChg>
      </pc:sldChg>
      <pc:sldChg chg="addSp modSp new mod setBg">
        <pc:chgData name="Annapurna Rachapudi" userId="be4ceb0c83baf084" providerId="LiveId" clId="{3ADB1DE5-3BD7-42E7-9B31-421BF60D8EDB}" dt="2024-11-05T08:55:27.051" v="1566" actId="313"/>
        <pc:sldMkLst>
          <pc:docMk/>
          <pc:sldMk cId="984279480" sldId="269"/>
        </pc:sldMkLst>
        <pc:spChg chg="add mod">
          <ac:chgData name="Annapurna Rachapudi" userId="be4ceb0c83baf084" providerId="LiveId" clId="{3ADB1DE5-3BD7-42E7-9B31-421BF60D8EDB}" dt="2024-11-05T08:55:27.051" v="1566" actId="313"/>
          <ac:spMkLst>
            <pc:docMk/>
            <pc:sldMk cId="984279480" sldId="269"/>
            <ac:spMk id="3" creationId="{44CD50B5-75A2-EDA3-E872-40DCB527EFDB}"/>
          </ac:spMkLst>
        </pc:spChg>
        <pc:spChg chg="add mod">
          <ac:chgData name="Annapurna Rachapudi" userId="be4ceb0c83baf084" providerId="LiveId" clId="{3ADB1DE5-3BD7-42E7-9B31-421BF60D8EDB}" dt="2024-11-05T08:39:59.598" v="1191" actId="1076"/>
          <ac:spMkLst>
            <pc:docMk/>
            <pc:sldMk cId="984279480" sldId="269"/>
            <ac:spMk id="4" creationId="{386F7C76-A44C-7B7E-18DB-C678C7412AA3}"/>
          </ac:spMkLst>
        </pc:spChg>
        <pc:spChg chg="add">
          <ac:chgData name="Annapurna Rachapudi" userId="be4ceb0c83baf084" providerId="LiveId" clId="{3ADB1DE5-3BD7-42E7-9B31-421BF60D8EDB}" dt="2024-11-05T08:20:51.473" v="168" actId="26606"/>
          <ac:spMkLst>
            <pc:docMk/>
            <pc:sldMk cId="984279480" sldId="269"/>
            <ac:spMk id="10" creationId="{EDDBB197-D710-4A4F-A9CA-FD2177498BE8}"/>
          </ac:spMkLst>
        </pc:spChg>
        <pc:spChg chg="add">
          <ac:chgData name="Annapurna Rachapudi" userId="be4ceb0c83baf084" providerId="LiveId" clId="{3ADB1DE5-3BD7-42E7-9B31-421BF60D8EDB}" dt="2024-11-05T08:20:51.473" v="168" actId="26606"/>
          <ac:spMkLst>
            <pc:docMk/>
            <pc:sldMk cId="984279480" sldId="269"/>
            <ac:spMk id="12" creationId="{975D1CFA-2CDB-4B64-BD9F-85744E8DA12F}"/>
          </ac:spMkLst>
        </pc:spChg>
        <pc:grpChg chg="add">
          <ac:chgData name="Annapurna Rachapudi" userId="be4ceb0c83baf084" providerId="LiveId" clId="{3ADB1DE5-3BD7-42E7-9B31-421BF60D8EDB}" dt="2024-11-05T08:20:51.473" v="168" actId="26606"/>
          <ac:grpSpMkLst>
            <pc:docMk/>
            <pc:sldMk cId="984279480" sldId="269"/>
            <ac:grpSpMk id="14" creationId="{25EE5136-01F1-466C-962D-BA9B4C6757AA}"/>
          </ac:grpSpMkLst>
        </pc:grpChg>
        <pc:picChg chg="add mod ord">
          <ac:chgData name="Annapurna Rachapudi" userId="be4ceb0c83baf084" providerId="LiveId" clId="{3ADB1DE5-3BD7-42E7-9B31-421BF60D8EDB}" dt="2024-11-05T08:23:29.823" v="240" actId="167"/>
          <ac:picMkLst>
            <pc:docMk/>
            <pc:sldMk cId="984279480" sldId="269"/>
            <ac:picMk id="7" creationId="{EB9CB44C-1FBB-FE88-385F-C2CDFE536ECC}"/>
          </ac:picMkLst>
        </pc:picChg>
      </pc:sldChg>
      <pc:sldChg chg="addSp modSp new mod setBg">
        <pc:chgData name="Annapurna Rachapudi" userId="be4ceb0c83baf084" providerId="LiveId" clId="{3ADB1DE5-3BD7-42E7-9B31-421BF60D8EDB}" dt="2024-11-05T15:15:51.907" v="1571" actId="26606"/>
        <pc:sldMkLst>
          <pc:docMk/>
          <pc:sldMk cId="1378270409" sldId="270"/>
        </pc:sldMkLst>
        <pc:spChg chg="add">
          <ac:chgData name="Annapurna Rachapudi" userId="be4ceb0c83baf084" providerId="LiveId" clId="{3ADB1DE5-3BD7-42E7-9B31-421BF60D8EDB}" dt="2024-11-05T15:15:51.907" v="1571" actId="26606"/>
          <ac:spMkLst>
            <pc:docMk/>
            <pc:sldMk cId="1378270409" sldId="270"/>
            <ac:spMk id="8" creationId="{42A4FC2C-047E-45A5-965D-8E1E3BF09BC6}"/>
          </ac:spMkLst>
        </pc:spChg>
        <pc:picChg chg="add mod">
          <ac:chgData name="Annapurna Rachapudi" userId="be4ceb0c83baf084" providerId="LiveId" clId="{3ADB1DE5-3BD7-42E7-9B31-421BF60D8EDB}" dt="2024-11-05T15:15:51.907" v="1571" actId="26606"/>
          <ac:picMkLst>
            <pc:docMk/>
            <pc:sldMk cId="1378270409" sldId="270"/>
            <ac:picMk id="3" creationId="{9F504101-EF2B-EF16-AB60-6FFEA65A1ECC}"/>
          </ac:picMkLst>
        </pc:picChg>
      </pc:sldChg>
      <pc:sldChg chg="new del">
        <pc:chgData name="Annapurna Rachapudi" userId="be4ceb0c83baf084" providerId="LiveId" clId="{3ADB1DE5-3BD7-42E7-9B31-421BF60D8EDB}" dt="2024-11-05T08:51:53.524" v="1538" actId="47"/>
        <pc:sldMkLst>
          <pc:docMk/>
          <pc:sldMk cId="3871624302" sldId="27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05.11.2024</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ANI is what we see today in most applications like chatbots or recommendation systems. </a:t>
            </a:r>
          </a:p>
          <a:p>
            <a:endParaRPr lang="en-US"/>
          </a:p>
          <a:p>
            <a:r>
              <a:rPr lang="en-US"/>
              <a:t>Generative AI is gaining popularity with tools like ChatGPT, while AGI remains a far-fetched dream.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 is transforming industries from healthcare to industrial processes by automating repetitive tasks, improving efficiency, and reducing costs.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Supervised learning is used in applications like email filtering, while unsupervised learning helps businesses find patterns in customer behavior.</a:t>
            </a:r>
          </a:p>
          <a:p>
            <a:endParaRPr lang="en-US"/>
          </a:p>
          <a:p>
            <a:r>
              <a:rPr lang="en-US"/>
              <a:t>Generative models like GPT are revolutionizing text generation.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Data science is a broad, interdisciplinary field that focuses on extracting insights from large datasets. It involves data collection, cleaning, analysis, and visualization.</a:t>
            </a:r>
          </a:p>
          <a:p>
            <a:endParaRPr lang="en-US"/>
          </a:p>
          <a:p>
            <a:r>
              <a:rPr lang="en-US"/>
              <a:t>- AI focuses on creating systems that can simulate human intelligence. It aims to build machines capable of performing tasks that typically require human cognition, such as problem-solving, decision-making, and learning.</a:t>
            </a:r>
          </a:p>
          <a:p>
            <a:endParaRPr lang="en-US"/>
          </a:p>
          <a:p>
            <a:r>
              <a:rPr lang="en-US"/>
              <a:t>- ML is a subset of AI that focuses on enabling machines to learn from data without being explicitly programmed. The key idea is that the system improves its performance over time as it processes more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Neural networks are computational models inspired by the human brain. These networks are composed of layers of interconnected nodes, where each node processes inputs and passes on its output to the next layer.</a:t>
            </a:r>
          </a:p>
          <a:p>
            <a:endParaRPr lang="en-US"/>
          </a:p>
          <a:p>
            <a:r>
              <a:rPr lang="en-US"/>
              <a:t>Components: </a:t>
            </a:r>
          </a:p>
          <a:p>
            <a:r>
              <a:rPr lang="en-US"/>
              <a:t>Input layer - This is where the raw data enters the network. Each node in this layer represents a feature or variable from the dataset (e.g., pixel values in an image).</a:t>
            </a:r>
          </a:p>
          <a:p>
            <a:endParaRPr lang="en-US"/>
          </a:p>
          <a:p>
            <a:r>
              <a:rPr lang="en-US"/>
              <a:t>Hidden layers -  These layers perform computations on the input data using weights and activation functions. The more hidden layers a network has, the deeper it is considered (hence deep learning).</a:t>
            </a:r>
          </a:p>
          <a:p>
            <a:endParaRPr lang="en-US"/>
          </a:p>
          <a:p>
            <a:r>
              <a:rPr lang="en-US"/>
              <a:t>Output layer - This layer produces the final output or prediction. It could be a single value for binary classification or multiple values for multi-class classification.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AI continues to evolve with advancements in areas like Generative AI and the pursuit of Artificial General Intelligence (AGI).</a:t>
            </a:r>
          </a:p>
          <a:p>
            <a:endParaRPr lang="en-US"/>
          </a:p>
          <a:p>
            <a:r>
              <a:rPr lang="en-US"/>
              <a:t>The potential applications are limitless, from improving healthcare diagnostics to optimizing industrial processes.</a:t>
            </a:r>
          </a:p>
          <a:p>
            <a:endParaRPr lang="en-US"/>
          </a:p>
          <a:p>
            <a:r>
              <a:rPr lang="en-US"/>
              <a:t>As we move forward, understanding the basics of AI, ML, and neural networks will be crucial for harnessing the full potential of these technologies in various fields.</a:t>
            </a:r>
          </a:p>
          <a:p>
            <a:endParaRPr lang="en-US"/>
          </a:p>
          <a:p>
            <a:r>
              <a:rPr lang="en-US"/>
              <a:t>The future of AI is exciting, with innovations that will continue to reshape how we live and work.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18" Type="http://schemas.openxmlformats.org/officeDocument/2006/relationships/image" Target="../media/image17.svg"/><Relationship Id="rId26" Type="http://schemas.openxmlformats.org/officeDocument/2006/relationships/image" Target="../media/image25.svg"/><Relationship Id="rId3" Type="http://schemas.openxmlformats.org/officeDocument/2006/relationships/image" Target="../media/image2.png"/><Relationship Id="rId21" Type="http://schemas.openxmlformats.org/officeDocument/2006/relationships/image" Target="../media/image20.png"/><Relationship Id="rId7" Type="http://schemas.openxmlformats.org/officeDocument/2006/relationships/image" Target="../media/image6.png"/><Relationship Id="rId12" Type="http://schemas.openxmlformats.org/officeDocument/2006/relationships/image" Target="../media/image11.svg"/><Relationship Id="rId17" Type="http://schemas.openxmlformats.org/officeDocument/2006/relationships/image" Target="../media/image16.png"/><Relationship Id="rId25" Type="http://schemas.openxmlformats.org/officeDocument/2006/relationships/image" Target="../media/image24.png"/><Relationship Id="rId2" Type="http://schemas.openxmlformats.org/officeDocument/2006/relationships/image" Target="../media/image1.png"/><Relationship Id="rId16" Type="http://schemas.openxmlformats.org/officeDocument/2006/relationships/image" Target="../media/image15.svg"/><Relationship Id="rId20" Type="http://schemas.openxmlformats.org/officeDocument/2006/relationships/image" Target="../media/image19.svg"/><Relationship Id="rId29"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24" Type="http://schemas.openxmlformats.org/officeDocument/2006/relationships/image" Target="../media/image23.sv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svg"/><Relationship Id="rId10" Type="http://schemas.openxmlformats.org/officeDocument/2006/relationships/image" Target="../media/image9.svg"/><Relationship Id="rId19" Type="http://schemas.openxmlformats.org/officeDocument/2006/relationships/image" Target="../media/image18.png"/><Relationship Id="rId4" Type="http://schemas.openxmlformats.org/officeDocument/2006/relationships/image" Target="../media/image3.svg"/><Relationship Id="rId9" Type="http://schemas.openxmlformats.org/officeDocument/2006/relationships/image" Target="../media/image8.png"/><Relationship Id="rId14" Type="http://schemas.openxmlformats.org/officeDocument/2006/relationships/image" Target="../media/image13.svg"/><Relationship Id="rId22" Type="http://schemas.openxmlformats.org/officeDocument/2006/relationships/image" Target="../media/image21.svg"/><Relationship Id="rId27" Type="http://schemas.openxmlformats.org/officeDocument/2006/relationships/image" Target="../media/image26.png"/><Relationship Id="rId30" Type="http://schemas.openxmlformats.org/officeDocument/2006/relationships/image" Target="../media/image29.svg"/></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7.svg"/><Relationship Id="rId3" Type="http://schemas.openxmlformats.org/officeDocument/2006/relationships/image" Target="../media/image1.png"/><Relationship Id="rId7" Type="http://schemas.openxmlformats.org/officeDocument/2006/relationships/image" Target="../media/image11.svg"/><Relationship Id="rId12"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1.svg"/><Relationship Id="rId5" Type="http://schemas.openxmlformats.org/officeDocument/2006/relationships/image" Target="../media/image9.svg"/><Relationship Id="rId1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5.svg"/><Relationship Id="rId14" Type="http://schemas.openxmlformats.org/officeDocument/2006/relationships/image" Target="../media/image30.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7.svg"/><Relationship Id="rId3" Type="http://schemas.openxmlformats.org/officeDocument/2006/relationships/image" Target="../media/image1.png"/><Relationship Id="rId7" Type="http://schemas.openxmlformats.org/officeDocument/2006/relationships/image" Target="../media/image11.svg"/><Relationship Id="rId12"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1.svg"/><Relationship Id="rId5" Type="http://schemas.openxmlformats.org/officeDocument/2006/relationships/image" Target="../media/image9.svg"/><Relationship Id="rId1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5.sv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7.svg"/><Relationship Id="rId3" Type="http://schemas.openxmlformats.org/officeDocument/2006/relationships/image" Target="../media/image1.png"/><Relationship Id="rId7" Type="http://schemas.openxmlformats.org/officeDocument/2006/relationships/image" Target="../media/image11.svg"/><Relationship Id="rId12"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21.svg"/><Relationship Id="rId5" Type="http://schemas.openxmlformats.org/officeDocument/2006/relationships/image" Target="../media/image9.svg"/><Relationship Id="rId10" Type="http://schemas.openxmlformats.org/officeDocument/2006/relationships/image" Target="../media/image20.png"/><Relationship Id="rId4" Type="http://schemas.openxmlformats.org/officeDocument/2006/relationships/image" Target="../media/image8.png"/><Relationship Id="rId9" Type="http://schemas.openxmlformats.org/officeDocument/2006/relationships/image" Target="../media/image15.svg"/><Relationship Id="rId14" Type="http://schemas.openxmlformats.org/officeDocument/2006/relationships/image" Target="../media/image32.png"/></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9.svg"/><Relationship Id="rId5" Type="http://schemas.openxmlformats.org/officeDocument/2006/relationships/image" Target="../media/image5.svg"/><Relationship Id="rId10" Type="http://schemas.openxmlformats.org/officeDocument/2006/relationships/image" Target="../media/image28.png"/><Relationship Id="rId4" Type="http://schemas.openxmlformats.org/officeDocument/2006/relationships/image" Target="../media/image4.png"/><Relationship Id="rId9" Type="http://schemas.openxmlformats.org/officeDocument/2006/relationships/image" Target="../media/image25.sv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png"/><Relationship Id="rId18" Type="http://schemas.openxmlformats.org/officeDocument/2006/relationships/image" Target="../media/image19.svg"/><Relationship Id="rId26" Type="http://schemas.openxmlformats.org/officeDocument/2006/relationships/image" Target="../media/image27.svg"/><Relationship Id="rId3" Type="http://schemas.openxmlformats.org/officeDocument/2006/relationships/image" Target="../media/image2.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png"/><Relationship Id="rId25" Type="http://schemas.openxmlformats.org/officeDocument/2006/relationships/image" Target="../media/image26.png"/><Relationship Id="rId2" Type="http://schemas.openxmlformats.org/officeDocument/2006/relationships/image" Target="../media/image1.png"/><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2.png"/><Relationship Id="rId24" Type="http://schemas.openxmlformats.org/officeDocument/2006/relationships/image" Target="../media/image25.svg"/><Relationship Id="rId5" Type="http://schemas.openxmlformats.org/officeDocument/2006/relationships/image" Target="../media/image4.png"/><Relationship Id="rId15" Type="http://schemas.openxmlformats.org/officeDocument/2006/relationships/image" Target="../media/image16.png"/><Relationship Id="rId23" Type="http://schemas.openxmlformats.org/officeDocument/2006/relationships/image" Target="../media/image24.png"/><Relationship Id="rId28" Type="http://schemas.openxmlformats.org/officeDocument/2006/relationships/image" Target="../media/image29.svg"/><Relationship Id="rId10" Type="http://schemas.openxmlformats.org/officeDocument/2006/relationships/image" Target="../media/image11.svg"/><Relationship Id="rId19" Type="http://schemas.openxmlformats.org/officeDocument/2006/relationships/image" Target="../media/image20.png"/><Relationship Id="rId4" Type="http://schemas.openxmlformats.org/officeDocument/2006/relationships/image" Target="../media/image3.svg"/><Relationship Id="rId9" Type="http://schemas.openxmlformats.org/officeDocument/2006/relationships/image" Target="../media/image10.png"/><Relationship Id="rId14" Type="http://schemas.openxmlformats.org/officeDocument/2006/relationships/image" Target="../media/image15.svg"/><Relationship Id="rId22" Type="http://schemas.openxmlformats.org/officeDocument/2006/relationships/image" Target="../media/image23.svg"/><Relationship Id="rId2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4236705" y="6409875"/>
            <a:ext cx="724985" cy="920616"/>
          </a:xfrm>
          <a:custGeom>
            <a:avLst/>
            <a:gdLst/>
            <a:ahLst/>
            <a:cxnLst/>
            <a:rect l="l" t="t" r="r" b="b"/>
            <a:pathLst>
              <a:path w="724985" h="920616">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6" name="Freeform 6"/>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Freeform 8"/>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9" name="Freeform 9"/>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10" name="Freeform 10"/>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1" name="Freeform 11"/>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2" name="Freeform 12"/>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3" name="Freeform 13"/>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4" name="Freeform 14"/>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15" name="Freeform 15"/>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txBody>
          <a:bodyPr/>
          <a:lstStyle/>
          <a:p>
            <a:endParaRPr lang="en-US"/>
          </a:p>
        </p:txBody>
      </p:sp>
      <p:sp>
        <p:nvSpPr>
          <p:cNvPr id="16" name="Freeform 16"/>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a:stretch>
          </a:blipFill>
          <a:ln cap="sq">
            <a:noFill/>
            <a:prstDash val="solid"/>
            <a:miter/>
          </a:ln>
        </p:spPr>
        <p:txBody>
          <a:bodyPr/>
          <a:lstStyle/>
          <a:p>
            <a:endParaRPr lang="en-US"/>
          </a:p>
        </p:txBody>
      </p:sp>
      <p:sp>
        <p:nvSpPr>
          <p:cNvPr id="17" name="TextBox 17"/>
          <p:cNvSpPr txBox="1"/>
          <p:nvPr/>
        </p:nvSpPr>
        <p:spPr>
          <a:xfrm>
            <a:off x="3326309" y="3807635"/>
            <a:ext cx="10910396" cy="2472416"/>
          </a:xfrm>
          <a:prstGeom prst="rect">
            <a:avLst/>
          </a:prstGeom>
        </p:spPr>
        <p:txBody>
          <a:bodyPr lIns="0" tIns="0" rIns="0" bIns="0" rtlCol="0" anchor="t">
            <a:spAutoFit/>
          </a:bodyPr>
          <a:lstStyle/>
          <a:p>
            <a:pPr algn="ctr">
              <a:lnSpc>
                <a:spcPts val="6391"/>
              </a:lnSpc>
            </a:pPr>
            <a:r>
              <a:rPr lang="en-US" sz="6799" b="1">
                <a:solidFill>
                  <a:srgbClr val="000000"/>
                </a:solidFill>
                <a:latin typeface="DM Sans Bold"/>
                <a:ea typeface="DM Sans Bold"/>
                <a:cs typeface="DM Sans Bold"/>
                <a:sym typeface="DM Sans Bold"/>
              </a:rPr>
              <a:t>INTRODUCTION TO ARTIFICAL INTELLIGENCE and NEURAL NETWORKS</a:t>
            </a:r>
          </a:p>
        </p:txBody>
      </p:sp>
      <p:sp>
        <p:nvSpPr>
          <p:cNvPr id="18" name="TextBox 18"/>
          <p:cNvSpPr txBox="1"/>
          <p:nvPr/>
        </p:nvSpPr>
        <p:spPr>
          <a:xfrm>
            <a:off x="4914102" y="6715790"/>
            <a:ext cx="8459795" cy="365937"/>
          </a:xfrm>
          <a:prstGeom prst="rect">
            <a:avLst/>
          </a:prstGeom>
        </p:spPr>
        <p:txBody>
          <a:bodyPr lIns="0" tIns="0" rIns="0" bIns="0" rtlCol="0" anchor="t">
            <a:spAutoFit/>
          </a:bodyPr>
          <a:lstStyle/>
          <a:p>
            <a:pPr algn="ctr">
              <a:lnSpc>
                <a:spcPts val="2781"/>
              </a:lnSpc>
            </a:pPr>
            <a:r>
              <a:rPr lang="en-US" sz="2781" b="1" spc="-55">
                <a:solidFill>
                  <a:srgbClr val="000000"/>
                </a:solidFill>
                <a:latin typeface="DM Sans Bold"/>
                <a:ea typeface="DM Sans Bold"/>
                <a:cs typeface="DM Sans Bold"/>
                <a:sym typeface="DM Sans Bold"/>
              </a:rPr>
              <a:t> Basics of AI, ML, Data Science and Neural Networks</a:t>
            </a:r>
          </a:p>
        </p:txBody>
      </p:sp>
      <p:sp>
        <p:nvSpPr>
          <p:cNvPr id="19" name="Freeform 19"/>
          <p:cNvSpPr/>
          <p:nvPr/>
        </p:nvSpPr>
        <p:spPr>
          <a:xfrm>
            <a:off x="4737926" y="2576219"/>
            <a:ext cx="724985" cy="920616"/>
          </a:xfrm>
          <a:custGeom>
            <a:avLst/>
            <a:gdLst/>
            <a:ahLst/>
            <a:cxnLst/>
            <a:rect l="l" t="t" r="r" b="b"/>
            <a:pathLst>
              <a:path w="724985" h="920616">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TextBox 3"/>
          <p:cNvSpPr txBox="1"/>
          <p:nvPr/>
        </p:nvSpPr>
        <p:spPr>
          <a:xfrm>
            <a:off x="4598004" y="1502567"/>
            <a:ext cx="7848753" cy="1177290"/>
          </a:xfrm>
          <a:prstGeom prst="rect">
            <a:avLst/>
          </a:prstGeom>
        </p:spPr>
        <p:txBody>
          <a:bodyPr lIns="0" tIns="0" rIns="0" bIns="0" rtlCol="0" anchor="t">
            <a:spAutoFit/>
          </a:bodyPr>
          <a:lstStyle/>
          <a:p>
            <a:pPr algn="ctr">
              <a:lnSpc>
                <a:spcPts val="8730"/>
              </a:lnSpc>
            </a:pPr>
            <a:r>
              <a:rPr lang="en-US" sz="9000" b="1">
                <a:solidFill>
                  <a:srgbClr val="000000"/>
                </a:solidFill>
                <a:latin typeface="DM Sans Bold"/>
                <a:ea typeface="DM Sans Bold"/>
                <a:cs typeface="DM Sans Bold"/>
                <a:sym typeface="DM Sans Bold"/>
              </a:rPr>
              <a:t>TYPES OF AI</a:t>
            </a:r>
          </a:p>
        </p:txBody>
      </p:sp>
      <p:sp>
        <p:nvSpPr>
          <p:cNvPr id="4" name="Freeform 4"/>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Freeform 5"/>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6" name="Freeform 6"/>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7" name="Freeform 7"/>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8" name="Freeform 8"/>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9" name="Freeform 9"/>
          <p:cNvSpPr/>
          <p:nvPr/>
        </p:nvSpPr>
        <p:spPr>
          <a:xfrm>
            <a:off x="2426055" y="3371464"/>
            <a:ext cx="12515137" cy="4833972"/>
          </a:xfrm>
          <a:custGeom>
            <a:avLst/>
            <a:gdLst/>
            <a:ahLst/>
            <a:cxnLst/>
            <a:rect l="l" t="t" r="r" b="b"/>
            <a:pathLst>
              <a:path w="12515137" h="4833972">
                <a:moveTo>
                  <a:pt x="0" y="0"/>
                </a:moveTo>
                <a:lnTo>
                  <a:pt x="12515137" y="0"/>
                </a:lnTo>
                <a:lnTo>
                  <a:pt x="12515137" y="4833972"/>
                </a:lnTo>
                <a:lnTo>
                  <a:pt x="0" y="4833972"/>
                </a:lnTo>
                <a:lnTo>
                  <a:pt x="0" y="0"/>
                </a:lnTo>
                <a:close/>
              </a:path>
            </a:pathLst>
          </a:custGeom>
          <a:blipFill>
            <a:blip r:embed="rId14"/>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TextBox 3"/>
          <p:cNvSpPr txBox="1"/>
          <p:nvPr/>
        </p:nvSpPr>
        <p:spPr>
          <a:xfrm>
            <a:off x="1775818" y="1511279"/>
            <a:ext cx="14487064" cy="774748"/>
          </a:xfrm>
          <a:prstGeom prst="rect">
            <a:avLst/>
          </a:prstGeom>
        </p:spPr>
        <p:txBody>
          <a:bodyPr lIns="0" tIns="0" rIns="0" bIns="0" rtlCol="0" anchor="t">
            <a:spAutoFit/>
          </a:bodyPr>
          <a:lstStyle/>
          <a:p>
            <a:pPr algn="ctr">
              <a:lnSpc>
                <a:spcPts val="5735"/>
              </a:lnSpc>
            </a:pPr>
            <a:r>
              <a:rPr lang="en-US" sz="5912" b="1">
                <a:solidFill>
                  <a:srgbClr val="000000"/>
                </a:solidFill>
                <a:latin typeface="DM Sans Bold"/>
                <a:ea typeface="DM Sans Bold"/>
                <a:cs typeface="DM Sans Bold"/>
                <a:sym typeface="DM Sans Bold"/>
              </a:rPr>
              <a:t>Applications of Artificial Intelligence</a:t>
            </a:r>
          </a:p>
        </p:txBody>
      </p:sp>
      <p:sp>
        <p:nvSpPr>
          <p:cNvPr id="4" name="Freeform 4"/>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5" name="Freeform 5"/>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6" name="Freeform 6"/>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7" name="Freeform 7"/>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8" name="Freeform 8"/>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9" name="Freeform 9"/>
          <p:cNvSpPr/>
          <p:nvPr/>
        </p:nvSpPr>
        <p:spPr>
          <a:xfrm>
            <a:off x="3493371" y="2678444"/>
            <a:ext cx="11301259" cy="6187439"/>
          </a:xfrm>
          <a:custGeom>
            <a:avLst/>
            <a:gdLst/>
            <a:ahLst/>
            <a:cxnLst/>
            <a:rect l="l" t="t" r="r" b="b"/>
            <a:pathLst>
              <a:path w="11301259" h="6187439">
                <a:moveTo>
                  <a:pt x="0" y="0"/>
                </a:moveTo>
                <a:lnTo>
                  <a:pt x="11301258" y="0"/>
                </a:lnTo>
                <a:lnTo>
                  <a:pt x="11301258" y="6187439"/>
                </a:lnTo>
                <a:lnTo>
                  <a:pt x="0" y="6187439"/>
                </a:lnTo>
                <a:lnTo>
                  <a:pt x="0" y="0"/>
                </a:lnTo>
                <a:close/>
              </a:path>
            </a:pathLst>
          </a:custGeom>
          <a:blipFill>
            <a:blip r:embed="rId14"/>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Freeform 3"/>
          <p:cNvSpPr/>
          <p:nvPr/>
        </p:nvSpPr>
        <p:spPr>
          <a:xfrm>
            <a:off x="15353489"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4">
              <a:extLst>
                <a:ext uri="{96DAC541-7B7A-43D3-8B79-37D633B846F1}">
                  <asvg:svgBlip xmlns:asvg="http://schemas.microsoft.com/office/drawing/2016/SVG/main" r:embed="rId5"/>
                </a:ext>
              </a:extLst>
            </a:blip>
            <a:stretch>
              <a:fillRect/>
            </a:stretch>
          </a:blipFill>
          <a:ln cap="sq">
            <a:noFill/>
            <a:prstDash val="solid"/>
            <a:miter/>
          </a:ln>
        </p:spPr>
        <p:txBody>
          <a:bodyPr/>
          <a:lstStyle/>
          <a:p>
            <a:endParaRPr lang="en-US"/>
          </a:p>
        </p:txBody>
      </p:sp>
      <p:sp>
        <p:nvSpPr>
          <p:cNvPr id="4" name="Freeform 4"/>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5" name="Freeform 5"/>
          <p:cNvSpPr/>
          <p:nvPr/>
        </p:nvSpPr>
        <p:spPr>
          <a:xfrm>
            <a:off x="9144000"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6" name="Freeform 6"/>
          <p:cNvSpPr/>
          <p:nvPr/>
        </p:nvSpPr>
        <p:spPr>
          <a:xfrm>
            <a:off x="5003948" y="-1890601"/>
            <a:ext cx="2892762" cy="2919301"/>
          </a:xfrm>
          <a:custGeom>
            <a:avLst/>
            <a:gdLst/>
            <a:ahLst/>
            <a:cxnLst/>
            <a:rect l="l" t="t" r="r" b="b"/>
            <a:pathLst>
              <a:path w="2892762" h="2919301">
                <a:moveTo>
                  <a:pt x="0" y="0"/>
                </a:moveTo>
                <a:lnTo>
                  <a:pt x="2892762" y="0"/>
                </a:lnTo>
                <a:lnTo>
                  <a:pt x="2892762" y="2919301"/>
                </a:lnTo>
                <a:lnTo>
                  <a:pt x="0" y="2919301"/>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sp>
        <p:nvSpPr>
          <p:cNvPr id="7" name="Freeform 7"/>
          <p:cNvSpPr/>
          <p:nvPr/>
        </p:nvSpPr>
        <p:spPr>
          <a:xfrm rot="-5282649">
            <a:off x="16004285" y="265374"/>
            <a:ext cx="4017207" cy="1370872"/>
          </a:xfrm>
          <a:custGeom>
            <a:avLst/>
            <a:gdLst/>
            <a:ahLst/>
            <a:cxnLst/>
            <a:rect l="l" t="t" r="r" b="b"/>
            <a:pathLst>
              <a:path w="4017207" h="1370872">
                <a:moveTo>
                  <a:pt x="0" y="0"/>
                </a:moveTo>
                <a:lnTo>
                  <a:pt x="4017207" y="0"/>
                </a:lnTo>
                <a:lnTo>
                  <a:pt x="4017207" y="1370872"/>
                </a:lnTo>
                <a:lnTo>
                  <a:pt x="0" y="1370872"/>
                </a:lnTo>
                <a:lnTo>
                  <a:pt x="0" y="0"/>
                </a:lnTo>
                <a:close/>
              </a:path>
            </a:pathLst>
          </a:custGeom>
          <a:blipFill>
            <a:blip r:embed="rId12">
              <a:extLst>
                <a:ext uri="{96DAC541-7B7A-43D3-8B79-37D633B846F1}">
                  <asvg:svgBlip xmlns:asvg="http://schemas.microsoft.com/office/drawing/2016/SVG/main" r:embed="rId13"/>
                </a:ext>
              </a:extLst>
            </a:blip>
            <a:stretch>
              <a:fillRect/>
            </a:stretch>
          </a:blipFill>
          <a:ln cap="sq">
            <a:noFill/>
            <a:prstDash val="solid"/>
            <a:miter/>
          </a:ln>
        </p:spPr>
        <p:txBody>
          <a:bodyPr/>
          <a:lstStyle/>
          <a:p>
            <a:endParaRPr lang="en-US"/>
          </a:p>
        </p:txBody>
      </p:sp>
      <p:sp>
        <p:nvSpPr>
          <p:cNvPr id="8" name="Freeform 8"/>
          <p:cNvSpPr/>
          <p:nvPr/>
        </p:nvSpPr>
        <p:spPr>
          <a:xfrm>
            <a:off x="5003948" y="1995962"/>
            <a:ext cx="7608089" cy="7165633"/>
          </a:xfrm>
          <a:custGeom>
            <a:avLst/>
            <a:gdLst/>
            <a:ahLst/>
            <a:cxnLst/>
            <a:rect l="l" t="t" r="r" b="b"/>
            <a:pathLst>
              <a:path w="7608089" h="7165633">
                <a:moveTo>
                  <a:pt x="0" y="0"/>
                </a:moveTo>
                <a:lnTo>
                  <a:pt x="7608089" y="0"/>
                </a:lnTo>
                <a:lnTo>
                  <a:pt x="7608089" y="7165633"/>
                </a:lnTo>
                <a:lnTo>
                  <a:pt x="0" y="7165633"/>
                </a:lnTo>
                <a:lnTo>
                  <a:pt x="0" y="0"/>
                </a:lnTo>
                <a:close/>
              </a:path>
            </a:pathLst>
          </a:custGeom>
          <a:blipFill>
            <a:blip r:embed="rId14"/>
            <a:stretch>
              <a:fillRect/>
            </a:stretch>
          </a:blipFill>
        </p:spPr>
        <p:txBody>
          <a:bodyPr/>
          <a:lstStyle/>
          <a:p>
            <a:endParaRPr lang="en-US"/>
          </a:p>
        </p:txBody>
      </p:sp>
      <p:sp>
        <p:nvSpPr>
          <p:cNvPr id="9" name="TextBox 9"/>
          <p:cNvSpPr txBox="1"/>
          <p:nvPr/>
        </p:nvSpPr>
        <p:spPr>
          <a:xfrm>
            <a:off x="1196411" y="630242"/>
            <a:ext cx="15304748" cy="958841"/>
          </a:xfrm>
          <a:prstGeom prst="rect">
            <a:avLst/>
          </a:prstGeom>
        </p:spPr>
        <p:txBody>
          <a:bodyPr lIns="0" tIns="0" rIns="0" bIns="0" rtlCol="0" anchor="t">
            <a:spAutoFit/>
          </a:bodyPr>
          <a:lstStyle/>
          <a:p>
            <a:pPr algn="ctr">
              <a:lnSpc>
                <a:spcPts val="7169"/>
              </a:lnSpc>
            </a:pPr>
            <a:r>
              <a:rPr lang="en-US" sz="7390" b="1">
                <a:solidFill>
                  <a:srgbClr val="000000"/>
                </a:solidFill>
                <a:latin typeface="DM Sans Bold"/>
                <a:ea typeface="DM Sans Bold"/>
                <a:cs typeface="DM Sans Bold"/>
                <a:sym typeface="DM Sans Bold"/>
              </a:rPr>
              <a:t>Types of Machine Learning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Freeform 3"/>
          <p:cNvSpPr/>
          <p:nvPr/>
        </p:nvSpPr>
        <p:spPr>
          <a:xfrm>
            <a:off x="-848571" y="8919661"/>
            <a:ext cx="3870946" cy="950141"/>
          </a:xfrm>
          <a:custGeom>
            <a:avLst/>
            <a:gdLst/>
            <a:ahLst/>
            <a:cxnLst/>
            <a:rect l="l" t="t" r="r" b="b"/>
            <a:pathLst>
              <a:path w="3870946" h="950141">
                <a:moveTo>
                  <a:pt x="0" y="0"/>
                </a:moveTo>
                <a:lnTo>
                  <a:pt x="3870946" y="0"/>
                </a:lnTo>
                <a:lnTo>
                  <a:pt x="3870946" y="950141"/>
                </a:lnTo>
                <a:lnTo>
                  <a:pt x="0" y="9501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4472906" y="-2364815"/>
            <a:ext cx="4980952" cy="3731186"/>
          </a:xfrm>
          <a:custGeom>
            <a:avLst/>
            <a:gdLst/>
            <a:ahLst/>
            <a:cxnLst/>
            <a:rect l="l" t="t" r="r" b="b"/>
            <a:pathLst>
              <a:path w="4980952" h="3731186">
                <a:moveTo>
                  <a:pt x="0" y="0"/>
                </a:moveTo>
                <a:lnTo>
                  <a:pt x="4980951" y="0"/>
                </a:lnTo>
                <a:lnTo>
                  <a:pt x="4980951" y="3731186"/>
                </a:lnTo>
                <a:lnTo>
                  <a:pt x="0" y="3731186"/>
                </a:lnTo>
                <a:lnTo>
                  <a:pt x="0" y="0"/>
                </a:lnTo>
                <a:close/>
              </a:path>
            </a:pathLst>
          </a:custGeom>
          <a:blipFill>
            <a:blip r:embed="rId6">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en-US"/>
          </a:p>
        </p:txBody>
      </p:sp>
      <p:sp>
        <p:nvSpPr>
          <p:cNvPr id="5" name="Freeform 5"/>
          <p:cNvSpPr/>
          <p:nvPr/>
        </p:nvSpPr>
        <p:spPr>
          <a:xfrm>
            <a:off x="3431074" y="8919661"/>
            <a:ext cx="2587020" cy="2386526"/>
          </a:xfrm>
          <a:custGeom>
            <a:avLst/>
            <a:gdLst/>
            <a:ahLst/>
            <a:cxnLst/>
            <a:rect l="l" t="t" r="r" b="b"/>
            <a:pathLst>
              <a:path w="2587020" h="2386526">
                <a:moveTo>
                  <a:pt x="0" y="0"/>
                </a:moveTo>
                <a:lnTo>
                  <a:pt x="2587019" y="0"/>
                </a:lnTo>
                <a:lnTo>
                  <a:pt x="2587019" y="2386525"/>
                </a:lnTo>
                <a:lnTo>
                  <a:pt x="0" y="2386525"/>
                </a:lnTo>
                <a:lnTo>
                  <a:pt x="0" y="0"/>
                </a:lnTo>
                <a:close/>
              </a:path>
            </a:pathLst>
          </a:custGeom>
          <a:blipFill>
            <a:blip r:embed="rId8">
              <a:extLst>
                <a:ext uri="{96DAC541-7B7A-43D3-8B79-37D633B846F1}">
                  <asvg:svgBlip xmlns:asvg="http://schemas.microsoft.com/office/drawing/2016/SVG/main" r:embed="rId9"/>
                </a:ext>
              </a:extLst>
            </a:blip>
            <a:stretch>
              <a:fillRect/>
            </a:stretch>
          </a:blipFill>
          <a:ln cap="sq">
            <a:noFill/>
            <a:prstDash val="solid"/>
            <a:miter/>
          </a:ln>
        </p:spPr>
        <p:txBody>
          <a:bodyPr/>
          <a:lstStyle/>
          <a:p>
            <a:endParaRPr lang="en-US"/>
          </a:p>
        </p:txBody>
      </p:sp>
      <p:sp>
        <p:nvSpPr>
          <p:cNvPr id="6" name="Freeform 6"/>
          <p:cNvSpPr/>
          <p:nvPr/>
        </p:nvSpPr>
        <p:spPr>
          <a:xfrm>
            <a:off x="-848571" y="-744412"/>
            <a:ext cx="2597326" cy="2796583"/>
          </a:xfrm>
          <a:custGeom>
            <a:avLst/>
            <a:gdLst/>
            <a:ahLst/>
            <a:cxnLst/>
            <a:rect l="l" t="t" r="r" b="b"/>
            <a:pathLst>
              <a:path w="2597326" h="2796583">
                <a:moveTo>
                  <a:pt x="0" y="0"/>
                </a:moveTo>
                <a:lnTo>
                  <a:pt x="2597327" y="0"/>
                </a:lnTo>
                <a:lnTo>
                  <a:pt x="2597327" y="2796583"/>
                </a:lnTo>
                <a:lnTo>
                  <a:pt x="0" y="2796583"/>
                </a:lnTo>
                <a:lnTo>
                  <a:pt x="0" y="0"/>
                </a:lnTo>
                <a:close/>
              </a:path>
            </a:pathLst>
          </a:custGeom>
          <a:blipFill>
            <a:blip r:embed="rId10">
              <a:extLst>
                <a:ext uri="{96DAC541-7B7A-43D3-8B79-37D633B846F1}">
                  <asvg:svgBlip xmlns:asvg="http://schemas.microsoft.com/office/drawing/2016/SVG/main" r:embed="rId11"/>
                </a:ext>
              </a:extLst>
            </a:blip>
            <a:stretch>
              <a:fillRect/>
            </a:stretch>
          </a:blipFill>
          <a:ln cap="sq">
            <a:noFill/>
            <a:prstDash val="solid"/>
            <a:miter/>
          </a:ln>
        </p:spPr>
        <p:txBody>
          <a:bodyPr/>
          <a:lstStyle/>
          <a:p>
            <a:endParaRPr lang="en-US"/>
          </a:p>
        </p:txBody>
      </p:sp>
      <p:graphicFrame>
        <p:nvGraphicFramePr>
          <p:cNvPr id="7" name="Table 7"/>
          <p:cNvGraphicFramePr>
            <a:graphicFrameLocks noGrp="1"/>
          </p:cNvGraphicFramePr>
          <p:nvPr/>
        </p:nvGraphicFramePr>
        <p:xfrm>
          <a:off x="1748756" y="2730735"/>
          <a:ext cx="13386746" cy="5510364"/>
        </p:xfrm>
        <a:graphic>
          <a:graphicData uri="http://schemas.openxmlformats.org/drawingml/2006/table">
            <a:tbl>
              <a:tblPr/>
              <a:tblGrid>
                <a:gridCol w="2409685">
                  <a:extLst>
                    <a:ext uri="{9D8B030D-6E8A-4147-A177-3AD203B41FA5}">
                      <a16:colId xmlns:a16="http://schemas.microsoft.com/office/drawing/2014/main" val="20000"/>
                    </a:ext>
                  </a:extLst>
                </a:gridCol>
                <a:gridCol w="3738092">
                  <a:extLst>
                    <a:ext uri="{9D8B030D-6E8A-4147-A177-3AD203B41FA5}">
                      <a16:colId xmlns:a16="http://schemas.microsoft.com/office/drawing/2014/main" val="20001"/>
                    </a:ext>
                  </a:extLst>
                </a:gridCol>
                <a:gridCol w="3832978">
                  <a:extLst>
                    <a:ext uri="{9D8B030D-6E8A-4147-A177-3AD203B41FA5}">
                      <a16:colId xmlns:a16="http://schemas.microsoft.com/office/drawing/2014/main" val="20002"/>
                    </a:ext>
                  </a:extLst>
                </a:gridCol>
                <a:gridCol w="3405991">
                  <a:extLst>
                    <a:ext uri="{9D8B030D-6E8A-4147-A177-3AD203B41FA5}">
                      <a16:colId xmlns:a16="http://schemas.microsoft.com/office/drawing/2014/main" val="20003"/>
                    </a:ext>
                  </a:extLst>
                </a:gridCol>
              </a:tblGrid>
              <a:tr h="1377591">
                <a:tc>
                  <a:txBody>
                    <a:bodyPr/>
                    <a:lstStyle/>
                    <a:p>
                      <a:pPr algn="ctr">
                        <a:lnSpc>
                          <a:spcPts val="3219"/>
                        </a:lnSpc>
                        <a:defRPr/>
                      </a:pPr>
                      <a:r>
                        <a:rPr lang="en-US" sz="2299" b="1">
                          <a:solidFill>
                            <a:srgbClr val="FFFFFF"/>
                          </a:solidFill>
                          <a:latin typeface="DM Sans Bold"/>
                          <a:ea typeface="DM Sans Bold"/>
                          <a:cs typeface="DM Sans Bold"/>
                          <a:sym typeface="DM Sans Bold"/>
                        </a:rPr>
                        <a:t>FEATURE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939"/>
                        </a:lnSpc>
                        <a:defRPr/>
                      </a:pPr>
                      <a:r>
                        <a:rPr lang="en-US" sz="2099" b="1">
                          <a:solidFill>
                            <a:srgbClr val="FFFFFF"/>
                          </a:solidFill>
                          <a:latin typeface="DM Sans Bold"/>
                          <a:ea typeface="DM Sans Bold"/>
                          <a:cs typeface="DM Sans Bold"/>
                          <a:sym typeface="DM Sans Bold"/>
                        </a:rPr>
                        <a:t>DATA SCIENCE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799"/>
                        </a:lnSpc>
                        <a:defRPr/>
                      </a:pPr>
                      <a:r>
                        <a:rPr lang="en-US" sz="1999" b="1">
                          <a:solidFill>
                            <a:srgbClr val="FFFFFF"/>
                          </a:solidFill>
                          <a:latin typeface="DM Sans Bold"/>
                          <a:ea typeface="DM Sans Bold"/>
                          <a:cs typeface="DM Sans Bold"/>
                          <a:sym typeface="DM Sans Bold"/>
                        </a:rPr>
                        <a:t>ARTIFICIAL INTELLIGENCE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939"/>
                        </a:lnSpc>
                        <a:defRPr/>
                      </a:pPr>
                      <a:r>
                        <a:rPr lang="en-US" sz="2099" b="1">
                          <a:solidFill>
                            <a:srgbClr val="FFFFFF"/>
                          </a:solidFill>
                          <a:latin typeface="DM Sans Bold"/>
                          <a:ea typeface="DM Sans Bold"/>
                          <a:cs typeface="DM Sans Bold"/>
                          <a:sym typeface="DM Sans Bold"/>
                        </a:rPr>
                        <a:t>MACHINE LEARNING</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1377591">
                <a:tc>
                  <a:txBody>
                    <a:bodyPr/>
                    <a:lstStyle/>
                    <a:p>
                      <a:pPr algn="ctr">
                        <a:lnSpc>
                          <a:spcPts val="3079"/>
                        </a:lnSpc>
                        <a:defRPr/>
                      </a:pPr>
                      <a:r>
                        <a:rPr lang="en-US" sz="2199" b="1">
                          <a:solidFill>
                            <a:srgbClr val="000000"/>
                          </a:solidFill>
                          <a:latin typeface="DM Sans Bold"/>
                          <a:ea typeface="DM Sans Bold"/>
                          <a:cs typeface="DM Sans Bold"/>
                          <a:sym typeface="DM Sans Bold"/>
                        </a:rPr>
                        <a:t>FOCUS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Extracting insights from data</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Creating intelligent systems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Making machines learn from data</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377591">
                <a:tc>
                  <a:txBody>
                    <a:bodyPr/>
                    <a:lstStyle/>
                    <a:p>
                      <a:pPr algn="ctr">
                        <a:lnSpc>
                          <a:spcPts val="3079"/>
                        </a:lnSpc>
                        <a:defRPr/>
                      </a:pPr>
                      <a:r>
                        <a:rPr lang="en-US" sz="2199" b="1">
                          <a:solidFill>
                            <a:srgbClr val="000000"/>
                          </a:solidFill>
                          <a:latin typeface="DM Sans Bold"/>
                          <a:ea typeface="DM Sans Bold"/>
                          <a:cs typeface="DM Sans Bold"/>
                          <a:sym typeface="DM Sans Bold"/>
                        </a:rPr>
                        <a:t>APPLICATION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Data analysis, visualization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Automation, decision-making</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Predictive models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377591">
                <a:tc>
                  <a:txBody>
                    <a:bodyPr/>
                    <a:lstStyle/>
                    <a:p>
                      <a:pPr algn="ctr">
                        <a:lnSpc>
                          <a:spcPts val="3079"/>
                        </a:lnSpc>
                        <a:defRPr/>
                      </a:pPr>
                      <a:r>
                        <a:rPr lang="en-US" sz="2199" b="1">
                          <a:solidFill>
                            <a:srgbClr val="000000"/>
                          </a:solidFill>
                          <a:latin typeface="DM Sans Bold"/>
                          <a:ea typeface="DM Sans Bold"/>
                          <a:cs typeface="DM Sans Bold"/>
                          <a:sym typeface="DM Sans Bold"/>
                        </a:rPr>
                        <a:t>RELATION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Uses AI/ML for insights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Uses ML for decision-making</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tc>
                  <a:txBody>
                    <a:bodyPr/>
                    <a:lstStyle/>
                    <a:p>
                      <a:pPr algn="ctr">
                        <a:lnSpc>
                          <a:spcPts val="3079"/>
                        </a:lnSpc>
                        <a:defRPr/>
                      </a:pPr>
                      <a:r>
                        <a:rPr lang="en-US" sz="2199" b="1">
                          <a:solidFill>
                            <a:srgbClr val="000000"/>
                          </a:solidFill>
                          <a:latin typeface="DM Sans Bold"/>
                          <a:ea typeface="DM Sans Bold"/>
                          <a:cs typeface="DM Sans Bold"/>
                          <a:sym typeface="DM Sans Bold"/>
                        </a:rPr>
                        <a:t>A subset of AI</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bl>
          </a:graphicData>
        </a:graphic>
      </p:graphicFrame>
      <p:sp>
        <p:nvSpPr>
          <p:cNvPr id="8" name="TextBox 8"/>
          <p:cNvSpPr txBox="1"/>
          <p:nvPr/>
        </p:nvSpPr>
        <p:spPr>
          <a:xfrm>
            <a:off x="1748756" y="1399814"/>
            <a:ext cx="7025086" cy="11772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Differences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Freeform 3"/>
          <p:cNvSpPr/>
          <p:nvPr/>
        </p:nvSpPr>
        <p:spPr>
          <a:xfrm>
            <a:off x="9350745" y="4049177"/>
            <a:ext cx="8503591" cy="5867478"/>
          </a:xfrm>
          <a:custGeom>
            <a:avLst/>
            <a:gdLst/>
            <a:ahLst/>
            <a:cxnLst/>
            <a:rect l="l" t="t" r="r" b="b"/>
            <a:pathLst>
              <a:path w="8503591" h="5867478">
                <a:moveTo>
                  <a:pt x="0" y="0"/>
                </a:moveTo>
                <a:lnTo>
                  <a:pt x="8503591" y="0"/>
                </a:lnTo>
                <a:lnTo>
                  <a:pt x="8503591" y="5867478"/>
                </a:lnTo>
                <a:lnTo>
                  <a:pt x="0" y="5867478"/>
                </a:lnTo>
                <a:lnTo>
                  <a:pt x="0" y="0"/>
                </a:lnTo>
                <a:close/>
              </a:path>
            </a:pathLst>
          </a:custGeom>
          <a:blipFill>
            <a:blip r:embed="rId4"/>
            <a:stretch>
              <a:fillRect/>
            </a:stretch>
          </a:blipFill>
        </p:spPr>
        <p:txBody>
          <a:bodyPr/>
          <a:lstStyle/>
          <a:p>
            <a:endParaRPr lang="en-US"/>
          </a:p>
        </p:txBody>
      </p:sp>
      <p:sp>
        <p:nvSpPr>
          <p:cNvPr id="4" name="TextBox 4"/>
          <p:cNvSpPr txBox="1"/>
          <p:nvPr/>
        </p:nvSpPr>
        <p:spPr>
          <a:xfrm>
            <a:off x="1028700" y="838105"/>
            <a:ext cx="11407585" cy="1917456"/>
          </a:xfrm>
          <a:prstGeom prst="rect">
            <a:avLst/>
          </a:prstGeom>
        </p:spPr>
        <p:txBody>
          <a:bodyPr lIns="0" tIns="0" rIns="0" bIns="0" rtlCol="0" anchor="t">
            <a:spAutoFit/>
          </a:bodyPr>
          <a:lstStyle/>
          <a:p>
            <a:pPr algn="l">
              <a:lnSpc>
                <a:spcPts val="7372"/>
              </a:lnSpc>
            </a:pPr>
            <a:r>
              <a:rPr lang="en-US" sz="7600" b="1">
                <a:solidFill>
                  <a:srgbClr val="000000"/>
                </a:solidFill>
                <a:latin typeface="DM Sans Bold"/>
                <a:ea typeface="DM Sans Bold"/>
                <a:cs typeface="DM Sans Bold"/>
                <a:sym typeface="DM Sans Bold"/>
              </a:rPr>
              <a:t>INTRODUCTION TO NEURAL NETWORKS</a:t>
            </a:r>
          </a:p>
        </p:txBody>
      </p:sp>
      <p:sp>
        <p:nvSpPr>
          <p:cNvPr id="5" name="TextBox 5"/>
          <p:cNvSpPr txBox="1"/>
          <p:nvPr/>
        </p:nvSpPr>
        <p:spPr>
          <a:xfrm>
            <a:off x="1028700" y="3458210"/>
            <a:ext cx="7707571" cy="5109210"/>
          </a:xfrm>
          <a:prstGeom prst="rect">
            <a:avLst/>
          </a:prstGeom>
        </p:spPr>
        <p:txBody>
          <a:bodyPr lIns="0" tIns="0" rIns="0" bIns="0" rtlCol="0" anchor="t">
            <a:spAutoFit/>
          </a:bodyPr>
          <a:lstStyle/>
          <a:p>
            <a:pPr algn="l">
              <a:lnSpc>
                <a:spcPts val="3779"/>
              </a:lnSpc>
            </a:pPr>
            <a:r>
              <a:rPr lang="en-US" sz="2799" spc="167">
                <a:solidFill>
                  <a:srgbClr val="000000"/>
                </a:solidFill>
                <a:latin typeface="DM Sans"/>
                <a:ea typeface="DM Sans"/>
                <a:cs typeface="DM Sans"/>
                <a:sym typeface="DM Sans"/>
              </a:rPr>
              <a:t>Neural networks are computational models inspired by the human brain's structure, consisting of interconnected nodes (neurons).</a:t>
            </a:r>
          </a:p>
          <a:p>
            <a:pPr algn="l">
              <a:lnSpc>
                <a:spcPts val="3779"/>
              </a:lnSpc>
            </a:pPr>
            <a:endParaRPr lang="en-US" sz="2799" spc="167">
              <a:solidFill>
                <a:srgbClr val="000000"/>
              </a:solidFill>
              <a:latin typeface="DM Sans"/>
              <a:ea typeface="DM Sans"/>
              <a:cs typeface="DM Sans"/>
              <a:sym typeface="DM Sans"/>
            </a:endParaRPr>
          </a:p>
          <a:p>
            <a:pPr algn="l">
              <a:lnSpc>
                <a:spcPts val="3779"/>
              </a:lnSpc>
            </a:pPr>
            <a:r>
              <a:rPr lang="en-US" sz="2799" spc="167">
                <a:solidFill>
                  <a:srgbClr val="000000"/>
                </a:solidFill>
                <a:latin typeface="DM Sans"/>
                <a:ea typeface="DM Sans"/>
                <a:cs typeface="DM Sans"/>
                <a:sym typeface="DM Sans"/>
              </a:rPr>
              <a:t>Components:</a:t>
            </a:r>
          </a:p>
          <a:p>
            <a:pPr marL="582925" lvl="1" indent="-291463" algn="l">
              <a:lnSpc>
                <a:spcPts val="3644"/>
              </a:lnSpc>
              <a:buFont typeface="Arial"/>
              <a:buChar char="•"/>
            </a:pPr>
            <a:r>
              <a:rPr lang="en-US" sz="2699" spc="161">
                <a:solidFill>
                  <a:srgbClr val="000000"/>
                </a:solidFill>
                <a:latin typeface="DM Sans"/>
                <a:ea typeface="DM Sans"/>
                <a:cs typeface="DM Sans"/>
                <a:sym typeface="DM Sans"/>
              </a:rPr>
              <a:t>Input layer - Represents the input data</a:t>
            </a:r>
          </a:p>
          <a:p>
            <a:pPr marL="561336" lvl="1" indent="-280668" algn="l">
              <a:lnSpc>
                <a:spcPts val="3509"/>
              </a:lnSpc>
              <a:buFont typeface="Arial"/>
              <a:buChar char="•"/>
            </a:pPr>
            <a:r>
              <a:rPr lang="en-US" sz="2599" spc="155">
                <a:solidFill>
                  <a:srgbClr val="000000"/>
                </a:solidFill>
                <a:latin typeface="DM Sans"/>
                <a:ea typeface="DM Sans"/>
                <a:cs typeface="DM Sans"/>
                <a:sym typeface="DM Sans"/>
              </a:rPr>
              <a:t>Hidden layer - Shows one or more hidden layers where computations happen.</a:t>
            </a:r>
          </a:p>
          <a:p>
            <a:pPr marL="582925" lvl="1" indent="-291463" algn="l">
              <a:lnSpc>
                <a:spcPts val="3644"/>
              </a:lnSpc>
              <a:buFont typeface="Arial"/>
              <a:buChar char="•"/>
            </a:pPr>
            <a:r>
              <a:rPr lang="en-US" sz="2699" spc="161">
                <a:solidFill>
                  <a:srgbClr val="000000"/>
                </a:solidFill>
                <a:latin typeface="DM Sans"/>
                <a:ea typeface="DM Sans"/>
                <a:cs typeface="DM Sans"/>
                <a:sym typeface="DM Sans"/>
              </a:rPr>
              <a:t>Output layer - Displays the final output</a:t>
            </a:r>
          </a:p>
          <a:p>
            <a:pPr marL="0" lvl="0" indent="0" algn="l">
              <a:lnSpc>
                <a:spcPts val="3779"/>
              </a:lnSpc>
              <a:spcBef>
                <a:spcPct val="0"/>
              </a:spcBef>
            </a:pPr>
            <a:endParaRPr lang="en-US" sz="2699" spc="161">
              <a:solidFill>
                <a:srgbClr val="000000"/>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descr="Brain">
            <a:extLst>
              <a:ext uri="{FF2B5EF4-FFF2-40B4-BE49-F238E27FC236}">
                <a16:creationId xmlns:a16="http://schemas.microsoft.com/office/drawing/2014/main" id="{EB9CB44C-1FBB-FE88-385F-C2CDFE536EC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9788" y="1021543"/>
            <a:ext cx="7696200" cy="7696200"/>
          </a:xfrm>
          <a:prstGeom prst="rect">
            <a:avLst/>
          </a:prstGeom>
        </p:spPr>
      </p:pic>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 y="0"/>
            <a:ext cx="18287543" cy="10287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4CD50B5-75A2-EDA3-E872-40DCB527EFDB}"/>
              </a:ext>
            </a:extLst>
          </p:cNvPr>
          <p:cNvSpPr txBox="1"/>
          <p:nvPr/>
        </p:nvSpPr>
        <p:spPr>
          <a:xfrm>
            <a:off x="304800" y="495301"/>
            <a:ext cx="17068800" cy="9594106"/>
          </a:xfrm>
          <a:prstGeom prst="rect">
            <a:avLst/>
          </a:prstGeom>
        </p:spPr>
        <p:txBody>
          <a:bodyPr vert="horz" lIns="91440" tIns="45720" rIns="91440" bIns="45720" rtlCol="0" anchor="ctr">
            <a:normAutofit fontScale="92500" lnSpcReduction="10000"/>
          </a:bodyPr>
          <a:lstStyle/>
          <a:p>
            <a:pPr>
              <a:lnSpc>
                <a:spcPct val="90000"/>
              </a:lnSpc>
            </a:pPr>
            <a:r>
              <a:rPr lang="en-US" sz="2000" b="1" i="0" dirty="0">
                <a:solidFill>
                  <a:schemeClr val="tx2"/>
                </a:solidFill>
                <a:effectLst/>
              </a:rPr>
              <a:t>1</a:t>
            </a:r>
            <a:r>
              <a:rPr lang="en-US" sz="2000" b="0" i="0" dirty="0">
                <a:solidFill>
                  <a:schemeClr val="tx2"/>
                </a:solidFill>
                <a:effectLst/>
              </a:rPr>
              <a:t> Convolutional neural networks (</a:t>
            </a:r>
            <a:r>
              <a:rPr lang="en-US" sz="2000" b="1" i="0" dirty="0">
                <a:solidFill>
                  <a:schemeClr val="tx2"/>
                </a:solidFill>
                <a:effectLst/>
              </a:rPr>
              <a:t>CNNs</a:t>
            </a:r>
            <a:r>
              <a:rPr lang="en-US" sz="2000" b="0" i="0" dirty="0">
                <a:solidFill>
                  <a:schemeClr val="tx2"/>
                </a:solidFill>
                <a:effectLst/>
              </a:rPr>
              <a:t>) - input images, identify the objects in a picture, and differentiate them from one another. </a:t>
            </a:r>
          </a:p>
          <a:p>
            <a:pPr>
              <a:lnSpc>
                <a:spcPct val="90000"/>
              </a:lnSpc>
            </a:pPr>
            <a:endParaRPr lang="en-US" sz="2000" dirty="0">
              <a:solidFill>
                <a:schemeClr val="tx2"/>
              </a:solidFill>
            </a:endParaRPr>
          </a:p>
          <a:p>
            <a:pPr lvl="8">
              <a:lnSpc>
                <a:spcPct val="90000"/>
              </a:lnSpc>
            </a:pPr>
            <a:r>
              <a:rPr lang="en-US" sz="2200" b="1" i="0" dirty="0">
                <a:solidFill>
                  <a:srgbClr val="0070C0"/>
                </a:solidFill>
                <a:effectLst/>
              </a:rPr>
              <a:t>pattern recognition, image recognition, and object detection </a:t>
            </a:r>
          </a:p>
          <a:p>
            <a:pPr>
              <a:lnSpc>
                <a:spcPct val="90000"/>
              </a:lnSpc>
            </a:pPr>
            <a:r>
              <a:rPr lang="en-US" sz="2000" b="0" i="0" dirty="0">
                <a:solidFill>
                  <a:schemeClr val="tx2"/>
                </a:solidFill>
                <a:effectLst/>
              </a:rPr>
              <a:t>three main layers - convolutional layer, where most of the computation occurs. pooling layer, where the number of parameters in the input is reduced, the fully connected layer classifies the features extracted from the previous layers.</a:t>
            </a:r>
          </a:p>
          <a:p>
            <a:pPr>
              <a:lnSpc>
                <a:spcPct val="90000"/>
              </a:lnSpc>
            </a:pPr>
            <a:endParaRPr lang="en-US" sz="2000" b="1" i="0" dirty="0">
              <a:solidFill>
                <a:schemeClr val="tx2"/>
              </a:solidFill>
              <a:effectLst/>
            </a:endParaRPr>
          </a:p>
          <a:p>
            <a:pPr>
              <a:lnSpc>
                <a:spcPct val="90000"/>
              </a:lnSpc>
            </a:pPr>
            <a:r>
              <a:rPr lang="en-US" sz="2000" b="1" i="0" dirty="0">
                <a:solidFill>
                  <a:schemeClr val="tx2"/>
                </a:solidFill>
                <a:effectLst/>
              </a:rPr>
              <a:t>2 </a:t>
            </a:r>
            <a:r>
              <a:rPr lang="en-US" sz="2000" b="0" i="0" dirty="0">
                <a:solidFill>
                  <a:schemeClr val="tx2"/>
                </a:solidFill>
                <a:effectLst/>
              </a:rPr>
              <a:t>Recurrent neural networks (</a:t>
            </a:r>
            <a:r>
              <a:rPr lang="en-US" sz="2000" b="1" i="0" dirty="0">
                <a:solidFill>
                  <a:schemeClr val="tx2"/>
                </a:solidFill>
                <a:effectLst/>
              </a:rPr>
              <a:t>RNNs</a:t>
            </a:r>
            <a:r>
              <a:rPr lang="en-US" sz="2000" b="0" i="0" dirty="0">
                <a:solidFill>
                  <a:schemeClr val="tx2"/>
                </a:solidFill>
                <a:effectLst/>
              </a:rPr>
              <a:t>) - translate language, speech recognition, natural language processing, and image captioning. </a:t>
            </a:r>
          </a:p>
          <a:p>
            <a:pPr>
              <a:lnSpc>
                <a:spcPct val="90000"/>
              </a:lnSpc>
            </a:pPr>
            <a:endParaRPr lang="en-US" sz="2000" dirty="0">
              <a:solidFill>
                <a:schemeClr val="tx2"/>
              </a:solidFill>
            </a:endParaRPr>
          </a:p>
          <a:p>
            <a:pPr>
              <a:lnSpc>
                <a:spcPct val="90000"/>
              </a:lnSpc>
            </a:pPr>
            <a:r>
              <a:rPr lang="en-US" sz="2000" b="0" i="0" dirty="0">
                <a:solidFill>
                  <a:schemeClr val="tx2"/>
                </a:solidFill>
                <a:effectLst/>
              </a:rPr>
              <a:t>				</a:t>
            </a:r>
            <a:r>
              <a:rPr lang="en-US" sz="2200" b="1" dirty="0">
                <a:solidFill>
                  <a:srgbClr val="0070C0"/>
                </a:solidFill>
              </a:rPr>
              <a:t>smart home technologies – google home, </a:t>
            </a:r>
            <a:r>
              <a:rPr lang="en-US" sz="2200" b="1" dirty="0" err="1">
                <a:solidFill>
                  <a:srgbClr val="0070C0"/>
                </a:solidFill>
              </a:rPr>
              <a:t>alexa</a:t>
            </a:r>
            <a:r>
              <a:rPr lang="en-US" sz="2200" b="1" dirty="0">
                <a:solidFill>
                  <a:srgbClr val="0070C0"/>
                </a:solidFill>
              </a:rPr>
              <a:t> and voice command features on mobile phones - </a:t>
            </a:r>
            <a:r>
              <a:rPr lang="en-US" sz="2200" b="1" dirty="0" err="1">
                <a:solidFill>
                  <a:srgbClr val="0070C0"/>
                </a:solidFill>
              </a:rPr>
              <a:t>siri</a:t>
            </a:r>
            <a:endParaRPr lang="en-US" sz="2200" b="1" dirty="0">
              <a:solidFill>
                <a:srgbClr val="0070C0"/>
              </a:solidFill>
            </a:endParaRPr>
          </a:p>
          <a:p>
            <a:pPr>
              <a:lnSpc>
                <a:spcPct val="90000"/>
              </a:lnSpc>
            </a:pPr>
            <a:endParaRPr lang="en-US" sz="2000" dirty="0">
              <a:solidFill>
                <a:schemeClr val="tx2"/>
              </a:solidFill>
            </a:endParaRPr>
          </a:p>
          <a:p>
            <a:pPr>
              <a:lnSpc>
                <a:spcPct val="90000"/>
              </a:lnSpc>
            </a:pPr>
            <a:r>
              <a:rPr lang="en-US" sz="2000" b="0" i="0" dirty="0">
                <a:solidFill>
                  <a:schemeClr val="tx2"/>
                </a:solidFill>
                <a:effectLst/>
              </a:rPr>
              <a:t>Feedback loops in the structure of RNNs allow information to be stored similarly to how your memory works. </a:t>
            </a:r>
          </a:p>
          <a:p>
            <a:pPr>
              <a:lnSpc>
                <a:spcPct val="90000"/>
              </a:lnSpc>
            </a:pPr>
            <a:endParaRPr lang="en-US" sz="2000" b="1" i="0" dirty="0">
              <a:solidFill>
                <a:schemeClr val="tx2"/>
              </a:solidFill>
              <a:effectLst/>
            </a:endParaRPr>
          </a:p>
          <a:p>
            <a:pPr>
              <a:lnSpc>
                <a:spcPct val="90000"/>
              </a:lnSpc>
            </a:pPr>
            <a:r>
              <a:rPr lang="en-US" sz="2000" b="1" i="0" dirty="0">
                <a:solidFill>
                  <a:schemeClr val="tx2"/>
                </a:solidFill>
                <a:effectLst/>
              </a:rPr>
              <a:t>3 </a:t>
            </a:r>
            <a:r>
              <a:rPr lang="en-US" sz="2000" b="0" i="0" dirty="0">
                <a:solidFill>
                  <a:schemeClr val="tx2"/>
                </a:solidFill>
                <a:effectLst/>
              </a:rPr>
              <a:t>Radial basis function (</a:t>
            </a:r>
            <a:r>
              <a:rPr lang="en-US" sz="2000" b="1" i="0" dirty="0">
                <a:solidFill>
                  <a:schemeClr val="tx2"/>
                </a:solidFill>
                <a:effectLst/>
              </a:rPr>
              <a:t>RBF</a:t>
            </a:r>
            <a:r>
              <a:rPr lang="en-US" sz="2000" b="0" i="0" dirty="0">
                <a:solidFill>
                  <a:schemeClr val="tx2"/>
                </a:solidFill>
                <a:effectLst/>
              </a:rPr>
              <a:t>) networks:  input layer performs no computations. passes the data directly to the hidden layer. faster learning speed. </a:t>
            </a:r>
          </a:p>
          <a:p>
            <a:pPr>
              <a:lnSpc>
                <a:spcPct val="90000"/>
              </a:lnSpc>
            </a:pPr>
            <a:endParaRPr lang="en-US" sz="2000" dirty="0">
              <a:solidFill>
                <a:schemeClr val="tx2"/>
              </a:solidFill>
            </a:endParaRPr>
          </a:p>
          <a:p>
            <a:pPr>
              <a:lnSpc>
                <a:spcPct val="90000"/>
              </a:lnSpc>
            </a:pPr>
            <a:r>
              <a:rPr lang="en-US" sz="2000" b="0" i="0" dirty="0">
                <a:solidFill>
                  <a:schemeClr val="tx2"/>
                </a:solidFill>
                <a:effectLst/>
              </a:rPr>
              <a:t>				</a:t>
            </a:r>
            <a:r>
              <a:rPr lang="en-US" sz="2200" b="1" dirty="0">
                <a:solidFill>
                  <a:srgbClr val="0070C0"/>
                </a:solidFill>
              </a:rPr>
              <a:t>time series prediction and function approximation</a:t>
            </a:r>
          </a:p>
          <a:p>
            <a:pPr>
              <a:lnSpc>
                <a:spcPct val="90000"/>
              </a:lnSpc>
            </a:pPr>
            <a:endParaRPr lang="en-US" sz="2000" b="1" i="0" dirty="0">
              <a:solidFill>
                <a:schemeClr val="tx2"/>
              </a:solidFill>
              <a:effectLst/>
            </a:endParaRPr>
          </a:p>
          <a:p>
            <a:pPr>
              <a:lnSpc>
                <a:spcPct val="90000"/>
              </a:lnSpc>
            </a:pPr>
            <a:r>
              <a:rPr lang="en-US" sz="2000" b="1" i="0" dirty="0">
                <a:solidFill>
                  <a:schemeClr val="tx2"/>
                </a:solidFill>
                <a:effectLst/>
              </a:rPr>
              <a:t>4 L</a:t>
            </a:r>
            <a:r>
              <a:rPr lang="en-US" sz="2000" b="0" i="0" dirty="0">
                <a:solidFill>
                  <a:schemeClr val="tx2"/>
                </a:solidFill>
                <a:effectLst/>
              </a:rPr>
              <a:t>ong short-term memory (</a:t>
            </a:r>
            <a:r>
              <a:rPr lang="en-US" sz="2000" b="1" i="0" dirty="0">
                <a:solidFill>
                  <a:schemeClr val="tx2"/>
                </a:solidFill>
                <a:effectLst/>
              </a:rPr>
              <a:t>LSTM</a:t>
            </a:r>
            <a:r>
              <a:rPr lang="en-US" sz="2000" b="0" i="0" dirty="0">
                <a:solidFill>
                  <a:schemeClr val="tx2"/>
                </a:solidFill>
                <a:effectLst/>
              </a:rPr>
              <a:t>) networks: unique, sort data into short-term and long-term memory cells  (data needs to be looped back into the network as data points or entire sequences)</a:t>
            </a:r>
          </a:p>
          <a:p>
            <a:pPr>
              <a:lnSpc>
                <a:spcPct val="90000"/>
              </a:lnSpc>
            </a:pPr>
            <a:endParaRPr lang="en-US" sz="2000" dirty="0">
              <a:solidFill>
                <a:schemeClr val="tx2"/>
              </a:solidFill>
            </a:endParaRPr>
          </a:p>
          <a:p>
            <a:pPr>
              <a:lnSpc>
                <a:spcPct val="90000"/>
              </a:lnSpc>
            </a:pPr>
            <a:r>
              <a:rPr lang="en-US" sz="2000" b="0" i="0" dirty="0">
                <a:solidFill>
                  <a:schemeClr val="tx2"/>
                </a:solidFill>
                <a:effectLst/>
              </a:rPr>
              <a:t>				</a:t>
            </a:r>
            <a:r>
              <a:rPr lang="en-US" sz="2200" b="1" dirty="0">
                <a:solidFill>
                  <a:srgbClr val="0070C0"/>
                </a:solidFill>
              </a:rPr>
              <a:t>handwriting recognition and video-to-text conversion</a:t>
            </a:r>
          </a:p>
          <a:p>
            <a:pPr>
              <a:lnSpc>
                <a:spcPct val="90000"/>
              </a:lnSpc>
            </a:pPr>
            <a:endParaRPr lang="en-US" sz="2000" dirty="0">
              <a:solidFill>
                <a:schemeClr val="tx2"/>
              </a:solidFill>
            </a:endParaRPr>
          </a:p>
          <a:p>
            <a:pPr>
              <a:lnSpc>
                <a:spcPct val="90000"/>
              </a:lnSpc>
            </a:pPr>
            <a:r>
              <a:rPr lang="en-US" sz="2000" b="1" i="0" dirty="0">
                <a:solidFill>
                  <a:schemeClr val="tx2"/>
                </a:solidFill>
                <a:effectLst/>
              </a:rPr>
              <a:t>5</a:t>
            </a:r>
            <a:r>
              <a:rPr lang="en-US" sz="2000" b="1" dirty="0">
                <a:solidFill>
                  <a:schemeClr val="tx2"/>
                </a:solidFill>
              </a:rPr>
              <a:t> </a:t>
            </a:r>
            <a:r>
              <a:rPr lang="en-US" sz="2000" b="1" i="0" dirty="0">
                <a:solidFill>
                  <a:schemeClr val="tx2"/>
                </a:solidFill>
                <a:effectLst/>
              </a:rPr>
              <a:t> </a:t>
            </a:r>
            <a:r>
              <a:rPr lang="en-US" sz="2000" b="0" i="0" dirty="0">
                <a:solidFill>
                  <a:schemeClr val="tx2"/>
                </a:solidFill>
                <a:effectLst/>
              </a:rPr>
              <a:t>Multilayer </a:t>
            </a:r>
            <a:r>
              <a:rPr lang="en-US" sz="2000" b="0" i="0" dirty="0" err="1">
                <a:solidFill>
                  <a:schemeClr val="tx2"/>
                </a:solidFill>
                <a:effectLst/>
              </a:rPr>
              <a:t>perceptrons</a:t>
            </a:r>
            <a:r>
              <a:rPr lang="en-US" sz="2000" b="0" i="0" dirty="0">
                <a:solidFill>
                  <a:schemeClr val="tx2"/>
                </a:solidFill>
                <a:effectLst/>
              </a:rPr>
              <a:t> (</a:t>
            </a:r>
            <a:r>
              <a:rPr lang="en-US" sz="2000" b="1" i="0" dirty="0">
                <a:solidFill>
                  <a:schemeClr val="tx2"/>
                </a:solidFill>
                <a:effectLst/>
              </a:rPr>
              <a:t>MLPs</a:t>
            </a:r>
            <a:r>
              <a:rPr lang="en-US" sz="2000" b="0" i="0" dirty="0">
                <a:solidFill>
                  <a:schemeClr val="tx2"/>
                </a:solidFill>
                <a:effectLst/>
              </a:rPr>
              <a:t>) : capable of learning the relationship between linear and non-linear data, backpropagation - can reduce error rates. </a:t>
            </a:r>
          </a:p>
          <a:p>
            <a:pPr>
              <a:lnSpc>
                <a:spcPct val="90000"/>
              </a:lnSpc>
            </a:pPr>
            <a:r>
              <a:rPr lang="en-US" sz="2000" dirty="0">
                <a:solidFill>
                  <a:schemeClr val="tx2"/>
                </a:solidFill>
              </a:rPr>
              <a:t>				</a:t>
            </a:r>
          </a:p>
          <a:p>
            <a:pPr>
              <a:lnSpc>
                <a:spcPct val="90000"/>
              </a:lnSpc>
            </a:pPr>
            <a:r>
              <a:rPr lang="en-US" sz="2000" b="0" i="0" dirty="0">
                <a:solidFill>
                  <a:schemeClr val="tx2"/>
                </a:solidFill>
                <a:effectLst/>
              </a:rPr>
              <a:t>				</a:t>
            </a:r>
            <a:r>
              <a:rPr lang="en-US" sz="2200" b="1" dirty="0">
                <a:solidFill>
                  <a:srgbClr val="0070C0"/>
                </a:solidFill>
              </a:rPr>
              <a:t>face recognition and computer vision</a:t>
            </a:r>
            <a:endParaRPr lang="en-US" sz="2000" b="0" i="0" dirty="0">
              <a:solidFill>
                <a:schemeClr val="tx2"/>
              </a:solidFill>
              <a:effectLst/>
            </a:endParaRPr>
          </a:p>
          <a:p>
            <a:pPr>
              <a:lnSpc>
                <a:spcPct val="90000"/>
              </a:lnSpc>
            </a:pPr>
            <a:endParaRPr lang="en-US" sz="2000" b="1" i="0" dirty="0">
              <a:solidFill>
                <a:schemeClr val="tx2"/>
              </a:solidFill>
              <a:effectLst/>
            </a:endParaRPr>
          </a:p>
          <a:p>
            <a:pPr>
              <a:lnSpc>
                <a:spcPct val="90000"/>
              </a:lnSpc>
            </a:pPr>
            <a:r>
              <a:rPr lang="en-US" sz="2000" b="1" i="0" dirty="0">
                <a:solidFill>
                  <a:schemeClr val="tx2"/>
                </a:solidFill>
                <a:effectLst/>
              </a:rPr>
              <a:t>6 </a:t>
            </a:r>
            <a:r>
              <a:rPr lang="en-US" sz="2000" b="0" i="0" dirty="0">
                <a:solidFill>
                  <a:schemeClr val="tx2"/>
                </a:solidFill>
                <a:effectLst/>
              </a:rPr>
              <a:t>Generative adversarial networks (</a:t>
            </a:r>
            <a:r>
              <a:rPr lang="en-US" sz="2000" b="1" i="0" dirty="0">
                <a:solidFill>
                  <a:schemeClr val="tx2"/>
                </a:solidFill>
                <a:effectLst/>
              </a:rPr>
              <a:t>GANs</a:t>
            </a:r>
            <a:r>
              <a:rPr lang="en-US" sz="2000" b="0" i="0" dirty="0">
                <a:solidFill>
                  <a:schemeClr val="tx2"/>
                </a:solidFill>
                <a:effectLst/>
              </a:rPr>
              <a:t>): generate </a:t>
            </a:r>
            <a:r>
              <a:rPr lang="en-US" sz="2000" b="1" i="0" dirty="0">
                <a:solidFill>
                  <a:srgbClr val="FF0000"/>
                </a:solidFill>
                <a:effectLst/>
              </a:rPr>
              <a:t>new</a:t>
            </a:r>
            <a:r>
              <a:rPr lang="en-US" sz="2000" b="0" i="0" dirty="0">
                <a:solidFill>
                  <a:schemeClr val="tx2"/>
                </a:solidFill>
                <a:effectLst/>
              </a:rPr>
              <a:t> data sets based on training data</a:t>
            </a:r>
          </a:p>
          <a:p>
            <a:pPr>
              <a:lnSpc>
                <a:spcPct val="90000"/>
              </a:lnSpc>
            </a:pPr>
            <a:endParaRPr lang="en-US" sz="2000" dirty="0">
              <a:solidFill>
                <a:schemeClr val="tx2"/>
              </a:solidFill>
            </a:endParaRPr>
          </a:p>
          <a:p>
            <a:pPr>
              <a:lnSpc>
                <a:spcPct val="90000"/>
              </a:lnSpc>
            </a:pPr>
            <a:r>
              <a:rPr lang="en-US" sz="2000" b="0" i="0" dirty="0">
                <a:solidFill>
                  <a:schemeClr val="tx2"/>
                </a:solidFill>
                <a:effectLst/>
              </a:rPr>
              <a:t>				</a:t>
            </a:r>
            <a:r>
              <a:rPr lang="en-US" sz="2200" b="1" dirty="0">
                <a:solidFill>
                  <a:srgbClr val="0070C0"/>
                </a:solidFill>
              </a:rPr>
              <a:t>art created with AI, deep fake videos</a:t>
            </a:r>
          </a:p>
          <a:p>
            <a:pPr indent="-228600">
              <a:lnSpc>
                <a:spcPct val="90000"/>
              </a:lnSpc>
              <a:buFont typeface="Arial" panose="020B0604020202020204" pitchFamily="34" charset="0"/>
              <a:buChar char="•"/>
            </a:pPr>
            <a:endParaRPr lang="en-US" sz="2000" b="1" i="0" dirty="0">
              <a:solidFill>
                <a:schemeClr val="tx2"/>
              </a:solidFill>
              <a:effectLst/>
            </a:endParaRPr>
          </a:p>
          <a:p>
            <a:pPr>
              <a:lnSpc>
                <a:spcPct val="90000"/>
              </a:lnSpc>
            </a:pPr>
            <a:r>
              <a:rPr lang="en-US" sz="2000" b="1" i="0" dirty="0">
                <a:solidFill>
                  <a:schemeClr val="tx2"/>
                </a:solidFill>
                <a:effectLst/>
              </a:rPr>
              <a:t>7 </a:t>
            </a:r>
            <a:r>
              <a:rPr lang="en-US" sz="2000" b="0" i="0" dirty="0">
                <a:solidFill>
                  <a:schemeClr val="tx2"/>
                </a:solidFill>
                <a:effectLst/>
              </a:rPr>
              <a:t>Deep belief networks (</a:t>
            </a:r>
            <a:r>
              <a:rPr lang="en-US" sz="2000" b="1" i="0" dirty="0">
                <a:solidFill>
                  <a:schemeClr val="tx2"/>
                </a:solidFill>
                <a:effectLst/>
              </a:rPr>
              <a:t>DBNs</a:t>
            </a:r>
            <a:r>
              <a:rPr lang="en-US" sz="2000" b="0" i="0" dirty="0">
                <a:solidFill>
                  <a:schemeClr val="tx2"/>
                </a:solidFill>
                <a:effectLst/>
              </a:rPr>
              <a:t>): unique, stack individual networks that can use each other's hidden network layers as the input for the next layer, allows for the neural networks to be trained faster. </a:t>
            </a:r>
          </a:p>
          <a:p>
            <a:pPr>
              <a:lnSpc>
                <a:spcPct val="90000"/>
              </a:lnSpc>
            </a:pPr>
            <a:r>
              <a:rPr lang="en-US" sz="2000" dirty="0">
                <a:solidFill>
                  <a:schemeClr val="tx2"/>
                </a:solidFill>
              </a:rPr>
              <a:t>				</a:t>
            </a:r>
            <a:r>
              <a:rPr lang="en-US" sz="2200" b="1" dirty="0">
                <a:solidFill>
                  <a:srgbClr val="0070C0"/>
                </a:solidFill>
              </a:rPr>
              <a:t>generate images and motion-capture data. Self driving cars </a:t>
            </a:r>
          </a:p>
          <a:p>
            <a:pPr>
              <a:lnSpc>
                <a:spcPct val="90000"/>
              </a:lnSpc>
            </a:pPr>
            <a:endParaRPr lang="en-US" sz="2000" b="1" i="0" dirty="0">
              <a:solidFill>
                <a:schemeClr val="tx2"/>
              </a:solidFill>
              <a:effectLst/>
            </a:endParaRPr>
          </a:p>
          <a:p>
            <a:pPr>
              <a:lnSpc>
                <a:spcPct val="90000"/>
              </a:lnSpc>
            </a:pPr>
            <a:r>
              <a:rPr lang="en-US" sz="2000" b="1" i="0" dirty="0">
                <a:solidFill>
                  <a:schemeClr val="tx2"/>
                </a:solidFill>
                <a:effectLst/>
              </a:rPr>
              <a:t>8  </a:t>
            </a:r>
            <a:r>
              <a:rPr lang="en-US" sz="2000" b="0" i="0" dirty="0">
                <a:solidFill>
                  <a:schemeClr val="tx2"/>
                </a:solidFill>
                <a:effectLst/>
              </a:rPr>
              <a:t>Self-</a:t>
            </a:r>
            <a:r>
              <a:rPr lang="en-US" sz="2000" b="0" i="0" dirty="0" err="1">
                <a:solidFill>
                  <a:schemeClr val="tx2"/>
                </a:solidFill>
                <a:effectLst/>
              </a:rPr>
              <a:t>organising</a:t>
            </a:r>
            <a:r>
              <a:rPr lang="en-US" sz="2000" b="0" i="0" dirty="0">
                <a:solidFill>
                  <a:schemeClr val="tx2"/>
                </a:solidFill>
                <a:effectLst/>
              </a:rPr>
              <a:t> maps (</a:t>
            </a:r>
            <a:r>
              <a:rPr lang="en-US" sz="2000" b="1" i="0" dirty="0">
                <a:solidFill>
                  <a:schemeClr val="tx2"/>
                </a:solidFill>
                <a:effectLst/>
              </a:rPr>
              <a:t>SOMs</a:t>
            </a:r>
            <a:r>
              <a:rPr lang="en-US" sz="2000" b="0" i="0" dirty="0">
                <a:solidFill>
                  <a:schemeClr val="tx2"/>
                </a:solidFill>
                <a:effectLst/>
              </a:rPr>
              <a:t>), or </a:t>
            </a:r>
            <a:r>
              <a:rPr lang="en-US" sz="2000" b="0" i="0" dirty="0" err="1">
                <a:solidFill>
                  <a:schemeClr val="tx2"/>
                </a:solidFill>
                <a:effectLst/>
              </a:rPr>
              <a:t>Kohonen</a:t>
            </a:r>
            <a:r>
              <a:rPr lang="en-US" sz="2000" b="0" i="0" dirty="0">
                <a:solidFill>
                  <a:schemeClr val="tx2"/>
                </a:solidFill>
                <a:effectLst/>
              </a:rPr>
              <a:t> maps: transform extensive complex data sets into understandable two-dimensional maps where geometric relationships can be visualized. </a:t>
            </a:r>
          </a:p>
          <a:p>
            <a:pPr>
              <a:lnSpc>
                <a:spcPct val="90000"/>
              </a:lnSpc>
            </a:pPr>
            <a:endParaRPr lang="en-US" sz="2000" b="0" i="0" dirty="0">
              <a:solidFill>
                <a:schemeClr val="tx2"/>
              </a:solidFill>
              <a:effectLst/>
            </a:endParaRPr>
          </a:p>
          <a:p>
            <a:pPr>
              <a:lnSpc>
                <a:spcPct val="90000"/>
              </a:lnSpc>
            </a:pPr>
            <a:r>
              <a:rPr lang="en-US" sz="2000" b="0" i="0" dirty="0">
                <a:solidFill>
                  <a:schemeClr val="tx2"/>
                </a:solidFill>
                <a:effectLst/>
              </a:rPr>
              <a:t>				</a:t>
            </a:r>
            <a:r>
              <a:rPr lang="en-US" sz="2200" b="1" dirty="0">
                <a:solidFill>
                  <a:srgbClr val="0070C0"/>
                </a:solidFill>
              </a:rPr>
              <a:t>displaying voting trends for analysis and organizing complex data collected by astronomers so it can be interpreted.</a:t>
            </a: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554845" y="0"/>
            <a:ext cx="8733155" cy="10027900"/>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Box 3">
            <a:extLst>
              <a:ext uri="{FF2B5EF4-FFF2-40B4-BE49-F238E27FC236}">
                <a16:creationId xmlns:a16="http://schemas.microsoft.com/office/drawing/2014/main" id="{386F7C76-A44C-7B7E-18DB-C678C7412AA3}"/>
              </a:ext>
            </a:extLst>
          </p:cNvPr>
          <p:cNvSpPr txBox="1"/>
          <p:nvPr/>
        </p:nvSpPr>
        <p:spPr>
          <a:xfrm>
            <a:off x="304800" y="147988"/>
            <a:ext cx="5118581" cy="646331"/>
          </a:xfrm>
          <a:prstGeom prst="rect">
            <a:avLst/>
          </a:prstGeom>
          <a:noFill/>
        </p:spPr>
        <p:txBody>
          <a:bodyPr wrap="none" rtlCol="0">
            <a:spAutoFit/>
          </a:bodyPr>
          <a:lstStyle/>
          <a:p>
            <a:r>
              <a:rPr lang="en-US" sz="3600" b="1" dirty="0"/>
              <a:t>Types of Neural Networks</a:t>
            </a:r>
          </a:p>
        </p:txBody>
      </p:sp>
    </p:spTree>
    <p:extLst>
      <p:ext uri="{BB962C8B-B14F-4D97-AF65-F5344CB8AC3E}">
        <p14:creationId xmlns:p14="http://schemas.microsoft.com/office/powerpoint/2010/main" val="9842794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2286" y="0"/>
            <a:ext cx="18283428" cy="10287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diagram of a diagram of a diagram&#10;&#10;Description automatically generated with medium confidence">
            <a:extLst>
              <a:ext uri="{FF2B5EF4-FFF2-40B4-BE49-F238E27FC236}">
                <a16:creationId xmlns:a16="http://schemas.microsoft.com/office/drawing/2014/main" id="{9F504101-EF2B-EF16-AB60-6FFEA65A1ECC}"/>
              </a:ext>
            </a:extLst>
          </p:cNvPr>
          <p:cNvPicPr>
            <a:picLocks noChangeAspect="1"/>
          </p:cNvPicPr>
          <p:nvPr/>
        </p:nvPicPr>
        <p:blipFill>
          <a:blip r:embed="rId2">
            <a:extLst>
              <a:ext uri="{28A0092B-C50C-407E-A947-70E740481C1C}">
                <a14:useLocalDpi xmlns:a14="http://schemas.microsoft.com/office/drawing/2010/main" val="0"/>
              </a:ext>
            </a:extLst>
          </a:blip>
          <a:srcRect t="5480"/>
          <a:stretch/>
        </p:blipFill>
        <p:spPr>
          <a:xfrm>
            <a:off x="20" y="1923"/>
            <a:ext cx="18287980" cy="10285077"/>
          </a:xfrm>
          <a:prstGeom prst="rect">
            <a:avLst/>
          </a:prstGeom>
        </p:spPr>
      </p:pic>
    </p:spTree>
    <p:extLst>
      <p:ext uri="{BB962C8B-B14F-4D97-AF65-F5344CB8AC3E}">
        <p14:creationId xmlns:p14="http://schemas.microsoft.com/office/powerpoint/2010/main" val="1378270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F769C6F-7F7E-09E4-4865-D1204FA84527}"/>
              </a:ext>
            </a:extLst>
          </p:cNvPr>
          <p:cNvSpPr txBox="1"/>
          <p:nvPr/>
        </p:nvSpPr>
        <p:spPr>
          <a:xfrm>
            <a:off x="1257300" y="547687"/>
            <a:ext cx="15773400" cy="198834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6900" b="1" kern="1200">
                <a:solidFill>
                  <a:schemeClr val="tx1"/>
                </a:solidFill>
                <a:latin typeface="+mj-lt"/>
                <a:ea typeface="+mj-ea"/>
                <a:cs typeface="+mj-cs"/>
              </a:rPr>
              <a:t>Generative AI -  Use of Neural Networks</a:t>
            </a:r>
          </a:p>
        </p:txBody>
      </p:sp>
      <p:sp>
        <p:nvSpPr>
          <p:cNvPr id="3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03554" y="2516059"/>
            <a:ext cx="16280892" cy="27432"/>
          </a:xfrm>
          <a:custGeom>
            <a:avLst/>
            <a:gdLst>
              <a:gd name="connsiteX0" fmla="*/ 0 w 16280892"/>
              <a:gd name="connsiteY0" fmla="*/ 0 h 27432"/>
              <a:gd name="connsiteX1" fmla="*/ 841179 w 16280892"/>
              <a:gd name="connsiteY1" fmla="*/ 0 h 27432"/>
              <a:gd name="connsiteX2" fmla="*/ 1682359 w 16280892"/>
              <a:gd name="connsiteY2" fmla="*/ 0 h 27432"/>
              <a:gd name="connsiteX3" fmla="*/ 2360729 w 16280892"/>
              <a:gd name="connsiteY3" fmla="*/ 0 h 27432"/>
              <a:gd name="connsiteX4" fmla="*/ 3039100 w 16280892"/>
              <a:gd name="connsiteY4" fmla="*/ 0 h 27432"/>
              <a:gd name="connsiteX5" fmla="*/ 3717470 w 16280892"/>
              <a:gd name="connsiteY5" fmla="*/ 0 h 27432"/>
              <a:gd name="connsiteX6" fmla="*/ 3907414 w 16280892"/>
              <a:gd name="connsiteY6" fmla="*/ 0 h 27432"/>
              <a:gd name="connsiteX7" fmla="*/ 4748593 w 16280892"/>
              <a:gd name="connsiteY7" fmla="*/ 0 h 27432"/>
              <a:gd name="connsiteX8" fmla="*/ 4938537 w 16280892"/>
              <a:gd name="connsiteY8" fmla="*/ 0 h 27432"/>
              <a:gd name="connsiteX9" fmla="*/ 5616908 w 16280892"/>
              <a:gd name="connsiteY9" fmla="*/ 0 h 27432"/>
              <a:gd name="connsiteX10" fmla="*/ 6620896 w 16280892"/>
              <a:gd name="connsiteY10" fmla="*/ 0 h 27432"/>
              <a:gd name="connsiteX11" fmla="*/ 7624884 w 16280892"/>
              <a:gd name="connsiteY11" fmla="*/ 0 h 27432"/>
              <a:gd name="connsiteX12" fmla="*/ 8466064 w 16280892"/>
              <a:gd name="connsiteY12" fmla="*/ 0 h 27432"/>
              <a:gd name="connsiteX13" fmla="*/ 8981625 w 16280892"/>
              <a:gd name="connsiteY13" fmla="*/ 0 h 27432"/>
              <a:gd name="connsiteX14" fmla="*/ 9171569 w 16280892"/>
              <a:gd name="connsiteY14" fmla="*/ 0 h 27432"/>
              <a:gd name="connsiteX15" fmla="*/ 9687131 w 16280892"/>
              <a:gd name="connsiteY15" fmla="*/ 0 h 27432"/>
              <a:gd name="connsiteX16" fmla="*/ 10528310 w 16280892"/>
              <a:gd name="connsiteY16" fmla="*/ 0 h 27432"/>
              <a:gd name="connsiteX17" fmla="*/ 11532298 w 16280892"/>
              <a:gd name="connsiteY17" fmla="*/ 0 h 27432"/>
              <a:gd name="connsiteX18" fmla="*/ 11722242 w 16280892"/>
              <a:gd name="connsiteY18" fmla="*/ 0 h 27432"/>
              <a:gd name="connsiteX19" fmla="*/ 11912186 w 16280892"/>
              <a:gd name="connsiteY19" fmla="*/ 0 h 27432"/>
              <a:gd name="connsiteX20" fmla="*/ 12916174 w 16280892"/>
              <a:gd name="connsiteY20" fmla="*/ 0 h 27432"/>
              <a:gd name="connsiteX21" fmla="*/ 13106118 w 16280892"/>
              <a:gd name="connsiteY21" fmla="*/ 0 h 27432"/>
              <a:gd name="connsiteX22" fmla="*/ 13784489 w 16280892"/>
              <a:gd name="connsiteY22" fmla="*/ 0 h 27432"/>
              <a:gd name="connsiteX23" fmla="*/ 14137241 w 16280892"/>
              <a:gd name="connsiteY23" fmla="*/ 0 h 27432"/>
              <a:gd name="connsiteX24" fmla="*/ 14489994 w 16280892"/>
              <a:gd name="connsiteY24" fmla="*/ 0 h 27432"/>
              <a:gd name="connsiteX25" fmla="*/ 14842747 w 16280892"/>
              <a:gd name="connsiteY25" fmla="*/ 0 h 27432"/>
              <a:gd name="connsiteX26" fmla="*/ 15195499 w 16280892"/>
              <a:gd name="connsiteY26" fmla="*/ 0 h 27432"/>
              <a:gd name="connsiteX27" fmla="*/ 16280892 w 16280892"/>
              <a:gd name="connsiteY27" fmla="*/ 0 h 27432"/>
              <a:gd name="connsiteX28" fmla="*/ 16280892 w 16280892"/>
              <a:gd name="connsiteY28" fmla="*/ 27432 h 27432"/>
              <a:gd name="connsiteX29" fmla="*/ 15765330 w 16280892"/>
              <a:gd name="connsiteY29" fmla="*/ 27432 h 27432"/>
              <a:gd name="connsiteX30" fmla="*/ 15412578 w 16280892"/>
              <a:gd name="connsiteY30" fmla="*/ 27432 h 27432"/>
              <a:gd name="connsiteX31" fmla="*/ 14571398 w 16280892"/>
              <a:gd name="connsiteY31" fmla="*/ 27432 h 27432"/>
              <a:gd name="connsiteX32" fmla="*/ 13567410 w 16280892"/>
              <a:gd name="connsiteY32" fmla="*/ 27432 h 27432"/>
              <a:gd name="connsiteX33" fmla="*/ 13051848 w 16280892"/>
              <a:gd name="connsiteY33" fmla="*/ 27432 h 27432"/>
              <a:gd name="connsiteX34" fmla="*/ 12047860 w 16280892"/>
              <a:gd name="connsiteY34" fmla="*/ 27432 h 27432"/>
              <a:gd name="connsiteX35" fmla="*/ 11369490 w 16280892"/>
              <a:gd name="connsiteY35" fmla="*/ 27432 h 27432"/>
              <a:gd name="connsiteX36" fmla="*/ 10365501 w 16280892"/>
              <a:gd name="connsiteY36" fmla="*/ 27432 h 27432"/>
              <a:gd name="connsiteX37" fmla="*/ 9361513 w 16280892"/>
              <a:gd name="connsiteY37" fmla="*/ 27432 h 27432"/>
              <a:gd name="connsiteX38" fmla="*/ 9008760 w 16280892"/>
              <a:gd name="connsiteY38" fmla="*/ 27432 h 27432"/>
              <a:gd name="connsiteX39" fmla="*/ 8493199 w 16280892"/>
              <a:gd name="connsiteY39" fmla="*/ 27432 h 27432"/>
              <a:gd name="connsiteX40" fmla="*/ 7814828 w 16280892"/>
              <a:gd name="connsiteY40" fmla="*/ 27432 h 27432"/>
              <a:gd name="connsiteX41" fmla="*/ 7136458 w 16280892"/>
              <a:gd name="connsiteY41" fmla="*/ 27432 h 27432"/>
              <a:gd name="connsiteX42" fmla="*/ 6295278 w 16280892"/>
              <a:gd name="connsiteY42" fmla="*/ 27432 h 27432"/>
              <a:gd name="connsiteX43" fmla="*/ 5942526 w 16280892"/>
              <a:gd name="connsiteY43" fmla="*/ 27432 h 27432"/>
              <a:gd name="connsiteX44" fmla="*/ 5589773 w 16280892"/>
              <a:gd name="connsiteY44" fmla="*/ 27432 h 27432"/>
              <a:gd name="connsiteX45" fmla="*/ 4585785 w 16280892"/>
              <a:gd name="connsiteY45" fmla="*/ 27432 h 27432"/>
              <a:gd name="connsiteX46" fmla="*/ 3581796 w 16280892"/>
              <a:gd name="connsiteY46" fmla="*/ 27432 h 27432"/>
              <a:gd name="connsiteX47" fmla="*/ 2903426 w 16280892"/>
              <a:gd name="connsiteY47" fmla="*/ 27432 h 27432"/>
              <a:gd name="connsiteX48" fmla="*/ 2713482 w 16280892"/>
              <a:gd name="connsiteY48" fmla="*/ 27432 h 27432"/>
              <a:gd name="connsiteX49" fmla="*/ 2523538 w 16280892"/>
              <a:gd name="connsiteY49" fmla="*/ 27432 h 27432"/>
              <a:gd name="connsiteX50" fmla="*/ 1519550 w 16280892"/>
              <a:gd name="connsiteY50" fmla="*/ 27432 h 27432"/>
              <a:gd name="connsiteX51" fmla="*/ 1003988 w 16280892"/>
              <a:gd name="connsiteY51" fmla="*/ 27432 h 27432"/>
              <a:gd name="connsiteX52" fmla="*/ 0 w 16280892"/>
              <a:gd name="connsiteY52" fmla="*/ 27432 h 27432"/>
              <a:gd name="connsiteX53" fmla="*/ 0 w 16280892"/>
              <a:gd name="connsiteY53"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6280892" h="27432" fill="none" extrusionOk="0">
                <a:moveTo>
                  <a:pt x="0" y="0"/>
                </a:moveTo>
                <a:cubicBezTo>
                  <a:pt x="409643" y="37718"/>
                  <a:pt x="500439" y="-36667"/>
                  <a:pt x="841179" y="0"/>
                </a:cubicBezTo>
                <a:cubicBezTo>
                  <a:pt x="1181919" y="36667"/>
                  <a:pt x="1512729" y="-20894"/>
                  <a:pt x="1682359" y="0"/>
                </a:cubicBezTo>
                <a:cubicBezTo>
                  <a:pt x="1851989" y="20894"/>
                  <a:pt x="2107821" y="19681"/>
                  <a:pt x="2360729" y="0"/>
                </a:cubicBezTo>
                <a:cubicBezTo>
                  <a:pt x="2613637" y="-19681"/>
                  <a:pt x="2722918" y="17895"/>
                  <a:pt x="3039100" y="0"/>
                </a:cubicBezTo>
                <a:cubicBezTo>
                  <a:pt x="3355282" y="-17895"/>
                  <a:pt x="3419387" y="13801"/>
                  <a:pt x="3717470" y="0"/>
                </a:cubicBezTo>
                <a:cubicBezTo>
                  <a:pt x="4015553" y="-13801"/>
                  <a:pt x="3814431" y="7113"/>
                  <a:pt x="3907414" y="0"/>
                </a:cubicBezTo>
                <a:cubicBezTo>
                  <a:pt x="4000397" y="-7113"/>
                  <a:pt x="4537852" y="2053"/>
                  <a:pt x="4748593" y="0"/>
                </a:cubicBezTo>
                <a:cubicBezTo>
                  <a:pt x="4959334" y="-2053"/>
                  <a:pt x="4885146" y="651"/>
                  <a:pt x="4938537" y="0"/>
                </a:cubicBezTo>
                <a:cubicBezTo>
                  <a:pt x="4991928" y="-651"/>
                  <a:pt x="5331447" y="5729"/>
                  <a:pt x="5616908" y="0"/>
                </a:cubicBezTo>
                <a:cubicBezTo>
                  <a:pt x="5902369" y="-5729"/>
                  <a:pt x="6419677" y="15155"/>
                  <a:pt x="6620896" y="0"/>
                </a:cubicBezTo>
                <a:cubicBezTo>
                  <a:pt x="6822115" y="-15155"/>
                  <a:pt x="7129106" y="23573"/>
                  <a:pt x="7624884" y="0"/>
                </a:cubicBezTo>
                <a:cubicBezTo>
                  <a:pt x="8120662" y="-23573"/>
                  <a:pt x="8109589" y="-23431"/>
                  <a:pt x="8466064" y="0"/>
                </a:cubicBezTo>
                <a:cubicBezTo>
                  <a:pt x="8822539" y="23431"/>
                  <a:pt x="8773707" y="-19971"/>
                  <a:pt x="8981625" y="0"/>
                </a:cubicBezTo>
                <a:cubicBezTo>
                  <a:pt x="9189543" y="19971"/>
                  <a:pt x="9076883" y="-1357"/>
                  <a:pt x="9171569" y="0"/>
                </a:cubicBezTo>
                <a:cubicBezTo>
                  <a:pt x="9266255" y="1357"/>
                  <a:pt x="9482888" y="-9366"/>
                  <a:pt x="9687131" y="0"/>
                </a:cubicBezTo>
                <a:cubicBezTo>
                  <a:pt x="9891374" y="9366"/>
                  <a:pt x="10216856" y="36591"/>
                  <a:pt x="10528310" y="0"/>
                </a:cubicBezTo>
                <a:cubicBezTo>
                  <a:pt x="10839764" y="-36591"/>
                  <a:pt x="11327559" y="47801"/>
                  <a:pt x="11532298" y="0"/>
                </a:cubicBezTo>
                <a:cubicBezTo>
                  <a:pt x="11737037" y="-47801"/>
                  <a:pt x="11671078" y="-6214"/>
                  <a:pt x="11722242" y="0"/>
                </a:cubicBezTo>
                <a:cubicBezTo>
                  <a:pt x="11773406" y="6214"/>
                  <a:pt x="11836794" y="-8789"/>
                  <a:pt x="11912186" y="0"/>
                </a:cubicBezTo>
                <a:cubicBezTo>
                  <a:pt x="11987578" y="8789"/>
                  <a:pt x="12560026" y="-17178"/>
                  <a:pt x="12916174" y="0"/>
                </a:cubicBezTo>
                <a:cubicBezTo>
                  <a:pt x="13272322" y="17178"/>
                  <a:pt x="13066214" y="-8116"/>
                  <a:pt x="13106118" y="0"/>
                </a:cubicBezTo>
                <a:cubicBezTo>
                  <a:pt x="13146022" y="8116"/>
                  <a:pt x="13560520" y="-19828"/>
                  <a:pt x="13784489" y="0"/>
                </a:cubicBezTo>
                <a:cubicBezTo>
                  <a:pt x="14008458" y="19828"/>
                  <a:pt x="14029208" y="-693"/>
                  <a:pt x="14137241" y="0"/>
                </a:cubicBezTo>
                <a:cubicBezTo>
                  <a:pt x="14245274" y="693"/>
                  <a:pt x="14377822" y="7164"/>
                  <a:pt x="14489994" y="0"/>
                </a:cubicBezTo>
                <a:cubicBezTo>
                  <a:pt x="14602166" y="-7164"/>
                  <a:pt x="14759000" y="9517"/>
                  <a:pt x="14842747" y="0"/>
                </a:cubicBezTo>
                <a:cubicBezTo>
                  <a:pt x="14926494" y="-9517"/>
                  <a:pt x="15109709" y="2919"/>
                  <a:pt x="15195499" y="0"/>
                </a:cubicBezTo>
                <a:cubicBezTo>
                  <a:pt x="15281289" y="-2919"/>
                  <a:pt x="15925238" y="-21748"/>
                  <a:pt x="16280892" y="0"/>
                </a:cubicBezTo>
                <a:cubicBezTo>
                  <a:pt x="16281619" y="6650"/>
                  <a:pt x="16279930" y="15178"/>
                  <a:pt x="16280892" y="27432"/>
                </a:cubicBezTo>
                <a:cubicBezTo>
                  <a:pt x="16098512" y="48472"/>
                  <a:pt x="15881289" y="22250"/>
                  <a:pt x="15765330" y="27432"/>
                </a:cubicBezTo>
                <a:cubicBezTo>
                  <a:pt x="15649371" y="32614"/>
                  <a:pt x="15567326" y="15228"/>
                  <a:pt x="15412578" y="27432"/>
                </a:cubicBezTo>
                <a:cubicBezTo>
                  <a:pt x="15257830" y="39636"/>
                  <a:pt x="14785880" y="29504"/>
                  <a:pt x="14571398" y="27432"/>
                </a:cubicBezTo>
                <a:cubicBezTo>
                  <a:pt x="14356916" y="25360"/>
                  <a:pt x="13827427" y="61696"/>
                  <a:pt x="13567410" y="27432"/>
                </a:cubicBezTo>
                <a:cubicBezTo>
                  <a:pt x="13307393" y="-6832"/>
                  <a:pt x="13200066" y="1718"/>
                  <a:pt x="13051848" y="27432"/>
                </a:cubicBezTo>
                <a:cubicBezTo>
                  <a:pt x="12903630" y="53146"/>
                  <a:pt x="12400701" y="6921"/>
                  <a:pt x="12047860" y="27432"/>
                </a:cubicBezTo>
                <a:cubicBezTo>
                  <a:pt x="11695019" y="47943"/>
                  <a:pt x="11598024" y="51997"/>
                  <a:pt x="11369490" y="27432"/>
                </a:cubicBezTo>
                <a:cubicBezTo>
                  <a:pt x="11140956" y="2868"/>
                  <a:pt x="10761954" y="12862"/>
                  <a:pt x="10365501" y="27432"/>
                </a:cubicBezTo>
                <a:cubicBezTo>
                  <a:pt x="9969048" y="42002"/>
                  <a:pt x="9790411" y="328"/>
                  <a:pt x="9361513" y="27432"/>
                </a:cubicBezTo>
                <a:cubicBezTo>
                  <a:pt x="8932615" y="54536"/>
                  <a:pt x="9113926" y="34318"/>
                  <a:pt x="9008760" y="27432"/>
                </a:cubicBezTo>
                <a:cubicBezTo>
                  <a:pt x="8903594" y="20546"/>
                  <a:pt x="8614812" y="23184"/>
                  <a:pt x="8493199" y="27432"/>
                </a:cubicBezTo>
                <a:cubicBezTo>
                  <a:pt x="8371586" y="31680"/>
                  <a:pt x="8091918" y="43164"/>
                  <a:pt x="7814828" y="27432"/>
                </a:cubicBezTo>
                <a:cubicBezTo>
                  <a:pt x="7537738" y="11700"/>
                  <a:pt x="7462803" y="16870"/>
                  <a:pt x="7136458" y="27432"/>
                </a:cubicBezTo>
                <a:cubicBezTo>
                  <a:pt x="6810113" y="37995"/>
                  <a:pt x="6525162" y="52361"/>
                  <a:pt x="6295278" y="27432"/>
                </a:cubicBezTo>
                <a:cubicBezTo>
                  <a:pt x="6065394" y="2503"/>
                  <a:pt x="6069908" y="30755"/>
                  <a:pt x="5942526" y="27432"/>
                </a:cubicBezTo>
                <a:cubicBezTo>
                  <a:pt x="5815144" y="24109"/>
                  <a:pt x="5717369" y="11415"/>
                  <a:pt x="5589773" y="27432"/>
                </a:cubicBezTo>
                <a:cubicBezTo>
                  <a:pt x="5462177" y="43449"/>
                  <a:pt x="5013558" y="23556"/>
                  <a:pt x="4585785" y="27432"/>
                </a:cubicBezTo>
                <a:cubicBezTo>
                  <a:pt x="4158012" y="31308"/>
                  <a:pt x="3847085" y="18090"/>
                  <a:pt x="3581796" y="27432"/>
                </a:cubicBezTo>
                <a:cubicBezTo>
                  <a:pt x="3316507" y="36774"/>
                  <a:pt x="3154713" y="31771"/>
                  <a:pt x="2903426" y="27432"/>
                </a:cubicBezTo>
                <a:cubicBezTo>
                  <a:pt x="2652139" y="23094"/>
                  <a:pt x="2773806" y="35830"/>
                  <a:pt x="2713482" y="27432"/>
                </a:cubicBezTo>
                <a:cubicBezTo>
                  <a:pt x="2653158" y="19034"/>
                  <a:pt x="2600711" y="22540"/>
                  <a:pt x="2523538" y="27432"/>
                </a:cubicBezTo>
                <a:cubicBezTo>
                  <a:pt x="2446365" y="32324"/>
                  <a:pt x="1741229" y="20965"/>
                  <a:pt x="1519550" y="27432"/>
                </a:cubicBezTo>
                <a:cubicBezTo>
                  <a:pt x="1297871" y="33899"/>
                  <a:pt x="1125646" y="48277"/>
                  <a:pt x="1003988" y="27432"/>
                </a:cubicBezTo>
                <a:cubicBezTo>
                  <a:pt x="882330" y="6587"/>
                  <a:pt x="341133" y="60519"/>
                  <a:pt x="0" y="27432"/>
                </a:cubicBezTo>
                <a:cubicBezTo>
                  <a:pt x="-1251" y="16359"/>
                  <a:pt x="1039" y="7572"/>
                  <a:pt x="0" y="0"/>
                </a:cubicBezTo>
                <a:close/>
              </a:path>
              <a:path w="16280892" h="27432" stroke="0" extrusionOk="0">
                <a:moveTo>
                  <a:pt x="0" y="0"/>
                </a:moveTo>
                <a:cubicBezTo>
                  <a:pt x="132094" y="5368"/>
                  <a:pt x="295768" y="171"/>
                  <a:pt x="515562" y="0"/>
                </a:cubicBezTo>
                <a:cubicBezTo>
                  <a:pt x="735356" y="-171"/>
                  <a:pt x="631430" y="3629"/>
                  <a:pt x="705505" y="0"/>
                </a:cubicBezTo>
                <a:cubicBezTo>
                  <a:pt x="779580" y="-3629"/>
                  <a:pt x="1236188" y="21817"/>
                  <a:pt x="1709494" y="0"/>
                </a:cubicBezTo>
                <a:cubicBezTo>
                  <a:pt x="2182800" y="-21817"/>
                  <a:pt x="2009833" y="-8078"/>
                  <a:pt x="2225055" y="0"/>
                </a:cubicBezTo>
                <a:cubicBezTo>
                  <a:pt x="2440277" y="8078"/>
                  <a:pt x="2576987" y="-3690"/>
                  <a:pt x="2740617" y="0"/>
                </a:cubicBezTo>
                <a:cubicBezTo>
                  <a:pt x="2904247" y="3690"/>
                  <a:pt x="3320878" y="-23618"/>
                  <a:pt x="3744605" y="0"/>
                </a:cubicBezTo>
                <a:cubicBezTo>
                  <a:pt x="4168332" y="23618"/>
                  <a:pt x="3960785" y="-13202"/>
                  <a:pt x="4097358" y="0"/>
                </a:cubicBezTo>
                <a:cubicBezTo>
                  <a:pt x="4233931" y="13202"/>
                  <a:pt x="4707387" y="-19923"/>
                  <a:pt x="5101346" y="0"/>
                </a:cubicBezTo>
                <a:cubicBezTo>
                  <a:pt x="5495305" y="19923"/>
                  <a:pt x="5819839" y="-2146"/>
                  <a:pt x="6105334" y="0"/>
                </a:cubicBezTo>
                <a:cubicBezTo>
                  <a:pt x="6390829" y="2146"/>
                  <a:pt x="6451820" y="-10129"/>
                  <a:pt x="6783705" y="0"/>
                </a:cubicBezTo>
                <a:cubicBezTo>
                  <a:pt x="7115590" y="10129"/>
                  <a:pt x="7343272" y="6830"/>
                  <a:pt x="7787693" y="0"/>
                </a:cubicBezTo>
                <a:cubicBezTo>
                  <a:pt x="8232114" y="-6830"/>
                  <a:pt x="8084321" y="-8759"/>
                  <a:pt x="8303255" y="0"/>
                </a:cubicBezTo>
                <a:cubicBezTo>
                  <a:pt x="8522189" y="8759"/>
                  <a:pt x="8642548" y="10676"/>
                  <a:pt x="8818816" y="0"/>
                </a:cubicBezTo>
                <a:cubicBezTo>
                  <a:pt x="8995084" y="-10676"/>
                  <a:pt x="9419823" y="19068"/>
                  <a:pt x="9659996" y="0"/>
                </a:cubicBezTo>
                <a:cubicBezTo>
                  <a:pt x="9900169" y="-19068"/>
                  <a:pt x="9981281" y="-18291"/>
                  <a:pt x="10175557" y="0"/>
                </a:cubicBezTo>
                <a:cubicBezTo>
                  <a:pt x="10369833" y="18291"/>
                  <a:pt x="10761846" y="3543"/>
                  <a:pt x="11179546" y="0"/>
                </a:cubicBezTo>
                <a:cubicBezTo>
                  <a:pt x="11597246" y="-3543"/>
                  <a:pt x="11926388" y="33443"/>
                  <a:pt x="12183534" y="0"/>
                </a:cubicBezTo>
                <a:cubicBezTo>
                  <a:pt x="12440680" y="-33443"/>
                  <a:pt x="12684884" y="13168"/>
                  <a:pt x="12861905" y="0"/>
                </a:cubicBezTo>
                <a:cubicBezTo>
                  <a:pt x="13038926" y="-13168"/>
                  <a:pt x="13216637" y="-5124"/>
                  <a:pt x="13377466" y="0"/>
                </a:cubicBezTo>
                <a:cubicBezTo>
                  <a:pt x="13538295" y="5124"/>
                  <a:pt x="13493173" y="-3867"/>
                  <a:pt x="13567410" y="0"/>
                </a:cubicBezTo>
                <a:cubicBezTo>
                  <a:pt x="13641647" y="3867"/>
                  <a:pt x="13758514" y="-13877"/>
                  <a:pt x="13920163" y="0"/>
                </a:cubicBezTo>
                <a:cubicBezTo>
                  <a:pt x="14081812" y="13877"/>
                  <a:pt x="14124450" y="8909"/>
                  <a:pt x="14272915" y="0"/>
                </a:cubicBezTo>
                <a:cubicBezTo>
                  <a:pt x="14421380" y="-8909"/>
                  <a:pt x="14593413" y="-7184"/>
                  <a:pt x="14788477" y="0"/>
                </a:cubicBezTo>
                <a:cubicBezTo>
                  <a:pt x="14983541" y="7184"/>
                  <a:pt x="15709700" y="-55721"/>
                  <a:pt x="16280892" y="0"/>
                </a:cubicBezTo>
                <a:cubicBezTo>
                  <a:pt x="16282183" y="11478"/>
                  <a:pt x="16282086" y="14228"/>
                  <a:pt x="16280892" y="27432"/>
                </a:cubicBezTo>
                <a:cubicBezTo>
                  <a:pt x="16123730" y="31268"/>
                  <a:pt x="15899890" y="26679"/>
                  <a:pt x="15602522" y="27432"/>
                </a:cubicBezTo>
                <a:cubicBezTo>
                  <a:pt x="15305154" y="28186"/>
                  <a:pt x="15252307" y="20177"/>
                  <a:pt x="14924151" y="27432"/>
                </a:cubicBezTo>
                <a:cubicBezTo>
                  <a:pt x="14595995" y="34687"/>
                  <a:pt x="14662608" y="41537"/>
                  <a:pt x="14571398" y="27432"/>
                </a:cubicBezTo>
                <a:cubicBezTo>
                  <a:pt x="14480188" y="13327"/>
                  <a:pt x="14057344" y="27311"/>
                  <a:pt x="13730219" y="27432"/>
                </a:cubicBezTo>
                <a:cubicBezTo>
                  <a:pt x="13403094" y="27553"/>
                  <a:pt x="13479093" y="22044"/>
                  <a:pt x="13377466" y="27432"/>
                </a:cubicBezTo>
                <a:cubicBezTo>
                  <a:pt x="13275839" y="32820"/>
                  <a:pt x="12951162" y="1863"/>
                  <a:pt x="12536287" y="27432"/>
                </a:cubicBezTo>
                <a:cubicBezTo>
                  <a:pt x="12121412" y="53001"/>
                  <a:pt x="12410210" y="21673"/>
                  <a:pt x="12346343" y="27432"/>
                </a:cubicBezTo>
                <a:cubicBezTo>
                  <a:pt x="12282476" y="33191"/>
                  <a:pt x="11837570" y="67787"/>
                  <a:pt x="11505164" y="27432"/>
                </a:cubicBezTo>
                <a:cubicBezTo>
                  <a:pt x="11172758" y="-12923"/>
                  <a:pt x="11307286" y="21302"/>
                  <a:pt x="11152411" y="27432"/>
                </a:cubicBezTo>
                <a:cubicBezTo>
                  <a:pt x="10997536" y="33562"/>
                  <a:pt x="11042121" y="20479"/>
                  <a:pt x="10962467" y="27432"/>
                </a:cubicBezTo>
                <a:cubicBezTo>
                  <a:pt x="10882813" y="34385"/>
                  <a:pt x="10768155" y="17793"/>
                  <a:pt x="10609715" y="27432"/>
                </a:cubicBezTo>
                <a:cubicBezTo>
                  <a:pt x="10451275" y="37071"/>
                  <a:pt x="9983734" y="10056"/>
                  <a:pt x="9768535" y="27432"/>
                </a:cubicBezTo>
                <a:cubicBezTo>
                  <a:pt x="9553336" y="44808"/>
                  <a:pt x="9512715" y="24391"/>
                  <a:pt x="9415783" y="27432"/>
                </a:cubicBezTo>
                <a:cubicBezTo>
                  <a:pt x="9318851" y="30473"/>
                  <a:pt x="9302863" y="32409"/>
                  <a:pt x="9225839" y="27432"/>
                </a:cubicBezTo>
                <a:cubicBezTo>
                  <a:pt x="9148815" y="22455"/>
                  <a:pt x="9005247" y="27775"/>
                  <a:pt x="8873086" y="27432"/>
                </a:cubicBezTo>
                <a:cubicBezTo>
                  <a:pt x="8740925" y="27089"/>
                  <a:pt x="8597862" y="44957"/>
                  <a:pt x="8357525" y="27432"/>
                </a:cubicBezTo>
                <a:cubicBezTo>
                  <a:pt x="8117188" y="9907"/>
                  <a:pt x="7830326" y="336"/>
                  <a:pt x="7679154" y="27432"/>
                </a:cubicBezTo>
                <a:cubicBezTo>
                  <a:pt x="7527982" y="54528"/>
                  <a:pt x="7487877" y="41910"/>
                  <a:pt x="7326401" y="27432"/>
                </a:cubicBezTo>
                <a:cubicBezTo>
                  <a:pt x="7164925" y="12954"/>
                  <a:pt x="6715807" y="57076"/>
                  <a:pt x="6322413" y="27432"/>
                </a:cubicBezTo>
                <a:cubicBezTo>
                  <a:pt x="5929019" y="-2212"/>
                  <a:pt x="5917783" y="-2491"/>
                  <a:pt x="5644043" y="27432"/>
                </a:cubicBezTo>
                <a:cubicBezTo>
                  <a:pt x="5370303" y="57355"/>
                  <a:pt x="5045383" y="23003"/>
                  <a:pt x="4640054" y="27432"/>
                </a:cubicBezTo>
                <a:cubicBezTo>
                  <a:pt x="4234725" y="31861"/>
                  <a:pt x="4205736" y="15581"/>
                  <a:pt x="3798875" y="27432"/>
                </a:cubicBezTo>
                <a:cubicBezTo>
                  <a:pt x="3392014" y="39283"/>
                  <a:pt x="3451278" y="26782"/>
                  <a:pt x="3283313" y="27432"/>
                </a:cubicBezTo>
                <a:cubicBezTo>
                  <a:pt x="3115348" y="28082"/>
                  <a:pt x="2773067" y="64616"/>
                  <a:pt x="2442134" y="27432"/>
                </a:cubicBezTo>
                <a:cubicBezTo>
                  <a:pt x="2111201" y="-9752"/>
                  <a:pt x="2244120" y="15839"/>
                  <a:pt x="2089381" y="27432"/>
                </a:cubicBezTo>
                <a:cubicBezTo>
                  <a:pt x="1934642" y="39025"/>
                  <a:pt x="1619221" y="41603"/>
                  <a:pt x="1411011" y="27432"/>
                </a:cubicBezTo>
                <a:cubicBezTo>
                  <a:pt x="1202801" y="13262"/>
                  <a:pt x="1262505" y="27975"/>
                  <a:pt x="1221067" y="27432"/>
                </a:cubicBezTo>
                <a:cubicBezTo>
                  <a:pt x="1179629" y="26889"/>
                  <a:pt x="395550" y="-2351"/>
                  <a:pt x="0" y="27432"/>
                </a:cubicBezTo>
                <a:cubicBezTo>
                  <a:pt x="-1057" y="18241"/>
                  <a:pt x="670" y="12133"/>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1">
            <a:extLst>
              <a:ext uri="{FF2B5EF4-FFF2-40B4-BE49-F238E27FC236}">
                <a16:creationId xmlns:a16="http://schemas.microsoft.com/office/drawing/2014/main" id="{80B73401-1886-F184-6EA8-C992E860DBDE}"/>
              </a:ext>
            </a:extLst>
          </p:cNvPr>
          <p:cNvSpPr>
            <a:spLocks noChangeArrowheads="1"/>
          </p:cNvSpPr>
          <p:nvPr/>
        </p:nvSpPr>
        <p:spPr bwMode="auto">
          <a:xfrm>
            <a:off x="1257300" y="2894076"/>
            <a:ext cx="15773400" cy="63779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b="1"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b="1" i="0" u="none" strike="noStrike" cap="none" normalizeH="0" baseline="0" dirty="0">
                <a:ln>
                  <a:noFill/>
                </a:ln>
                <a:effectLst/>
              </a:rPr>
              <a:t>Generative Adversarial Networks (GANs)</a:t>
            </a:r>
            <a:r>
              <a:rPr kumimoji="0" lang="en-US" altLang="en-US" b="0" i="0" u="none" strike="noStrike" cap="none" normalizeH="0" baseline="0" dirty="0">
                <a:ln>
                  <a:noFill/>
                </a:ln>
                <a:effectLst/>
              </a:rPr>
              <a:t>:  LMMs  ( Large Muli Modal language models) use GANs for generating realistic images, videos, and audio. </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b="1"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b="1" i="0" u="none" strike="noStrike" cap="none" normalizeH="0" baseline="0" dirty="0">
                <a:ln>
                  <a:noFill/>
                </a:ln>
                <a:effectLst/>
              </a:rPr>
              <a:t>Variational Autoencoders (VAEs)</a:t>
            </a:r>
            <a:r>
              <a:rPr kumimoji="0" lang="en-US" altLang="en-US" b="0" i="0" u="none" strike="noStrike" cap="none" normalizeH="0" baseline="0" dirty="0">
                <a:ln>
                  <a:noFill/>
                </a:ln>
                <a:effectLst/>
              </a:rPr>
              <a:t>: VAEs are used for generating data by learning the underlying distribution of the input data. </a:t>
            </a:r>
          </a:p>
          <a:p>
            <a:pPr marR="0" lvl="0" fontAlgn="base">
              <a:lnSpc>
                <a:spcPct val="90000"/>
              </a:lnSpc>
              <a:spcBef>
                <a:spcPct val="0"/>
              </a:spcBef>
              <a:spcAft>
                <a:spcPts val="600"/>
              </a:spcAft>
              <a:buClrTx/>
              <a:buSzTx/>
              <a:tabLst/>
            </a:pPr>
            <a:r>
              <a:rPr kumimoji="0" lang="en-US" altLang="en-US" b="0" i="0" u="none" strike="noStrike" cap="none" normalizeH="0" baseline="0" dirty="0">
                <a:ln>
                  <a:noFill/>
                </a:ln>
                <a:effectLst/>
              </a:rPr>
              <a:t>They’re effective in generating slightly more controlled and interpretable data, often used in image synthesis and anomaly detection.</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b="1"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b="1" i="0" u="none" strike="noStrike" cap="none" normalizeH="0" baseline="0" dirty="0">
                <a:ln>
                  <a:noFill/>
                </a:ln>
                <a:effectLst/>
              </a:rPr>
              <a:t>Transformers</a:t>
            </a:r>
            <a:r>
              <a:rPr kumimoji="0" lang="en-US" altLang="en-US" b="0" i="0" u="none" strike="noStrike" cap="none" normalizeH="0" baseline="0" dirty="0">
                <a:ln>
                  <a:noFill/>
                </a:ln>
                <a:effectLst/>
              </a:rPr>
              <a:t>: large language models (LLMs) like GPT, are crucial in generating text and language-based content. </a:t>
            </a:r>
          </a:p>
          <a:p>
            <a:pPr marR="0" lvl="0" fontAlgn="base">
              <a:lnSpc>
                <a:spcPct val="90000"/>
              </a:lnSpc>
              <a:spcBef>
                <a:spcPct val="0"/>
              </a:spcBef>
              <a:spcAft>
                <a:spcPts val="600"/>
              </a:spcAft>
              <a:buClrTx/>
              <a:buSzTx/>
              <a:tabLst/>
            </a:pPr>
            <a:r>
              <a:rPr kumimoji="0" lang="en-US" altLang="en-US" b="0" i="0" u="none" strike="noStrike" cap="none" normalizeH="0" baseline="0" dirty="0">
                <a:ln>
                  <a:noFill/>
                </a:ln>
                <a:effectLst/>
              </a:rPr>
              <a:t>Transformers rely on attention mechanisms rather than recurrence, allowing them to handle longer sequences and generate coherent text, code, or dialogue.</a:t>
            </a:r>
          </a:p>
          <a:p>
            <a:pPr marL="0" marR="0" lvl="0" indent="-228600" fontAlgn="base">
              <a:lnSpc>
                <a:spcPct val="90000"/>
              </a:lnSpc>
              <a:spcBef>
                <a:spcPct val="0"/>
              </a:spcBef>
              <a:spcAft>
                <a:spcPts val="600"/>
              </a:spcAft>
              <a:buClrTx/>
              <a:buSzTx/>
              <a:buFont typeface="Arial" panose="020B0604020202020204" pitchFamily="34" charset="0"/>
              <a:buChar char="•"/>
              <a:tabLst/>
            </a:pPr>
            <a:endParaRPr kumimoji="0" lang="en-US" altLang="en-US" b="1" i="0" u="none" strike="noStrike" cap="none" normalizeH="0" baseline="0" dirty="0">
              <a:ln>
                <a:noFill/>
              </a:ln>
              <a:effectLst/>
            </a:endParaRPr>
          </a:p>
          <a:p>
            <a:pPr marR="0" lvl="0" fontAlgn="base">
              <a:lnSpc>
                <a:spcPct val="90000"/>
              </a:lnSpc>
              <a:spcBef>
                <a:spcPct val="0"/>
              </a:spcBef>
              <a:spcAft>
                <a:spcPts val="600"/>
              </a:spcAft>
              <a:buClrTx/>
              <a:buSzTx/>
              <a:tabLst/>
            </a:pPr>
            <a:r>
              <a:rPr kumimoji="0" lang="en-US" altLang="en-US" b="1" i="0" u="none" strike="noStrike" cap="none" normalizeH="0" baseline="0" dirty="0">
                <a:ln>
                  <a:noFill/>
                </a:ln>
                <a:effectLst/>
              </a:rPr>
              <a:t>Diffusion Models</a:t>
            </a:r>
            <a:r>
              <a:rPr kumimoji="0" lang="en-US" altLang="en-US" b="0" i="0" u="none" strike="noStrike" cap="none" normalizeH="0" baseline="0" dirty="0">
                <a:ln>
                  <a:noFill/>
                </a:ln>
                <a:effectLst/>
              </a:rPr>
              <a:t>: popular for generating high-quality images.</a:t>
            </a:r>
          </a:p>
          <a:p>
            <a:pPr marR="0" lvl="0" fontAlgn="base">
              <a:lnSpc>
                <a:spcPct val="90000"/>
              </a:lnSpc>
              <a:spcBef>
                <a:spcPct val="0"/>
              </a:spcBef>
              <a:spcAft>
                <a:spcPts val="600"/>
              </a:spcAft>
              <a:buClrTx/>
              <a:buSzTx/>
              <a:tabLst/>
            </a:pPr>
            <a:r>
              <a:rPr kumimoji="0" lang="en-US" altLang="en-US" b="0" i="0" u="none" strike="noStrike" cap="none" normalizeH="0" baseline="0" dirty="0">
                <a:ln>
                  <a:noFill/>
                </a:ln>
                <a:effectLst/>
              </a:rPr>
              <a:t>“denoise” random noise to create clear images, as seen in tools like DALL-E and Stable Diffusion. They’re known for creating photorealistic and high-resolution images.</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dirty="0"/>
          </a:p>
          <a:p>
            <a:pPr marR="0" lvl="0" fontAlgn="base">
              <a:lnSpc>
                <a:spcPct val="90000"/>
              </a:lnSpc>
              <a:spcBef>
                <a:spcPct val="0"/>
              </a:spcBef>
              <a:spcAft>
                <a:spcPts val="600"/>
              </a:spcAft>
              <a:buClrTx/>
              <a:buSzTx/>
              <a:tabLst/>
            </a:pPr>
            <a:r>
              <a:rPr kumimoji="0" lang="en-US" altLang="en-US" b="1" i="0" u="none" strike="noStrike" cap="none" normalizeH="0" baseline="0" dirty="0">
                <a:ln>
                  <a:noFill/>
                </a:ln>
                <a:effectLst/>
              </a:rPr>
              <a:t>Recurrent Neural Networks (RNNs) and Long Short-Term Memory (LSTM) Networks</a:t>
            </a:r>
            <a:r>
              <a:rPr kumimoji="0" lang="en-US" altLang="en-US" b="0" i="0" u="none" strike="noStrike" cap="none" normalizeH="0" baseline="0" dirty="0">
                <a:ln>
                  <a:noFill/>
                </a:ln>
                <a:effectLst/>
              </a:rPr>
              <a:t>: </a:t>
            </a:r>
          </a:p>
          <a:p>
            <a:pPr marR="0" lvl="0" fontAlgn="base">
              <a:lnSpc>
                <a:spcPct val="90000"/>
              </a:lnSpc>
              <a:spcBef>
                <a:spcPct val="0"/>
              </a:spcBef>
              <a:spcAft>
                <a:spcPts val="600"/>
              </a:spcAft>
              <a:buClrTx/>
              <a:buSzTx/>
              <a:tabLst/>
            </a:pPr>
            <a:r>
              <a:rPr kumimoji="0" lang="en-US" altLang="en-US" b="0" i="0" u="none" strike="noStrike" cap="none" normalizeH="0" baseline="0" dirty="0">
                <a:ln>
                  <a:noFill/>
                </a:ln>
                <a:effectLst/>
              </a:rPr>
              <a:t>Not recently used for Gen AI, RNNs and LSTMs were earlier used in generative text applications, especially where maintaining sequential information was key. </a:t>
            </a:r>
          </a:p>
          <a:p>
            <a:pPr marR="0" lvl="0" fontAlgn="base">
              <a:lnSpc>
                <a:spcPct val="90000"/>
              </a:lnSpc>
              <a:spcBef>
                <a:spcPct val="0"/>
              </a:spcBef>
              <a:spcAft>
                <a:spcPts val="600"/>
              </a:spcAft>
              <a:buClrTx/>
              <a:buSzTx/>
              <a:tabLst/>
            </a:pPr>
            <a:r>
              <a:rPr kumimoji="0" lang="en-US" altLang="en-US" b="0" i="0" u="none" strike="noStrike" cap="none" normalizeH="0" baseline="0" dirty="0">
                <a:ln>
                  <a:noFill/>
                </a:ln>
                <a:effectLst/>
              </a:rPr>
              <a:t>They can still be useful in specific sequence generation tasks.</a:t>
            </a:r>
          </a:p>
        </p:txBody>
      </p:sp>
    </p:spTree>
    <p:extLst>
      <p:ext uri="{BB962C8B-B14F-4D97-AF65-F5344CB8AC3E}">
        <p14:creationId xmlns:p14="http://schemas.microsoft.com/office/powerpoint/2010/main" val="61899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3"/>
            <a:stretch>
              <a:fillRect l="-71867" t="-3631" r="-74156" b="-2747"/>
            </a:stretch>
          </a:blipFill>
        </p:spPr>
        <p:txBody>
          <a:bodyPr/>
          <a:lstStyle/>
          <a:p>
            <a:endParaRPr lang="en-US"/>
          </a:p>
        </p:txBody>
      </p:sp>
      <p:sp>
        <p:nvSpPr>
          <p:cNvPr id="3" name="Freeform 3"/>
          <p:cNvSpPr/>
          <p:nvPr/>
        </p:nvSpPr>
        <p:spPr>
          <a:xfrm>
            <a:off x="10074444" y="1028700"/>
            <a:ext cx="7255618" cy="8229600"/>
          </a:xfrm>
          <a:custGeom>
            <a:avLst/>
            <a:gdLst/>
            <a:ahLst/>
            <a:cxnLst/>
            <a:rect l="l" t="t" r="r" b="b"/>
            <a:pathLst>
              <a:path w="7255618" h="8229600">
                <a:moveTo>
                  <a:pt x="0" y="0"/>
                </a:moveTo>
                <a:lnTo>
                  <a:pt x="7255618" y="0"/>
                </a:lnTo>
                <a:lnTo>
                  <a:pt x="7255618" y="8229600"/>
                </a:lnTo>
                <a:lnTo>
                  <a:pt x="0" y="8229600"/>
                </a:lnTo>
                <a:lnTo>
                  <a:pt x="0" y="0"/>
                </a:lnTo>
                <a:close/>
              </a:path>
            </a:pathLst>
          </a:custGeom>
          <a:blipFill>
            <a:blip r:embed="rId4"/>
            <a:stretch>
              <a:fillRect/>
            </a:stretch>
          </a:blipFill>
        </p:spPr>
        <p:txBody>
          <a:bodyPr/>
          <a:lstStyle/>
          <a:p>
            <a:endParaRPr lang="en-US"/>
          </a:p>
        </p:txBody>
      </p:sp>
      <p:sp>
        <p:nvSpPr>
          <p:cNvPr id="4" name="Freeform 4"/>
          <p:cNvSpPr/>
          <p:nvPr/>
        </p:nvSpPr>
        <p:spPr>
          <a:xfrm>
            <a:off x="1892726" y="2785979"/>
            <a:ext cx="6826958" cy="5668813"/>
          </a:xfrm>
          <a:custGeom>
            <a:avLst/>
            <a:gdLst/>
            <a:ahLst/>
            <a:cxnLst/>
            <a:rect l="l" t="t" r="r" b="b"/>
            <a:pathLst>
              <a:path w="6826958" h="5668813">
                <a:moveTo>
                  <a:pt x="0" y="0"/>
                </a:moveTo>
                <a:lnTo>
                  <a:pt x="6826958" y="0"/>
                </a:lnTo>
                <a:lnTo>
                  <a:pt x="6826958" y="5668813"/>
                </a:lnTo>
                <a:lnTo>
                  <a:pt x="0" y="5668813"/>
                </a:lnTo>
                <a:lnTo>
                  <a:pt x="0" y="0"/>
                </a:lnTo>
                <a:close/>
              </a:path>
            </a:pathLst>
          </a:custGeom>
          <a:blipFill>
            <a:blip r:embed="rId5"/>
            <a:stretch>
              <a:fillRect/>
            </a:stretch>
          </a:blipFill>
        </p:spPr>
        <p:txBody>
          <a:bodyPr/>
          <a:lstStyle/>
          <a:p>
            <a:endParaRPr lang="en-US"/>
          </a:p>
        </p:txBody>
      </p:sp>
      <p:sp>
        <p:nvSpPr>
          <p:cNvPr id="5" name="TextBox 5"/>
          <p:cNvSpPr txBox="1"/>
          <p:nvPr/>
        </p:nvSpPr>
        <p:spPr>
          <a:xfrm>
            <a:off x="1323279" y="1019989"/>
            <a:ext cx="8751165" cy="1177290"/>
          </a:xfrm>
          <a:prstGeom prst="rect">
            <a:avLst/>
          </a:prstGeom>
        </p:spPr>
        <p:txBody>
          <a:bodyPr lIns="0" tIns="0" rIns="0" bIns="0" rtlCol="0" anchor="t">
            <a:spAutoFit/>
          </a:bodyPr>
          <a:lstStyle/>
          <a:p>
            <a:pPr algn="l">
              <a:lnSpc>
                <a:spcPts val="8730"/>
              </a:lnSpc>
            </a:pPr>
            <a:r>
              <a:rPr lang="en-US" sz="9000" b="1">
                <a:solidFill>
                  <a:srgbClr val="000000"/>
                </a:solidFill>
                <a:latin typeface="DM Sans Bold"/>
                <a:ea typeface="DM Sans Bold"/>
                <a:cs typeface="DM Sans Bold"/>
                <a:sym typeface="DM Sans Bold"/>
              </a:rPr>
              <a:t>CONCLUSION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txBody>
          <a:bodyPr/>
          <a:lstStyle/>
          <a:p>
            <a:endParaRPr lang="en-US"/>
          </a:p>
        </p:txBody>
      </p:sp>
      <p:sp>
        <p:nvSpPr>
          <p:cNvPr id="3" name="Freeform 3"/>
          <p:cNvSpPr/>
          <p:nvPr/>
        </p:nvSpPr>
        <p:spPr>
          <a:xfrm>
            <a:off x="-2329398" y="8614893"/>
            <a:ext cx="4899948" cy="3344214"/>
          </a:xfrm>
          <a:custGeom>
            <a:avLst/>
            <a:gdLst/>
            <a:ahLst/>
            <a:cxnLst/>
            <a:rect l="l" t="t" r="r" b="b"/>
            <a:pathLst>
              <a:path w="4899948" h="3344214">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6030709" y="9258300"/>
            <a:ext cx="3059829" cy="751049"/>
          </a:xfrm>
          <a:custGeom>
            <a:avLst/>
            <a:gdLst/>
            <a:ahLst/>
            <a:cxnLst/>
            <a:rect l="l" t="t" r="r" b="b"/>
            <a:pathLst>
              <a:path w="3059829" h="75104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14215205" y="8540136"/>
            <a:ext cx="4602314" cy="3618569"/>
          </a:xfrm>
          <a:custGeom>
            <a:avLst/>
            <a:gdLst/>
            <a:ahLst/>
            <a:cxnLst/>
            <a:rect l="l" t="t" r="r" b="b"/>
            <a:pathLst>
              <a:path w="4602314" h="3618569">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a:stretch>
          </a:blipFill>
          <a:ln cap="sq">
            <a:noFill/>
            <a:prstDash val="solid"/>
            <a:miter/>
          </a:ln>
        </p:spPr>
        <p:txBody>
          <a:bodyPr/>
          <a:lstStyle/>
          <a:p>
            <a:endParaRPr lang="en-US"/>
          </a:p>
        </p:txBody>
      </p:sp>
      <p:sp>
        <p:nvSpPr>
          <p:cNvPr id="6" name="Freeform 6"/>
          <p:cNvSpPr/>
          <p:nvPr/>
        </p:nvSpPr>
        <p:spPr>
          <a:xfrm>
            <a:off x="-674156" y="-1072630"/>
            <a:ext cx="4899948" cy="3068592"/>
          </a:xfrm>
          <a:custGeom>
            <a:avLst/>
            <a:gdLst/>
            <a:ahLst/>
            <a:cxnLst/>
            <a:rect l="l" t="t" r="r" b="b"/>
            <a:pathLst>
              <a:path w="4899948" h="3068592">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a:stretch>
          </a:blipFill>
          <a:ln cap="sq">
            <a:noFill/>
            <a:prstDash val="solid"/>
            <a:miter/>
          </a:ln>
        </p:spPr>
        <p:txBody>
          <a:bodyPr/>
          <a:lstStyle/>
          <a:p>
            <a:endParaRPr lang="en-US"/>
          </a:p>
        </p:txBody>
      </p:sp>
      <p:sp>
        <p:nvSpPr>
          <p:cNvPr id="7" name="Freeform 7"/>
          <p:cNvSpPr/>
          <p:nvPr/>
        </p:nvSpPr>
        <p:spPr>
          <a:xfrm>
            <a:off x="12686214" y="-2578193"/>
            <a:ext cx="4292424" cy="3870986"/>
          </a:xfrm>
          <a:custGeom>
            <a:avLst/>
            <a:gdLst/>
            <a:ahLst/>
            <a:cxnLst/>
            <a:rect l="l" t="t" r="r" b="b"/>
            <a:pathLst>
              <a:path w="4292424" h="3870986">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a:stretch>
          </a:blipFill>
          <a:ln cap="sq">
            <a:noFill/>
            <a:prstDash val="solid"/>
            <a:miter/>
          </a:ln>
        </p:spPr>
        <p:txBody>
          <a:bodyPr/>
          <a:lstStyle/>
          <a:p>
            <a:endParaRPr lang="en-US"/>
          </a:p>
        </p:txBody>
      </p:sp>
      <p:sp>
        <p:nvSpPr>
          <p:cNvPr id="8" name="Freeform 8"/>
          <p:cNvSpPr/>
          <p:nvPr/>
        </p:nvSpPr>
        <p:spPr>
          <a:xfrm>
            <a:off x="10138935" y="9258300"/>
            <a:ext cx="4076270" cy="2863579"/>
          </a:xfrm>
          <a:custGeom>
            <a:avLst/>
            <a:gdLst/>
            <a:ahLst/>
            <a:cxnLst/>
            <a:rect l="l" t="t" r="r" b="b"/>
            <a:pathLst>
              <a:path w="4076270" h="2863579">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a:stretch>
          </a:blipFill>
          <a:ln cap="sq">
            <a:noFill/>
            <a:prstDash val="solid"/>
            <a:miter/>
          </a:ln>
        </p:spPr>
        <p:txBody>
          <a:bodyPr/>
          <a:lstStyle/>
          <a:p>
            <a:endParaRPr lang="en-US"/>
          </a:p>
        </p:txBody>
      </p:sp>
      <p:sp>
        <p:nvSpPr>
          <p:cNvPr id="9" name="Freeform 9"/>
          <p:cNvSpPr/>
          <p:nvPr/>
        </p:nvSpPr>
        <p:spPr>
          <a:xfrm>
            <a:off x="7409323" y="-2700100"/>
            <a:ext cx="5493058" cy="4114800"/>
          </a:xfrm>
          <a:custGeom>
            <a:avLst/>
            <a:gdLst/>
            <a:ahLst/>
            <a:cxnLst/>
            <a:rect l="l" t="t" r="r" b="b"/>
            <a:pathLst>
              <a:path w="5493058" h="4114800">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a:stretch>
          </a:blipFill>
          <a:ln cap="sq">
            <a:noFill/>
            <a:prstDash val="solid"/>
            <a:miter/>
          </a:ln>
        </p:spPr>
        <p:txBody>
          <a:bodyPr/>
          <a:lstStyle/>
          <a:p>
            <a:endParaRPr lang="en-US"/>
          </a:p>
        </p:txBody>
      </p:sp>
      <p:sp>
        <p:nvSpPr>
          <p:cNvPr id="10" name="Freeform 10"/>
          <p:cNvSpPr/>
          <p:nvPr/>
        </p:nvSpPr>
        <p:spPr>
          <a:xfrm rot="4747568">
            <a:off x="-2972342" y="3665317"/>
            <a:ext cx="4896097" cy="2735694"/>
          </a:xfrm>
          <a:custGeom>
            <a:avLst/>
            <a:gdLst/>
            <a:ahLst/>
            <a:cxnLst/>
            <a:rect l="l" t="t" r="r" b="b"/>
            <a:pathLst>
              <a:path w="4896097" h="2735694">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a:stretch>
          </a:blipFill>
          <a:ln cap="sq">
            <a:noFill/>
            <a:prstDash val="solid"/>
            <a:miter/>
          </a:ln>
        </p:spPr>
        <p:txBody>
          <a:bodyPr/>
          <a:lstStyle/>
          <a:p>
            <a:endParaRPr lang="en-US"/>
          </a:p>
        </p:txBody>
      </p:sp>
      <p:sp>
        <p:nvSpPr>
          <p:cNvPr id="11" name="Freeform 11"/>
          <p:cNvSpPr/>
          <p:nvPr/>
        </p:nvSpPr>
        <p:spPr>
          <a:xfrm>
            <a:off x="4831481" y="-1626507"/>
            <a:ext cx="2892762" cy="2919301"/>
          </a:xfrm>
          <a:custGeom>
            <a:avLst/>
            <a:gdLst/>
            <a:ahLst/>
            <a:cxnLst/>
            <a:rect l="l" t="t" r="r" b="b"/>
            <a:pathLst>
              <a:path w="2892762" h="2919301">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a:stretch>
          </a:blipFill>
          <a:ln cap="sq">
            <a:noFill/>
            <a:prstDash val="solid"/>
            <a:miter/>
          </a:ln>
        </p:spPr>
        <p:txBody>
          <a:bodyPr/>
          <a:lstStyle/>
          <a:p>
            <a:endParaRPr lang="en-US"/>
          </a:p>
        </p:txBody>
      </p:sp>
      <p:sp>
        <p:nvSpPr>
          <p:cNvPr id="12" name="Freeform 12"/>
          <p:cNvSpPr/>
          <p:nvPr/>
        </p:nvSpPr>
        <p:spPr>
          <a:xfrm>
            <a:off x="17259300" y="2262342"/>
            <a:ext cx="3575541" cy="3575541"/>
          </a:xfrm>
          <a:custGeom>
            <a:avLst/>
            <a:gdLst/>
            <a:ahLst/>
            <a:cxnLst/>
            <a:rect l="l" t="t" r="r" b="b"/>
            <a:pathLst>
              <a:path w="3575541" h="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a:stretch>
          </a:blipFill>
          <a:ln cap="sq">
            <a:noFill/>
            <a:prstDash val="solid"/>
            <a:miter/>
          </a:ln>
        </p:spPr>
        <p:txBody>
          <a:bodyPr/>
          <a:lstStyle/>
          <a:p>
            <a:endParaRPr lang="en-US"/>
          </a:p>
        </p:txBody>
      </p:sp>
      <p:sp>
        <p:nvSpPr>
          <p:cNvPr id="13" name="Freeform 13"/>
          <p:cNvSpPr/>
          <p:nvPr/>
        </p:nvSpPr>
        <p:spPr>
          <a:xfrm>
            <a:off x="2570549" y="9093737"/>
            <a:ext cx="2587020" cy="2386526"/>
          </a:xfrm>
          <a:custGeom>
            <a:avLst/>
            <a:gdLst/>
            <a:ahLst/>
            <a:cxnLst/>
            <a:rect l="l" t="t" r="r" b="b"/>
            <a:pathLst>
              <a:path w="2587020" h="2386526">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a:stretch>
          </a:blipFill>
          <a:ln cap="sq">
            <a:noFill/>
            <a:prstDash val="solid"/>
            <a:miter/>
          </a:ln>
        </p:spPr>
        <p:txBody>
          <a:bodyPr/>
          <a:lstStyle/>
          <a:p>
            <a:endParaRPr lang="en-US"/>
          </a:p>
        </p:txBody>
      </p:sp>
      <p:sp>
        <p:nvSpPr>
          <p:cNvPr id="14" name="Freeform 14"/>
          <p:cNvSpPr/>
          <p:nvPr/>
        </p:nvSpPr>
        <p:spPr>
          <a:xfrm rot="-5282649">
            <a:off x="16440369" y="6970869"/>
            <a:ext cx="3382987" cy="1154444"/>
          </a:xfrm>
          <a:custGeom>
            <a:avLst/>
            <a:gdLst/>
            <a:ahLst/>
            <a:cxnLst/>
            <a:rect l="l" t="t" r="r" b="b"/>
            <a:pathLst>
              <a:path w="3382987" h="1154444">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a:stretch>
          </a:blipFill>
          <a:ln cap="sq">
            <a:noFill/>
            <a:prstDash val="solid"/>
            <a:miter/>
          </a:ln>
        </p:spPr>
        <p:txBody>
          <a:bodyPr/>
          <a:lstStyle/>
          <a:p>
            <a:endParaRPr lang="en-US"/>
          </a:p>
        </p:txBody>
      </p:sp>
      <p:sp>
        <p:nvSpPr>
          <p:cNvPr id="15" name="Freeform 15"/>
          <p:cNvSpPr/>
          <p:nvPr/>
        </p:nvSpPr>
        <p:spPr>
          <a:xfrm>
            <a:off x="16978638" y="-642644"/>
            <a:ext cx="3104522" cy="3342688"/>
          </a:xfrm>
          <a:custGeom>
            <a:avLst/>
            <a:gdLst/>
            <a:ahLst/>
            <a:cxnLst/>
            <a:rect l="l" t="t" r="r" b="b"/>
            <a:pathLst>
              <a:path w="3104522" h="3342688">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a:stretch>
          </a:blipFill>
          <a:ln cap="sq">
            <a:noFill/>
            <a:prstDash val="solid"/>
            <a:miter/>
          </a:ln>
        </p:spPr>
        <p:txBody>
          <a:bodyPr/>
          <a:lstStyle/>
          <a:p>
            <a:endParaRPr lang="en-US"/>
          </a:p>
        </p:txBody>
      </p:sp>
      <p:sp>
        <p:nvSpPr>
          <p:cNvPr id="16" name="TextBox 16"/>
          <p:cNvSpPr txBox="1"/>
          <p:nvPr/>
        </p:nvSpPr>
        <p:spPr>
          <a:xfrm>
            <a:off x="3688802" y="3019867"/>
            <a:ext cx="10910396" cy="3364511"/>
          </a:xfrm>
          <a:prstGeom prst="rect">
            <a:avLst/>
          </a:prstGeom>
        </p:spPr>
        <p:txBody>
          <a:bodyPr lIns="0" tIns="0" rIns="0" bIns="0" rtlCol="0" anchor="t">
            <a:spAutoFit/>
          </a:bodyPr>
          <a:lstStyle/>
          <a:p>
            <a:pPr algn="ctr">
              <a:lnSpc>
                <a:spcPts val="12699"/>
              </a:lnSpc>
            </a:pPr>
            <a:r>
              <a:rPr lang="en-US" sz="14597" b="1">
                <a:solidFill>
                  <a:srgbClr val="000000"/>
                </a:solidFill>
                <a:latin typeface="DM Sans Bold"/>
                <a:ea typeface="DM Sans Bold"/>
                <a:cs typeface="DM Sans Bold"/>
                <a:sym typeface="DM Sans Bold"/>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1156</Words>
  <Application>Microsoft Office PowerPoint</Application>
  <PresentationFormat>Custom</PresentationFormat>
  <Paragraphs>120</Paragraphs>
  <Slides>11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DM Sans Bold</vt:lpstr>
      <vt:lpstr>DM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Doodle Project Presentation</dc:title>
  <cp:lastModifiedBy>Annapurna Rachapudi</cp:lastModifiedBy>
  <cp:revision>1</cp:revision>
  <dcterms:created xsi:type="dcterms:W3CDTF">2006-08-16T00:00:00Z</dcterms:created>
  <dcterms:modified xsi:type="dcterms:W3CDTF">2024-11-05T15:15:59Z</dcterms:modified>
  <dc:identifier>DAGVZhDxbpE</dc:identifier>
</cp:coreProperties>
</file>