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63" r:id="rId10"/>
  </p:sldIdLst>
  <p:sldSz cx="18288000" cy="10287000"/>
  <p:notesSz cx="6858000" cy="9144000"/>
  <p:embeddedFontLst>
    <p:embeddedFont>
      <p:font typeface="Canva Sans"/>
      <p:regular r:id="rId12"/>
    </p:embeddedFont>
    <p:embeddedFont>
      <p:font typeface="Canva Sans Bold"/>
      <p:regular r:id="rId13"/>
    </p:embeddedFont>
    <p:embeddedFont>
      <p:font typeface="Poppins" panose="00000500000000000000" pitchFamily="2" charset="0"/>
      <p:regular r:id="rId14"/>
      <p:bold r:id="rId15"/>
      <p:italic r:id="rId16"/>
      <p:boldItalic r:id="rId17"/>
    </p:embeddedFont>
    <p:embeddedFont>
      <p:font typeface="Poppins Bold"/>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F81F13-F0CD-451E-BA78-3CF815F2FA04}" v="4" dt="2024-11-04T12:13:35.2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83529" autoAdjust="0"/>
  </p:normalViewPr>
  <p:slideViewPr>
    <p:cSldViewPr>
      <p:cViewPr>
        <p:scale>
          <a:sx n="100" d="100"/>
          <a:sy n="100" d="100"/>
        </p:scale>
        <p:origin x="-1704"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4.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napurna Rachapudi" userId="be4ceb0c83baf084" providerId="LiveId" clId="{FEF81F13-F0CD-451E-BA78-3CF815F2FA04}"/>
    <pc:docChg chg="addSld modSld">
      <pc:chgData name="Annapurna Rachapudi" userId="be4ceb0c83baf084" providerId="LiveId" clId="{FEF81F13-F0CD-451E-BA78-3CF815F2FA04}" dt="2024-11-04T12:13:35.276" v="239" actId="1076"/>
      <pc:docMkLst>
        <pc:docMk/>
      </pc:docMkLst>
      <pc:sldChg chg="addSp modSp mod">
        <pc:chgData name="Annapurna Rachapudi" userId="be4ceb0c83baf084" providerId="LiveId" clId="{FEF81F13-F0CD-451E-BA78-3CF815F2FA04}" dt="2024-11-04T11:52:12.966" v="215" actId="20577"/>
        <pc:sldMkLst>
          <pc:docMk/>
          <pc:sldMk cId="0" sldId="256"/>
        </pc:sldMkLst>
        <pc:spChg chg="add mod">
          <ac:chgData name="Annapurna Rachapudi" userId="be4ceb0c83baf084" providerId="LiveId" clId="{FEF81F13-F0CD-451E-BA78-3CF815F2FA04}" dt="2024-11-04T11:52:12.966" v="215" actId="20577"/>
          <ac:spMkLst>
            <pc:docMk/>
            <pc:sldMk cId="0" sldId="256"/>
            <ac:spMk id="16" creationId="{B3DAB781-B82D-662F-92A3-846C9D023817}"/>
          </ac:spMkLst>
        </pc:spChg>
      </pc:sldChg>
      <pc:sldChg chg="modNotesTx">
        <pc:chgData name="Annapurna Rachapudi" userId="be4ceb0c83baf084" providerId="LiveId" clId="{FEF81F13-F0CD-451E-BA78-3CF815F2FA04}" dt="2024-11-04T05:04:57.461" v="2" actId="20577"/>
        <pc:sldMkLst>
          <pc:docMk/>
          <pc:sldMk cId="0" sldId="259"/>
        </pc:sldMkLst>
      </pc:sldChg>
      <pc:sldChg chg="modSp mod">
        <pc:chgData name="Annapurna Rachapudi" userId="be4ceb0c83baf084" providerId="LiveId" clId="{FEF81F13-F0CD-451E-BA78-3CF815F2FA04}" dt="2024-11-04T05:26:12.137" v="180" actId="20577"/>
        <pc:sldMkLst>
          <pc:docMk/>
          <pc:sldMk cId="0" sldId="260"/>
        </pc:sldMkLst>
        <pc:spChg chg="mod">
          <ac:chgData name="Annapurna Rachapudi" userId="be4ceb0c83baf084" providerId="LiveId" clId="{FEF81F13-F0CD-451E-BA78-3CF815F2FA04}" dt="2024-11-04T05:26:12.137" v="180" actId="20577"/>
          <ac:spMkLst>
            <pc:docMk/>
            <pc:sldMk cId="0" sldId="260"/>
            <ac:spMk id="6" creationId="{00000000-0000-0000-0000-000000000000}"/>
          </ac:spMkLst>
        </pc:spChg>
        <pc:spChg chg="mod">
          <ac:chgData name="Annapurna Rachapudi" userId="be4ceb0c83baf084" providerId="LiveId" clId="{FEF81F13-F0CD-451E-BA78-3CF815F2FA04}" dt="2024-11-04T05:26:03.660" v="168" actId="1076"/>
          <ac:spMkLst>
            <pc:docMk/>
            <pc:sldMk cId="0" sldId="260"/>
            <ac:spMk id="7" creationId="{357B8222-C5C8-FD48-1929-FD33907D23C6}"/>
          </ac:spMkLst>
        </pc:spChg>
        <pc:spChg chg="mod">
          <ac:chgData name="Annapurna Rachapudi" userId="be4ceb0c83baf084" providerId="LiveId" clId="{FEF81F13-F0CD-451E-BA78-3CF815F2FA04}" dt="2024-11-04T05:06:05.349" v="5" actId="1076"/>
          <ac:spMkLst>
            <pc:docMk/>
            <pc:sldMk cId="0" sldId="260"/>
            <ac:spMk id="8" creationId="{72953B40-BD09-F97C-0A94-006BECB4DA08}"/>
          </ac:spMkLst>
        </pc:spChg>
      </pc:sldChg>
      <pc:sldChg chg="new">
        <pc:chgData name="Annapurna Rachapudi" userId="be4ceb0c83baf084" providerId="LiveId" clId="{FEF81F13-F0CD-451E-BA78-3CF815F2FA04}" dt="2024-11-04T12:12:49.521" v="216" actId="680"/>
        <pc:sldMkLst>
          <pc:docMk/>
          <pc:sldMk cId="301457452" sldId="263"/>
        </pc:sldMkLst>
      </pc:sldChg>
      <pc:sldChg chg="addSp modSp new mod">
        <pc:chgData name="Annapurna Rachapudi" userId="be4ceb0c83baf084" providerId="LiveId" clId="{FEF81F13-F0CD-451E-BA78-3CF815F2FA04}" dt="2024-11-04T12:13:35.276" v="239" actId="1076"/>
        <pc:sldMkLst>
          <pc:docMk/>
          <pc:sldMk cId="1216637892" sldId="264"/>
        </pc:sldMkLst>
        <pc:spChg chg="add mod">
          <ac:chgData name="Annapurna Rachapudi" userId="be4ceb0c83baf084" providerId="LiveId" clId="{FEF81F13-F0CD-451E-BA78-3CF815F2FA04}" dt="2024-11-04T12:13:15.838" v="237" actId="20577"/>
          <ac:spMkLst>
            <pc:docMk/>
            <pc:sldMk cId="1216637892" sldId="264"/>
            <ac:spMk id="2" creationId="{0C64CE99-2615-AE44-B780-8D2AF83AB3B9}"/>
          </ac:spMkLst>
        </pc:spChg>
        <pc:spChg chg="add mod">
          <ac:chgData name="Annapurna Rachapudi" userId="be4ceb0c83baf084" providerId="LiveId" clId="{FEF81F13-F0CD-451E-BA78-3CF815F2FA04}" dt="2024-11-04T12:13:35.276" v="239" actId="1076"/>
          <ac:spMkLst>
            <pc:docMk/>
            <pc:sldMk cId="1216637892" sldId="264"/>
            <ac:spMk id="3" creationId="{116FA0E4-49ED-6EC2-7DEA-D63052E3CB4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53DBB8-4A6F-4111-BA46-BEA61706F749}" type="datetimeFigureOut">
              <a:rPr lang="en-US" smtClean="0"/>
              <a:t>11/4/2024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B6BCB9-AF66-4DF1-9164-219073C8115D}" type="slidenum">
              <a:rPr lang="en-US" smtClean="0"/>
              <a:t>‹#›</a:t>
            </a:fld>
            <a:endParaRPr lang="en-US"/>
          </a:p>
        </p:txBody>
      </p:sp>
    </p:spTree>
    <p:extLst>
      <p:ext uri="{BB962C8B-B14F-4D97-AF65-F5344CB8AC3E}">
        <p14:creationId xmlns:p14="http://schemas.microsoft.com/office/powerpoint/2010/main" val="156240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4513"/>
              </a:lnSpc>
            </a:pPr>
            <a:r>
              <a:rPr lang="en-US" sz="1200" b="1" dirty="0">
                <a:solidFill>
                  <a:srgbClr val="FFFFFF"/>
                </a:solidFill>
                <a:latin typeface="Poppins Bold"/>
                <a:ea typeface="Poppins Bold"/>
                <a:cs typeface="Poppins Bold"/>
                <a:sym typeface="Poppins Bold"/>
              </a:rPr>
              <a:t>Data Science</a:t>
            </a:r>
            <a:r>
              <a:rPr lang="en-US" sz="1200" dirty="0">
                <a:solidFill>
                  <a:srgbClr val="FFFFFF"/>
                </a:solidFill>
                <a:latin typeface="Poppins"/>
                <a:ea typeface="Poppins"/>
                <a:cs typeface="Poppins"/>
                <a:sym typeface="Poppins"/>
              </a:rPr>
              <a:t> - Focuses on analyzing and interpreting data to extract insights.</a:t>
            </a:r>
          </a:p>
          <a:p>
            <a:pPr algn="just">
              <a:lnSpc>
                <a:spcPts val="4513"/>
              </a:lnSpc>
            </a:pPr>
            <a:r>
              <a:rPr lang="en-US" sz="1200" b="1" dirty="0">
                <a:solidFill>
                  <a:srgbClr val="FFFFFF"/>
                </a:solidFill>
                <a:latin typeface="Poppins Bold"/>
                <a:ea typeface="Poppins Bold"/>
                <a:cs typeface="Poppins Bold"/>
                <a:sym typeface="Poppins Bold"/>
              </a:rPr>
              <a:t>AI</a:t>
            </a:r>
            <a:r>
              <a:rPr lang="en-US" sz="1200" dirty="0">
                <a:solidFill>
                  <a:srgbClr val="FFFFFF"/>
                </a:solidFill>
                <a:latin typeface="Poppins"/>
                <a:ea typeface="Poppins"/>
                <a:cs typeface="Poppins"/>
                <a:sym typeface="Poppins"/>
              </a:rPr>
              <a:t> - Broad field aiming to create machines that can mimic human intelligence.</a:t>
            </a:r>
          </a:p>
          <a:p>
            <a:pPr algn="just">
              <a:lnSpc>
                <a:spcPts val="4513"/>
              </a:lnSpc>
            </a:pPr>
            <a:r>
              <a:rPr lang="en-US" sz="1200" b="1" dirty="0">
                <a:solidFill>
                  <a:srgbClr val="FFFFFF"/>
                </a:solidFill>
                <a:latin typeface="Poppins Bold"/>
                <a:ea typeface="Poppins Bold"/>
                <a:cs typeface="Poppins Bold"/>
                <a:sym typeface="Poppins Bold"/>
              </a:rPr>
              <a:t>Neural Networks</a:t>
            </a:r>
            <a:r>
              <a:rPr lang="en-US" sz="1200" dirty="0">
                <a:solidFill>
                  <a:srgbClr val="FFFFFF"/>
                </a:solidFill>
                <a:latin typeface="Poppins"/>
                <a:ea typeface="Poppins"/>
                <a:cs typeface="Poppins"/>
                <a:sym typeface="Poppins"/>
              </a:rPr>
              <a:t> - Algorithms modeled after the human brain, key to both AI and Generative AI. </a:t>
            </a:r>
          </a:p>
          <a:p>
            <a:pPr algn="just">
              <a:lnSpc>
                <a:spcPts val="4513"/>
              </a:lnSpc>
            </a:pPr>
            <a:r>
              <a:rPr lang="en-US" sz="1200" b="1" dirty="0">
                <a:solidFill>
                  <a:srgbClr val="FFFFFF"/>
                </a:solidFill>
                <a:latin typeface="Poppins Bold"/>
                <a:ea typeface="Poppins Bold"/>
                <a:cs typeface="Poppins Bold"/>
                <a:sym typeface="Poppins Bold"/>
              </a:rPr>
              <a:t>Gen AI</a:t>
            </a:r>
            <a:r>
              <a:rPr lang="en-US" sz="1200" dirty="0">
                <a:solidFill>
                  <a:srgbClr val="FFFFFF"/>
                </a:solidFill>
                <a:latin typeface="Poppins"/>
                <a:ea typeface="Poppins"/>
                <a:cs typeface="Poppins"/>
                <a:sym typeface="Poppins"/>
              </a:rPr>
              <a:t> - A subset of AI that generates new content (text, images, etc.) based on learned data.</a:t>
            </a:r>
          </a:p>
          <a:p>
            <a:pPr algn="just">
              <a:lnSpc>
                <a:spcPts val="4513"/>
              </a:lnSpc>
            </a:pPr>
            <a:endParaRPr lang="en-US" sz="1200" dirty="0">
              <a:solidFill>
                <a:srgbClr val="FFFFFF"/>
              </a:solidFill>
              <a:latin typeface="Poppins"/>
              <a:ea typeface="Poppins"/>
              <a:cs typeface="Poppins"/>
              <a:sym typeface="Poppins"/>
            </a:endParaRPr>
          </a:p>
          <a:p>
            <a:endParaRPr lang="en-US" dirty="0"/>
          </a:p>
        </p:txBody>
      </p:sp>
      <p:sp>
        <p:nvSpPr>
          <p:cNvPr id="4" name="Slide Number Placeholder 3"/>
          <p:cNvSpPr>
            <a:spLocks noGrp="1"/>
          </p:cNvSpPr>
          <p:nvPr>
            <p:ph type="sldNum" sz="quarter" idx="5"/>
          </p:nvPr>
        </p:nvSpPr>
        <p:spPr/>
        <p:txBody>
          <a:bodyPr/>
          <a:lstStyle/>
          <a:p>
            <a:fld id="{4AB6BCB9-AF66-4DF1-9164-219073C8115D}" type="slidenum">
              <a:rPr lang="en-US" smtClean="0"/>
              <a:t>2</a:t>
            </a:fld>
            <a:endParaRPr lang="en-US"/>
          </a:p>
        </p:txBody>
      </p:sp>
    </p:spTree>
    <p:extLst>
      <p:ext uri="{BB962C8B-B14F-4D97-AF65-F5344CB8AC3E}">
        <p14:creationId xmlns:p14="http://schemas.microsoft.com/office/powerpoint/2010/main" val="865037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dirty="0">
                <a:effectLst/>
                <a:latin typeface="__fkGroteskNeue_598ab8"/>
              </a:rPr>
              <a:t>In the Supply Chain sector, Gen AI is being applied to: </a:t>
            </a:r>
          </a:p>
          <a:p>
            <a:pPr algn="l">
              <a:buFont typeface="Arial" panose="020B0604020202020204" pitchFamily="34" charset="0"/>
              <a:buNone/>
            </a:pPr>
            <a:r>
              <a:rPr lang="en-US" b="0" i="0" dirty="0">
                <a:effectLst/>
                <a:latin typeface="__fkGroteskNeue_598ab8"/>
              </a:rPr>
              <a:t>* Vendor Management: Automating vendor selection and contract negotiations.</a:t>
            </a:r>
          </a:p>
          <a:p>
            <a:pPr algn="l">
              <a:buFont typeface="Arial" panose="020B0604020202020204" pitchFamily="34" charset="0"/>
              <a:buChar char="•"/>
            </a:pPr>
            <a:r>
              <a:rPr lang="en-US" b="0" i="0" dirty="0">
                <a:effectLst/>
                <a:latin typeface="__fkGroteskNeue_598ab8"/>
              </a:rPr>
              <a:t>Customer Service: Enhancing customer interactions with AI-powered chatbots and personalized assistance.</a:t>
            </a:r>
          </a:p>
          <a:p>
            <a:pPr algn="l">
              <a:buFont typeface="Arial" panose="020B0604020202020204" pitchFamily="34" charset="0"/>
              <a:buChar char="•"/>
            </a:pPr>
            <a:r>
              <a:rPr lang="en-US" b="0" i="0" dirty="0">
                <a:effectLst/>
                <a:latin typeface="__fkGroteskNeue_598ab8"/>
              </a:rPr>
              <a:t>Warehouse Management: Optimizing inventory placement and reducing operational costs through predictive analytics.</a:t>
            </a:r>
          </a:p>
          <a:p>
            <a:pPr algn="l">
              <a:buFont typeface="Arial" panose="020B0604020202020204" pitchFamily="34" charset="0"/>
              <a:buChar char="•"/>
            </a:pPr>
            <a:r>
              <a:rPr lang="en-US" b="0" i="0" dirty="0">
                <a:effectLst/>
                <a:latin typeface="__fkGroteskNeue_598ab8"/>
              </a:rPr>
              <a:t>Inventory Management: Predicting demand patterns to ensure optimal stock levels, reducing overstocking or stockouts.</a:t>
            </a:r>
          </a:p>
          <a:p>
            <a:pPr algn="l">
              <a:buFont typeface="Arial" panose="020B0604020202020204" pitchFamily="34" charset="0"/>
              <a:buChar char="•"/>
            </a:pPr>
            <a:r>
              <a:rPr lang="en-US" b="0" i="0" dirty="0">
                <a:effectLst/>
                <a:latin typeface="__fkGroteskNeue_598ab8"/>
              </a:rPr>
              <a:t>Human Resource Management: Streamlining hiring processes, employee training, and workforce planning using AI-driven insights.</a:t>
            </a:r>
          </a:p>
          <a:p>
            <a:pPr algn="l">
              <a:buFont typeface="Arial" panose="020B0604020202020204" pitchFamily="34" charset="0"/>
              <a:buNone/>
            </a:pPr>
            <a:br>
              <a:rPr lang="en-US" dirty="0"/>
            </a:br>
            <a:r>
              <a:rPr lang="en-US" b="0" i="0" dirty="0">
                <a:effectLst/>
                <a:latin typeface="__fkGroteskNeue_598ab8"/>
              </a:rPr>
              <a:t>In the automotive sector, Gen AI is revolutionizing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__fkGroteskNeue_598ab8"/>
              </a:rPr>
              <a:t>Navigation Systems: AI-powered navigation systems provide real-time route optimization based on traffic conditions.</a:t>
            </a:r>
          </a:p>
          <a:p>
            <a:pPr algn="l">
              <a:buFont typeface="Arial" panose="020B0604020202020204" pitchFamily="34" charset="0"/>
              <a:buChar char="•"/>
            </a:pPr>
            <a:r>
              <a:rPr lang="en-US" b="0" i="0" dirty="0">
                <a:effectLst/>
                <a:latin typeface="__fkGroteskNeue_598ab8"/>
              </a:rPr>
              <a:t>Supply Chain Optimization: Ensures timely delivery of parts and materials, improving production timelines.</a:t>
            </a:r>
          </a:p>
          <a:p>
            <a:pPr algn="l">
              <a:buFont typeface="Arial" panose="020B0604020202020204" pitchFamily="34" charset="0"/>
              <a:buChar char="•"/>
            </a:pPr>
            <a:r>
              <a:rPr lang="en-US" b="0" i="0" dirty="0">
                <a:effectLst/>
                <a:latin typeface="__fkGroteskNeue_598ab8"/>
              </a:rPr>
              <a:t>Personal Voice Assistants: Enhancing in-car experiences with voice-activated systems that can control vehicle functions and provide personalized recommendations.</a:t>
            </a:r>
          </a:p>
          <a:p>
            <a:pPr algn="l">
              <a:buFont typeface="Arial" panose="020B0604020202020204" pitchFamily="34" charset="0"/>
              <a:buChar char="•"/>
            </a:pPr>
            <a:r>
              <a:rPr lang="en-US" b="0" i="0" dirty="0">
                <a:effectLst/>
                <a:latin typeface="__fkGroteskNeue_598ab8"/>
              </a:rPr>
              <a:t>Automotive Manufacturing: Automating the design process and improving production line efficiency through generative design tools.</a:t>
            </a:r>
          </a:p>
          <a:p>
            <a:pPr algn="l">
              <a:buFont typeface="Arial" panose="020B0604020202020204" pitchFamily="34" charset="0"/>
              <a:buChar char="•"/>
            </a:pPr>
            <a:r>
              <a:rPr lang="en-US" b="0" i="0" dirty="0">
                <a:effectLst/>
                <a:latin typeface="__fkGroteskNeue_598ab8"/>
              </a:rPr>
              <a:t>Quality Control: Using AI to detect defects in real-time during manufacturing, reducing waste and improving product quality.</a:t>
            </a:r>
          </a:p>
          <a:p>
            <a:pPr algn="l">
              <a:buFont typeface="Arial" panose="020B0604020202020204" pitchFamily="34" charset="0"/>
              <a:buChar char="•"/>
            </a:pPr>
            <a:r>
              <a:rPr lang="en-US" b="0" i="0" dirty="0">
                <a:effectLst/>
                <a:latin typeface="__fkGroteskNeue_598ab8"/>
              </a:rPr>
              <a:t>Predictive Maintenance: Monitoring vehicle health to predict when maintenance is needed before a breakdown occurs.</a:t>
            </a:r>
          </a:p>
          <a:p>
            <a:pPr algn="l">
              <a:buFont typeface="Arial" panose="020B0604020202020204" pitchFamily="34" charset="0"/>
              <a:buChar char="•"/>
            </a:pPr>
            <a:endParaRPr lang="en-US" b="0" i="0" dirty="0">
              <a:effectLst/>
              <a:latin typeface="__fkGroteskNeue_598ab8"/>
            </a:endParaRPr>
          </a:p>
          <a:p>
            <a:pPr algn="l">
              <a:buFont typeface="Arial" panose="020B0604020202020204" pitchFamily="34" charset="0"/>
              <a:buNone/>
            </a:pPr>
            <a:r>
              <a:rPr lang="en-US" b="0" i="0" dirty="0">
                <a:effectLst/>
                <a:latin typeface="__fkGroteskNeue_598ab8"/>
              </a:rPr>
              <a:t>In manufacturing, Gen AI is being used for: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__fkGroteskNeue_598ab8"/>
              </a:rPr>
              <a:t>AI-Driven Design Optimization (BMW): Generative design tools help BMW create lighter, more efficient vehicle components, reducing material costs while maintaining safety standards.</a:t>
            </a:r>
          </a:p>
          <a:p>
            <a:pPr algn="l">
              <a:buFont typeface="Arial" panose="020B0604020202020204" pitchFamily="34" charset="0"/>
              <a:buChar char="•"/>
            </a:pPr>
            <a:r>
              <a:rPr lang="en-US" b="0" i="0" dirty="0">
                <a:effectLst/>
                <a:latin typeface="__fkGroteskNeue_598ab8"/>
              </a:rPr>
              <a:t>Predictive Maintenance (Siemens): Siemens uses AI to predict equipment failures before they happen, minimizing downtime and improving operational efficiency.</a:t>
            </a:r>
          </a:p>
          <a:p>
            <a:pPr algn="l">
              <a:buFont typeface="Arial" panose="020B0604020202020204" pitchFamily="34" charset="0"/>
              <a:buChar char="•"/>
            </a:pPr>
            <a:r>
              <a:rPr lang="en-US" b="0" i="0" dirty="0">
                <a:effectLst/>
                <a:latin typeface="__fkGroteskNeue_598ab8"/>
              </a:rPr>
              <a:t>Lighter Aircraft Components (Airbus): Airbus leverages generative AI to design lighter aircraft components, improving fuel efficiency and reducing emissions.</a:t>
            </a:r>
          </a:p>
          <a:p>
            <a:pPr algn="l">
              <a:buFont typeface="Arial" panose="020B0604020202020204" pitchFamily="34" charset="0"/>
              <a:buChar char="•"/>
            </a:pPr>
            <a:endParaRPr lang="en-US" b="0" i="0" dirty="0">
              <a:effectLst/>
              <a:latin typeface="__fkGroteskNeue_598ab8"/>
            </a:endParaRPr>
          </a:p>
          <a:p>
            <a:pPr algn="l">
              <a:buFont typeface="Arial" panose="020B0604020202020204" pitchFamily="34" charset="0"/>
              <a:buNone/>
            </a:pPr>
            <a:r>
              <a:rPr lang="en-US" b="0" i="0" dirty="0">
                <a:effectLst/>
                <a:latin typeface="__fkGroteskNeue_598ab8"/>
              </a:rPr>
              <a:t>In healthcare, Gen AI has several critical applications: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__fkGroteskNeue_598ab8"/>
              </a:rPr>
              <a:t>Patient Diagnosis &amp; Medical Imaging: AI models assist in analyzing medical images for faster and more accurate diagnoses.</a:t>
            </a:r>
          </a:p>
          <a:p>
            <a:pPr algn="l">
              <a:buFont typeface="Arial" panose="020B0604020202020204" pitchFamily="34" charset="0"/>
              <a:buChar char="•"/>
            </a:pPr>
            <a:r>
              <a:rPr lang="en-US" b="0" i="0" dirty="0">
                <a:effectLst/>
                <a:latin typeface="__fkGroteskNeue_598ab8"/>
              </a:rPr>
              <a:t>Personalized Treatment &amp; Care Recommendations: Gen AI helps create personalized treatment plans based on patient data, improving outcomes.</a:t>
            </a:r>
          </a:p>
          <a:p>
            <a:pPr algn="l">
              <a:buFont typeface="Arial" panose="020B0604020202020204" pitchFamily="34" charset="0"/>
              <a:buChar char="•"/>
            </a:pPr>
            <a:r>
              <a:rPr lang="en-US" b="0" i="0" dirty="0">
                <a:effectLst/>
                <a:latin typeface="__fkGroteskNeue_598ab8"/>
              </a:rPr>
              <a:t>Clinical Documentation &amp; Healthcare Management: Automating administrative tasks like clinical documentation reduces the burden on healthcare professionals.</a:t>
            </a:r>
          </a:p>
          <a:p>
            <a:pPr algn="l">
              <a:buFont typeface="Arial" panose="020B0604020202020204" pitchFamily="34" charset="0"/>
              <a:buChar char="•"/>
            </a:pPr>
            <a:r>
              <a:rPr lang="en-US" b="0" i="0" dirty="0">
                <a:effectLst/>
                <a:latin typeface="__fkGroteskNeue_598ab8"/>
              </a:rPr>
              <a:t>Drug Discovery &amp; Development: Accelerates the drug discovery process by simulating molecular interactions and predicting potential drug candidates.</a:t>
            </a:r>
          </a:p>
          <a:p>
            <a:pPr algn="l">
              <a:buFont typeface="Arial" panose="020B0604020202020204" pitchFamily="34" charset="0"/>
              <a:buChar char="•"/>
            </a:pPr>
            <a:r>
              <a:rPr lang="en-US" b="0" i="0" dirty="0">
                <a:effectLst/>
                <a:latin typeface="__fkGroteskNeue_598ab8"/>
              </a:rPr>
              <a:t>Medical Research &amp; Clinical Trials: AI models analyze vast amounts of data from clinical trials to identify patterns that might be missed by human researchers.</a:t>
            </a:r>
          </a:p>
          <a:p>
            <a:pPr algn="l">
              <a:buFont typeface="Arial" panose="020B0604020202020204" pitchFamily="34" charset="0"/>
              <a:buChar char="•"/>
            </a:pPr>
            <a:endParaRPr lang="en-US" b="0" i="0" dirty="0">
              <a:effectLst/>
              <a:latin typeface="__fkGroteskNeue_598ab8"/>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i="0" dirty="0">
                <a:effectLst/>
                <a:latin typeface="__fkGroteskNeue_598ab8"/>
              </a:rPr>
              <a:t>Across these industries, we see that generative AI is not just automating tasks but also enabling new possibilities for innovation. Whether it’s optimizing supply chains or assisting in personalized healthcare treatments, the impact of </a:t>
            </a:r>
            <a:r>
              <a:rPr lang="en-US" b="0" i="0" dirty="0" err="1">
                <a:effectLst/>
                <a:latin typeface="__fkGroteskNeue_598ab8"/>
              </a:rPr>
              <a:t>GenAI</a:t>
            </a:r>
            <a:r>
              <a:rPr lang="en-US" b="0" i="0" dirty="0">
                <a:effectLst/>
                <a:latin typeface="__fkGroteskNeue_598ab8"/>
              </a:rPr>
              <a:t> is profound and growing rapidly.</a:t>
            </a:r>
          </a:p>
          <a:p>
            <a:pPr algn="l">
              <a:buFont typeface="Arial" panose="020B0604020202020204" pitchFamily="34" charset="0"/>
              <a:buChar char="•"/>
            </a:pPr>
            <a:endParaRPr lang="en-US" b="0" i="0" dirty="0">
              <a:effectLst/>
              <a:latin typeface="__fkGroteskNeue_598ab8"/>
            </a:endParaRPr>
          </a:p>
          <a:p>
            <a:endParaRPr lang="en-US" dirty="0"/>
          </a:p>
        </p:txBody>
      </p:sp>
      <p:sp>
        <p:nvSpPr>
          <p:cNvPr id="4" name="Slide Number Placeholder 3"/>
          <p:cNvSpPr>
            <a:spLocks noGrp="1"/>
          </p:cNvSpPr>
          <p:nvPr>
            <p:ph type="sldNum" sz="quarter" idx="5"/>
          </p:nvPr>
        </p:nvSpPr>
        <p:spPr/>
        <p:txBody>
          <a:bodyPr/>
          <a:lstStyle/>
          <a:p>
            <a:fld id="{4AB6BCB9-AF66-4DF1-9164-219073C8115D}" type="slidenum">
              <a:rPr lang="en-US" smtClean="0"/>
              <a:t>4</a:t>
            </a:fld>
            <a:endParaRPr lang="en-US"/>
          </a:p>
        </p:txBody>
      </p:sp>
    </p:spTree>
    <p:extLst>
      <p:ext uri="{BB962C8B-B14F-4D97-AF65-F5344CB8AC3E}">
        <p14:creationId xmlns:p14="http://schemas.microsoft.com/office/powerpoint/2010/main" val="2225072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var(--font-fk-grotesk)"/>
              </a:rPr>
              <a:t>Key Technological Advancements in Generative AI (2020-2025)</a:t>
            </a:r>
            <a:br>
              <a:rPr lang="en-US" b="0" i="0" dirty="0">
                <a:effectLst/>
                <a:latin typeface="var(--font-fk-grotesk)"/>
              </a:rPr>
            </a:br>
            <a:endParaRPr lang="en-US" b="0" i="0" dirty="0">
              <a:effectLst/>
              <a:latin typeface="var(--font-fk-grotesk)"/>
            </a:endParaRPr>
          </a:p>
          <a:p>
            <a:pPr algn="l">
              <a:buFont typeface="+mj-lt"/>
              <a:buAutoNum type="arabicPeriod"/>
            </a:pPr>
            <a:r>
              <a:rPr lang="en-US" b="0" i="0" dirty="0">
                <a:effectLst/>
                <a:latin typeface="__fkGroteskNeue_598ab8"/>
              </a:rPr>
              <a:t>2020: GANs Improvement by </a:t>
            </a:r>
            <a:r>
              <a:rPr lang="en-US" b="0" i="0" dirty="0" err="1">
                <a:effectLst/>
                <a:latin typeface="__fkGroteskNeue_598ab8"/>
              </a:rPr>
              <a:t>Nvidia:Generative</a:t>
            </a:r>
            <a:r>
              <a:rPr lang="en-US" b="0" i="0" dirty="0">
                <a:effectLst/>
                <a:latin typeface="__fkGroteskNeue_598ab8"/>
              </a:rPr>
              <a:t> Adversarial Networks (GANs), first introduced in 2014, saw significant improvements in 2020, particularly by companies like Nvidia. These advancements allowed for more realistic image generation and better training stability, pushing forward AI's ability to generate high-quality visual content.</a:t>
            </a:r>
            <a:br>
              <a:rPr lang="en-US" b="0" i="0" dirty="0">
                <a:effectLst/>
                <a:latin typeface="__fkGroteskNeue_598ab8"/>
              </a:rPr>
            </a:br>
            <a:endParaRPr lang="en-US" b="0" i="0" dirty="0">
              <a:effectLst/>
              <a:latin typeface="__fkGroteskNeue_598ab8"/>
            </a:endParaRPr>
          </a:p>
          <a:p>
            <a:pPr algn="l">
              <a:buFont typeface="+mj-lt"/>
              <a:buAutoNum type="arabicPeriod"/>
            </a:pPr>
            <a:r>
              <a:rPr lang="en-US" b="0" i="0" dirty="0">
                <a:effectLst/>
                <a:latin typeface="__fkGroteskNeue_598ab8"/>
              </a:rPr>
              <a:t>2021: DALL-E and CLIP by </a:t>
            </a:r>
            <a:r>
              <a:rPr lang="en-US" b="0" i="0" dirty="0" err="1">
                <a:effectLst/>
                <a:latin typeface="__fkGroteskNeue_598ab8"/>
              </a:rPr>
              <a:t>OpenAI:OpenAI</a:t>
            </a:r>
            <a:r>
              <a:rPr lang="en-US" b="0" i="0" dirty="0">
                <a:effectLst/>
                <a:latin typeface="__fkGroteskNeue_598ab8"/>
              </a:rPr>
              <a:t> released DALL-E in early 2021, a model capable of generating images from textual descriptions, marking a breakthrough in text-to-image generation.</a:t>
            </a:r>
            <a:br>
              <a:rPr lang="en-US" b="0" i="0" dirty="0">
                <a:effectLst/>
                <a:latin typeface="__fkGroteskNeue_598ab8"/>
              </a:rPr>
            </a:br>
            <a:endParaRPr lang="en-US" b="0" i="0" dirty="0">
              <a:effectLst/>
              <a:latin typeface="__fkGroteskNeue_598ab8"/>
            </a:endParaRPr>
          </a:p>
          <a:p>
            <a:pPr algn="l">
              <a:buFont typeface="+mj-lt"/>
              <a:buAutoNum type="arabicPeriod"/>
            </a:pPr>
            <a:r>
              <a:rPr lang="en-US" b="0" i="0" dirty="0">
                <a:effectLst/>
                <a:latin typeface="__fkGroteskNeue_598ab8"/>
              </a:rPr>
              <a:t>Later in 2021, OpenAI introduced CLIP, a model that understands images and text together, enabling more accurate image generation based on natural language prompts.</a:t>
            </a:r>
            <a:br>
              <a:rPr lang="en-US" b="0" i="0" dirty="0">
                <a:effectLst/>
                <a:latin typeface="__fkGroteskNeue_598ab8"/>
              </a:rPr>
            </a:br>
            <a:endParaRPr lang="en-US" b="0" i="0" dirty="0">
              <a:effectLst/>
              <a:latin typeface="__fkGroteskNeue_598ab8"/>
            </a:endParaRPr>
          </a:p>
          <a:p>
            <a:pPr algn="l">
              <a:buFont typeface="+mj-lt"/>
              <a:buAutoNum type="arabicPeriod"/>
            </a:pPr>
            <a:r>
              <a:rPr lang="en-US" b="0" i="0" dirty="0">
                <a:effectLst/>
                <a:latin typeface="__fkGroteskNeue_598ab8"/>
              </a:rPr>
              <a:t>2022: ChatGPT Release by </a:t>
            </a:r>
            <a:r>
              <a:rPr lang="en-US" b="0" i="0" dirty="0" err="1">
                <a:effectLst/>
                <a:latin typeface="__fkGroteskNeue_598ab8"/>
              </a:rPr>
              <a:t>OpenAI:In</a:t>
            </a:r>
            <a:r>
              <a:rPr lang="en-US" b="0" i="0" dirty="0">
                <a:effectLst/>
                <a:latin typeface="__fkGroteskNeue_598ab8"/>
              </a:rPr>
              <a:t> November 2022, OpenAI launched ChatGPT, a conversational AI model based on GPT-3. This model revolutionized natural language processing (NLP) by providing human-like responses, leading to widespread adoption across industries.</a:t>
            </a:r>
            <a:br>
              <a:rPr lang="en-US" b="0" i="0" dirty="0">
                <a:effectLst/>
                <a:latin typeface="__fkGroteskNeue_598ab8"/>
              </a:rPr>
            </a:br>
            <a:endParaRPr lang="en-US" b="0" i="0" dirty="0">
              <a:effectLst/>
              <a:latin typeface="__fkGroteskNeue_598ab8"/>
            </a:endParaRPr>
          </a:p>
          <a:p>
            <a:pPr algn="l">
              <a:buFont typeface="+mj-lt"/>
              <a:buAutoNum type="arabicPeriod"/>
            </a:pPr>
            <a:r>
              <a:rPr lang="en-US" b="0" i="0" dirty="0">
                <a:effectLst/>
                <a:latin typeface="__fkGroteskNeue_598ab8"/>
              </a:rPr>
              <a:t>2023: GPT-4 Release by </a:t>
            </a:r>
            <a:r>
              <a:rPr lang="en-US" b="0" i="0" dirty="0" err="1">
                <a:effectLst/>
                <a:latin typeface="__fkGroteskNeue_598ab8"/>
              </a:rPr>
              <a:t>OpenAI:In</a:t>
            </a:r>
            <a:r>
              <a:rPr lang="en-US" b="0" i="0" dirty="0">
                <a:effectLst/>
                <a:latin typeface="__fkGroteskNeue_598ab8"/>
              </a:rPr>
              <a:t> March 2023, OpenAI released GPT-4, an even more powerful large language model (LLM) with improved reasoning, context understanding, and multimodal capabilities (handling both text and images). This marked a significant leap in generative AI's ability to handle complex queries and tasks.</a:t>
            </a:r>
            <a:br>
              <a:rPr lang="en-US" b="0" i="0" dirty="0">
                <a:effectLst/>
                <a:latin typeface="__fkGroteskNeue_598ab8"/>
              </a:rPr>
            </a:br>
            <a:endParaRPr lang="en-US" b="0" i="0" dirty="0">
              <a:effectLst/>
              <a:latin typeface="__fkGroteskNeue_598ab8"/>
            </a:endParaRPr>
          </a:p>
          <a:p>
            <a:pPr algn="l">
              <a:buFont typeface="+mj-lt"/>
              <a:buAutoNum type="arabicPeriod"/>
            </a:pPr>
            <a:r>
              <a:rPr lang="en-US" b="0" i="0" dirty="0">
                <a:effectLst/>
                <a:latin typeface="__fkGroteskNeue_598ab8"/>
              </a:rPr>
              <a:t>2024: ChatGPT-5 and Orion Expected </a:t>
            </a:r>
            <a:r>
              <a:rPr lang="en-US" b="0" i="0" dirty="0" err="1">
                <a:effectLst/>
                <a:latin typeface="__fkGroteskNeue_598ab8"/>
              </a:rPr>
              <a:t>Release:By</a:t>
            </a:r>
            <a:r>
              <a:rPr lang="en-US" b="0" i="0" dirty="0">
                <a:effectLst/>
                <a:latin typeface="__fkGroteskNeue_598ab8"/>
              </a:rPr>
              <a:t> late 2024, OpenAI is expected to release ChatGPT-5, internally referred to as "Orion." This version is anticipated to have enhanced reasoning capabilities and multimodal support, allowing it to process and generate text, images, audio, and video more effectively.</a:t>
            </a:r>
            <a:br>
              <a:rPr lang="en-US" b="0" i="0" dirty="0">
                <a:effectLst/>
                <a:latin typeface="__fkGroteskNeue_598ab8"/>
              </a:rPr>
            </a:br>
            <a:endParaRPr lang="en-US" b="0" i="0" dirty="0">
              <a:effectLst/>
              <a:latin typeface="__fkGroteskNeue_598ab8"/>
            </a:endParaRPr>
          </a:p>
          <a:p>
            <a:pPr algn="l">
              <a:buFont typeface="+mj-lt"/>
              <a:buAutoNum type="arabicPeriod"/>
            </a:pPr>
            <a:r>
              <a:rPr lang="en-US" b="0" i="0" dirty="0">
                <a:effectLst/>
                <a:latin typeface="__fkGroteskNeue_598ab8"/>
              </a:rPr>
              <a:t>2025: Increased Adoption of Diffusion </a:t>
            </a:r>
            <a:r>
              <a:rPr lang="en-US" b="0" i="0" dirty="0" err="1">
                <a:effectLst/>
                <a:latin typeface="__fkGroteskNeue_598ab8"/>
              </a:rPr>
              <a:t>Models:Diffusion</a:t>
            </a:r>
            <a:r>
              <a:rPr lang="en-US" b="0" i="0" dirty="0">
                <a:effectLst/>
                <a:latin typeface="__fkGroteskNeue_598ab8"/>
              </a:rPr>
              <a:t> models are expected to gain widespread adoption by 2025 due to their superior performance in generating high-quality images compared to GANs. These models work by progressively adding noise to data and then learning to reverse the process, resulting in highly realistic image generation.</a:t>
            </a:r>
          </a:p>
          <a:p>
            <a:endParaRPr lang="en-US" dirty="0"/>
          </a:p>
        </p:txBody>
      </p:sp>
      <p:sp>
        <p:nvSpPr>
          <p:cNvPr id="4" name="Slide Number Placeholder 3"/>
          <p:cNvSpPr>
            <a:spLocks noGrp="1"/>
          </p:cNvSpPr>
          <p:nvPr>
            <p:ph type="sldNum" sz="quarter" idx="5"/>
          </p:nvPr>
        </p:nvSpPr>
        <p:spPr/>
        <p:txBody>
          <a:bodyPr/>
          <a:lstStyle/>
          <a:p>
            <a:fld id="{4AB6BCB9-AF66-4DF1-9164-219073C8115D}" type="slidenum">
              <a:rPr lang="en-US" smtClean="0"/>
              <a:t>6</a:t>
            </a:fld>
            <a:endParaRPr lang="en-US"/>
          </a:p>
        </p:txBody>
      </p:sp>
    </p:spTree>
    <p:extLst>
      <p:ext uri="{BB962C8B-B14F-4D97-AF65-F5344CB8AC3E}">
        <p14:creationId xmlns:p14="http://schemas.microsoft.com/office/powerpoint/2010/main" val="36307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__fkGroteskNeue_598ab8"/>
              </a:rPr>
              <a:t>Organizations should focus on the strategic adoption of generative AI by:</a:t>
            </a:r>
            <a:br>
              <a:rPr lang="en-US" b="0" i="0" dirty="0">
                <a:effectLst/>
                <a:latin typeface="__fkGroteskNeue_598ab8"/>
              </a:rPr>
            </a:br>
            <a:r>
              <a:rPr lang="en-US" b="0" i="0" dirty="0">
                <a:effectLst/>
                <a:latin typeface="__fkGroteskNeue_598ab8"/>
              </a:rPr>
              <a:t>Leveraging frameworks like the Generative AI Security Scoping Matrix to assess security risks and ensure compliance during AI deployment</a:t>
            </a:r>
            <a:br>
              <a:rPr lang="en-US" b="0" i="0" dirty="0">
                <a:effectLst/>
                <a:latin typeface="__fkGroteskNeue_598ab8"/>
              </a:rPr>
            </a:br>
            <a:r>
              <a:rPr lang="en-US" b="0" i="0" dirty="0">
                <a:effectLst/>
                <a:latin typeface="__fkGroteskNeue_598ab8"/>
              </a:rPr>
              <a:t>Employing </a:t>
            </a:r>
            <a:r>
              <a:rPr lang="en-US" b="0" i="0" dirty="0" err="1">
                <a:effectLst/>
                <a:latin typeface="__fkGroteskNeue_598ab8"/>
              </a:rPr>
              <a:t>LoRA</a:t>
            </a:r>
            <a:r>
              <a:rPr lang="en-US" b="0" i="0" dirty="0">
                <a:effectLst/>
                <a:latin typeface="__fkGroteskNeue_598ab8"/>
              </a:rPr>
              <a:t> for efficient fine-tuning of large models to reduce costs while maintaining high performance</a:t>
            </a:r>
            <a:br>
              <a:rPr lang="en-US" b="0" i="0" dirty="0">
                <a:effectLst/>
                <a:latin typeface="__fkGroteskNeue_598ab8"/>
              </a:rPr>
            </a:br>
            <a:r>
              <a:rPr lang="en-US" b="0" i="0" dirty="0">
                <a:effectLst/>
                <a:latin typeface="__fkGroteskNeue_598ab8"/>
              </a:rPr>
              <a:t>Using platforms like Hugging Face or custom ChatGPT applications to build domain-specific solutions that enhance productivity and innovation across sectors such as healthcare, manufacturing, automotive, and logistics</a:t>
            </a:r>
            <a:endParaRPr lang="en-US" dirty="0"/>
          </a:p>
        </p:txBody>
      </p:sp>
      <p:sp>
        <p:nvSpPr>
          <p:cNvPr id="4" name="Slide Number Placeholder 3"/>
          <p:cNvSpPr>
            <a:spLocks noGrp="1"/>
          </p:cNvSpPr>
          <p:nvPr>
            <p:ph type="sldNum" sz="quarter" idx="5"/>
          </p:nvPr>
        </p:nvSpPr>
        <p:spPr/>
        <p:txBody>
          <a:bodyPr/>
          <a:lstStyle/>
          <a:p>
            <a:fld id="{4AB6BCB9-AF66-4DF1-9164-219073C8115D}" type="slidenum">
              <a:rPr lang="en-US" smtClean="0"/>
              <a:t>7</a:t>
            </a:fld>
            <a:endParaRPr lang="en-US"/>
          </a:p>
        </p:txBody>
      </p:sp>
    </p:spTree>
    <p:extLst>
      <p:ext uri="{BB962C8B-B14F-4D97-AF65-F5344CB8AC3E}">
        <p14:creationId xmlns:p14="http://schemas.microsoft.com/office/powerpoint/2010/main" val="403045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9.png"/><Relationship Id="rId10" Type="http://schemas.openxmlformats.org/officeDocument/2006/relationships/image" Target="../media/image12.png"/><Relationship Id="rId4" Type="http://schemas.openxmlformats.org/officeDocument/2006/relationships/image" Target="../media/image2.sv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14.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6.svg"/><Relationship Id="rId10" Type="http://schemas.openxmlformats.org/officeDocument/2006/relationships/image" Target="../media/image15.png"/><Relationship Id="rId4" Type="http://schemas.openxmlformats.org/officeDocument/2006/relationships/image" Target="../media/image5.png"/><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10" Type="http://schemas.openxmlformats.org/officeDocument/2006/relationships/image" Target="../media/image25.svg"/><Relationship Id="rId4" Type="http://schemas.openxmlformats.org/officeDocument/2006/relationships/image" Target="../media/image2.sv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2.svg"/><Relationship Id="rId9"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514350"/>
            <a:ext cx="16230600" cy="1028700"/>
            <a:chOff x="0" y="0"/>
            <a:chExt cx="2287793" cy="145001"/>
          </a:xfrm>
        </p:grpSpPr>
        <p:sp>
          <p:nvSpPr>
            <p:cNvPr id="3" name="Freeform 3"/>
            <p:cNvSpPr/>
            <p:nvPr/>
          </p:nvSpPr>
          <p:spPr>
            <a:xfrm>
              <a:off x="0" y="0"/>
              <a:ext cx="2287793" cy="145001"/>
            </a:xfrm>
            <a:custGeom>
              <a:avLst/>
              <a:gdLst/>
              <a:ahLst/>
              <a:cxnLst/>
              <a:rect l="l" t="t" r="r" b="b"/>
              <a:pathLst>
                <a:path w="2287793" h="145001">
                  <a:moveTo>
                    <a:pt x="9540" y="0"/>
                  </a:moveTo>
                  <a:lnTo>
                    <a:pt x="2278253" y="0"/>
                  </a:lnTo>
                  <a:cubicBezTo>
                    <a:pt x="2280783" y="0"/>
                    <a:pt x="2283209" y="1005"/>
                    <a:pt x="2284999" y="2794"/>
                  </a:cubicBezTo>
                  <a:cubicBezTo>
                    <a:pt x="2286788" y="4583"/>
                    <a:pt x="2287793" y="7010"/>
                    <a:pt x="2287793" y="9540"/>
                  </a:cubicBezTo>
                  <a:lnTo>
                    <a:pt x="2287793" y="135461"/>
                  </a:lnTo>
                  <a:cubicBezTo>
                    <a:pt x="2287793" y="137991"/>
                    <a:pt x="2286788" y="140418"/>
                    <a:pt x="2284999" y="142207"/>
                  </a:cubicBezTo>
                  <a:cubicBezTo>
                    <a:pt x="2283209" y="143996"/>
                    <a:pt x="2280783" y="145001"/>
                    <a:pt x="2278253" y="145001"/>
                  </a:cubicBezTo>
                  <a:lnTo>
                    <a:pt x="9540" y="145001"/>
                  </a:lnTo>
                  <a:cubicBezTo>
                    <a:pt x="4271" y="145001"/>
                    <a:pt x="0" y="140730"/>
                    <a:pt x="0" y="135461"/>
                  </a:cubicBezTo>
                  <a:lnTo>
                    <a:pt x="0" y="9540"/>
                  </a:lnTo>
                  <a:cubicBezTo>
                    <a:pt x="0" y="4271"/>
                    <a:pt x="4271" y="0"/>
                    <a:pt x="9540" y="0"/>
                  </a:cubicBezTo>
                  <a:close/>
                </a:path>
              </a:pathLst>
            </a:custGeom>
            <a:solidFill>
              <a:srgbClr val="244389">
                <a:alpha val="18824"/>
              </a:srgbClr>
            </a:solidFill>
            <a:ln w="38100" cap="sq">
              <a:solidFill>
                <a:srgbClr val="FFFFFF">
                  <a:alpha val="18824"/>
                </a:srgbClr>
              </a:solidFill>
              <a:prstDash val="solid"/>
              <a:miter/>
            </a:ln>
          </p:spPr>
          <p:txBody>
            <a:bodyPr/>
            <a:lstStyle/>
            <a:p>
              <a:endParaRPr lang="en-US"/>
            </a:p>
          </p:txBody>
        </p:sp>
        <p:sp>
          <p:nvSpPr>
            <p:cNvPr id="4" name="TextBox 4"/>
            <p:cNvSpPr txBox="1"/>
            <p:nvPr/>
          </p:nvSpPr>
          <p:spPr>
            <a:xfrm>
              <a:off x="0" y="-38100"/>
              <a:ext cx="2287793" cy="18310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318584" y="860317"/>
            <a:ext cx="336766" cy="336766"/>
          </a:xfrm>
          <a:custGeom>
            <a:avLst/>
            <a:gdLst/>
            <a:ahLst/>
            <a:cxnLst/>
            <a:rect l="l" t="t" r="r" b="b"/>
            <a:pathLst>
              <a:path w="336766" h="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6" name="Group 6"/>
          <p:cNvGrpSpPr/>
          <p:nvPr/>
        </p:nvGrpSpPr>
        <p:grpSpPr>
          <a:xfrm>
            <a:off x="1028700" y="8743950"/>
            <a:ext cx="16230600" cy="1028700"/>
            <a:chOff x="0" y="0"/>
            <a:chExt cx="2287793" cy="145001"/>
          </a:xfrm>
        </p:grpSpPr>
        <p:sp>
          <p:nvSpPr>
            <p:cNvPr id="7" name="Freeform 7"/>
            <p:cNvSpPr/>
            <p:nvPr/>
          </p:nvSpPr>
          <p:spPr>
            <a:xfrm>
              <a:off x="0" y="0"/>
              <a:ext cx="2287793" cy="145001"/>
            </a:xfrm>
            <a:custGeom>
              <a:avLst/>
              <a:gdLst/>
              <a:ahLst/>
              <a:cxnLst/>
              <a:rect l="l" t="t" r="r" b="b"/>
              <a:pathLst>
                <a:path w="2287793" h="145001">
                  <a:moveTo>
                    <a:pt x="9540" y="0"/>
                  </a:moveTo>
                  <a:lnTo>
                    <a:pt x="2278253" y="0"/>
                  </a:lnTo>
                  <a:cubicBezTo>
                    <a:pt x="2280783" y="0"/>
                    <a:pt x="2283209" y="1005"/>
                    <a:pt x="2284999" y="2794"/>
                  </a:cubicBezTo>
                  <a:cubicBezTo>
                    <a:pt x="2286788" y="4583"/>
                    <a:pt x="2287793" y="7010"/>
                    <a:pt x="2287793" y="9540"/>
                  </a:cubicBezTo>
                  <a:lnTo>
                    <a:pt x="2287793" y="135461"/>
                  </a:lnTo>
                  <a:cubicBezTo>
                    <a:pt x="2287793" y="137991"/>
                    <a:pt x="2286788" y="140418"/>
                    <a:pt x="2284999" y="142207"/>
                  </a:cubicBezTo>
                  <a:cubicBezTo>
                    <a:pt x="2283209" y="143996"/>
                    <a:pt x="2280783" y="145001"/>
                    <a:pt x="2278253" y="145001"/>
                  </a:cubicBezTo>
                  <a:lnTo>
                    <a:pt x="9540" y="145001"/>
                  </a:lnTo>
                  <a:cubicBezTo>
                    <a:pt x="4271" y="145001"/>
                    <a:pt x="0" y="140730"/>
                    <a:pt x="0" y="135461"/>
                  </a:cubicBezTo>
                  <a:lnTo>
                    <a:pt x="0" y="9540"/>
                  </a:lnTo>
                  <a:cubicBezTo>
                    <a:pt x="0" y="4271"/>
                    <a:pt x="4271" y="0"/>
                    <a:pt x="9540" y="0"/>
                  </a:cubicBezTo>
                  <a:close/>
                </a:path>
              </a:pathLst>
            </a:custGeom>
            <a:solidFill>
              <a:srgbClr val="244389">
                <a:alpha val="18824"/>
              </a:srgbClr>
            </a:solidFill>
            <a:ln w="38100" cap="sq">
              <a:solidFill>
                <a:srgbClr val="FFFFFF">
                  <a:alpha val="18824"/>
                </a:srgbClr>
              </a:solidFill>
              <a:prstDash val="solid"/>
              <a:miter/>
            </a:ln>
          </p:spPr>
          <p:txBody>
            <a:bodyPr/>
            <a:lstStyle/>
            <a:p>
              <a:endParaRPr lang="en-US"/>
            </a:p>
          </p:txBody>
        </p:sp>
        <p:sp>
          <p:nvSpPr>
            <p:cNvPr id="8" name="TextBox 8"/>
            <p:cNvSpPr txBox="1"/>
            <p:nvPr/>
          </p:nvSpPr>
          <p:spPr>
            <a:xfrm>
              <a:off x="0" y="-38100"/>
              <a:ext cx="2287793" cy="183101"/>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318584" y="9055631"/>
            <a:ext cx="405338" cy="405338"/>
          </a:xfrm>
          <a:custGeom>
            <a:avLst/>
            <a:gdLst/>
            <a:ahLst/>
            <a:cxnLst/>
            <a:rect l="l" t="t" r="r" b="b"/>
            <a:pathLst>
              <a:path w="405338" h="405338">
                <a:moveTo>
                  <a:pt x="0" y="0"/>
                </a:moveTo>
                <a:lnTo>
                  <a:pt x="405338" y="0"/>
                </a:lnTo>
                <a:lnTo>
                  <a:pt x="405338" y="405338"/>
                </a:lnTo>
                <a:lnTo>
                  <a:pt x="0" y="40533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1488140" y="779906"/>
            <a:ext cx="490819" cy="444414"/>
          </a:xfrm>
          <a:custGeom>
            <a:avLst/>
            <a:gdLst/>
            <a:ahLst/>
            <a:cxnLst/>
            <a:rect l="l" t="t" r="r" b="b"/>
            <a:pathLst>
              <a:path w="490819" h="444414">
                <a:moveTo>
                  <a:pt x="0" y="0"/>
                </a:moveTo>
                <a:lnTo>
                  <a:pt x="490819" y="0"/>
                </a:lnTo>
                <a:lnTo>
                  <a:pt x="490819" y="444414"/>
                </a:lnTo>
                <a:lnTo>
                  <a:pt x="0" y="4444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2813706" y="3902931"/>
            <a:ext cx="11615982" cy="3242296"/>
          </a:xfrm>
          <a:prstGeom prst="rect">
            <a:avLst/>
          </a:prstGeom>
        </p:spPr>
        <p:txBody>
          <a:bodyPr lIns="0" tIns="0" rIns="0" bIns="0" rtlCol="0" anchor="t">
            <a:spAutoFit/>
          </a:bodyPr>
          <a:lstStyle/>
          <a:p>
            <a:pPr algn="ctr">
              <a:lnSpc>
                <a:spcPts val="8271"/>
              </a:lnSpc>
            </a:pPr>
            <a:r>
              <a:rPr lang="en-US" sz="7729" b="1" dirty="0">
                <a:solidFill>
                  <a:srgbClr val="FFFFFF"/>
                </a:solidFill>
                <a:latin typeface="Poppins Bold"/>
                <a:ea typeface="Poppins Bold"/>
                <a:cs typeface="Poppins Bold"/>
                <a:sym typeface="Poppins Bold"/>
              </a:rPr>
              <a:t>GENERATIVE AI - CURRENT TRENDS AND FUTURE APPLICATIONS </a:t>
            </a:r>
          </a:p>
        </p:txBody>
      </p:sp>
      <p:sp>
        <p:nvSpPr>
          <p:cNvPr id="12" name="Freeform 12"/>
          <p:cNvSpPr/>
          <p:nvPr/>
        </p:nvSpPr>
        <p:spPr>
          <a:xfrm>
            <a:off x="-744683" y="3428669"/>
            <a:ext cx="5447285" cy="891374"/>
          </a:xfrm>
          <a:custGeom>
            <a:avLst/>
            <a:gdLst/>
            <a:ahLst/>
            <a:cxnLst/>
            <a:rect l="l" t="t" r="r" b="b"/>
            <a:pathLst>
              <a:path w="5447285" h="891374">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TextBox 13"/>
          <p:cNvSpPr txBox="1"/>
          <p:nvPr/>
        </p:nvSpPr>
        <p:spPr>
          <a:xfrm>
            <a:off x="3160548" y="8959850"/>
            <a:ext cx="10922297" cy="473075"/>
          </a:xfrm>
          <a:prstGeom prst="rect">
            <a:avLst/>
          </a:prstGeom>
        </p:spPr>
        <p:txBody>
          <a:bodyPr lIns="0" tIns="0" rIns="0" bIns="0" rtlCol="0" anchor="t">
            <a:spAutoFit/>
          </a:bodyPr>
          <a:lstStyle/>
          <a:p>
            <a:pPr algn="ctr">
              <a:lnSpc>
                <a:spcPts val="3910"/>
              </a:lnSpc>
            </a:pPr>
            <a:r>
              <a:rPr lang="en-US" sz="2300" spc="255">
                <a:solidFill>
                  <a:srgbClr val="FFFFFF"/>
                </a:solidFill>
                <a:latin typeface="Poppins"/>
                <a:ea typeface="Poppins"/>
                <a:cs typeface="Poppins"/>
                <a:sym typeface="Poppins"/>
              </a:rPr>
              <a:t>COMPARITIVE ANALYSIS AND FUTURE OUTLOOK</a:t>
            </a:r>
          </a:p>
        </p:txBody>
      </p:sp>
      <p:sp>
        <p:nvSpPr>
          <p:cNvPr id="14" name="TextBox 14"/>
          <p:cNvSpPr txBox="1"/>
          <p:nvPr/>
        </p:nvSpPr>
        <p:spPr>
          <a:xfrm>
            <a:off x="2153772" y="880383"/>
            <a:ext cx="4677409" cy="281559"/>
          </a:xfrm>
          <a:prstGeom prst="rect">
            <a:avLst/>
          </a:prstGeom>
        </p:spPr>
        <p:txBody>
          <a:bodyPr lIns="0" tIns="0" rIns="0" bIns="0" rtlCol="0" anchor="t">
            <a:spAutoFit/>
          </a:bodyPr>
          <a:lstStyle/>
          <a:p>
            <a:pPr algn="l">
              <a:lnSpc>
                <a:spcPts val="1953"/>
              </a:lnSpc>
            </a:pPr>
            <a:r>
              <a:rPr lang="en-US" sz="2100" b="1">
                <a:solidFill>
                  <a:srgbClr val="FFFFFF"/>
                </a:solidFill>
                <a:latin typeface="Poppins Bold"/>
                <a:ea typeface="Poppins Bold"/>
                <a:cs typeface="Poppins Bold"/>
                <a:sym typeface="Poppins Bold"/>
              </a:rPr>
              <a:t>GEN AI</a:t>
            </a:r>
          </a:p>
        </p:txBody>
      </p:sp>
      <p:sp>
        <p:nvSpPr>
          <p:cNvPr id="15" name="Freeform 15"/>
          <p:cNvSpPr/>
          <p:nvPr/>
        </p:nvSpPr>
        <p:spPr>
          <a:xfrm flipH="1" flipV="1">
            <a:off x="13763324" y="6770189"/>
            <a:ext cx="5447285" cy="891374"/>
          </a:xfrm>
          <a:custGeom>
            <a:avLst/>
            <a:gdLst/>
            <a:ahLst/>
            <a:cxnLst/>
            <a:rect l="l" t="t" r="r" b="b"/>
            <a:pathLst>
              <a:path w="5447285" h="891374">
                <a:moveTo>
                  <a:pt x="5447285" y="891374"/>
                </a:moveTo>
                <a:lnTo>
                  <a:pt x="0" y="891374"/>
                </a:lnTo>
                <a:lnTo>
                  <a:pt x="0" y="0"/>
                </a:lnTo>
                <a:lnTo>
                  <a:pt x="5447285" y="0"/>
                </a:lnTo>
                <a:lnTo>
                  <a:pt x="5447285" y="891374"/>
                </a:lnTo>
                <a:close/>
              </a:path>
            </a:pathLst>
          </a:custGeom>
          <a:blipFill>
            <a:blip r:embed="rId8">
              <a:alphaModFix amt="30000"/>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6" name="TextBox 15">
            <a:extLst>
              <a:ext uri="{FF2B5EF4-FFF2-40B4-BE49-F238E27FC236}">
                <a16:creationId xmlns:a16="http://schemas.microsoft.com/office/drawing/2014/main" id="{B3DAB781-B82D-662F-92A3-846C9D023817}"/>
              </a:ext>
            </a:extLst>
          </p:cNvPr>
          <p:cNvSpPr txBox="1"/>
          <p:nvPr/>
        </p:nvSpPr>
        <p:spPr>
          <a:xfrm>
            <a:off x="3160548" y="8039100"/>
            <a:ext cx="2507994" cy="369332"/>
          </a:xfrm>
          <a:prstGeom prst="rect">
            <a:avLst/>
          </a:prstGeom>
          <a:noFill/>
        </p:spPr>
        <p:txBody>
          <a:bodyPr wrap="none" rtlCol="0">
            <a:spAutoFit/>
          </a:bodyPr>
          <a:lstStyle/>
          <a:p>
            <a:r>
              <a:rPr lang="en-US" dirty="0">
                <a:solidFill>
                  <a:schemeClr val="bg2"/>
                </a:solidFill>
              </a:rPr>
              <a:t>Annapurna Devarakonda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514350"/>
            <a:ext cx="16230600" cy="1028700"/>
            <a:chOff x="0" y="0"/>
            <a:chExt cx="2287793" cy="145001"/>
          </a:xfrm>
        </p:grpSpPr>
        <p:sp>
          <p:nvSpPr>
            <p:cNvPr id="3" name="Freeform 3"/>
            <p:cNvSpPr/>
            <p:nvPr/>
          </p:nvSpPr>
          <p:spPr>
            <a:xfrm>
              <a:off x="0" y="0"/>
              <a:ext cx="2287793" cy="145001"/>
            </a:xfrm>
            <a:custGeom>
              <a:avLst/>
              <a:gdLst/>
              <a:ahLst/>
              <a:cxnLst/>
              <a:rect l="l" t="t" r="r" b="b"/>
              <a:pathLst>
                <a:path w="2287793" h="145001">
                  <a:moveTo>
                    <a:pt x="9540" y="0"/>
                  </a:moveTo>
                  <a:lnTo>
                    <a:pt x="2278253" y="0"/>
                  </a:lnTo>
                  <a:cubicBezTo>
                    <a:pt x="2280783" y="0"/>
                    <a:pt x="2283209" y="1005"/>
                    <a:pt x="2284999" y="2794"/>
                  </a:cubicBezTo>
                  <a:cubicBezTo>
                    <a:pt x="2286788" y="4583"/>
                    <a:pt x="2287793" y="7010"/>
                    <a:pt x="2287793" y="9540"/>
                  </a:cubicBezTo>
                  <a:lnTo>
                    <a:pt x="2287793" y="135461"/>
                  </a:lnTo>
                  <a:cubicBezTo>
                    <a:pt x="2287793" y="137991"/>
                    <a:pt x="2286788" y="140418"/>
                    <a:pt x="2284999" y="142207"/>
                  </a:cubicBezTo>
                  <a:cubicBezTo>
                    <a:pt x="2283209" y="143996"/>
                    <a:pt x="2280783" y="145001"/>
                    <a:pt x="2278253" y="145001"/>
                  </a:cubicBezTo>
                  <a:lnTo>
                    <a:pt x="9540" y="145001"/>
                  </a:lnTo>
                  <a:cubicBezTo>
                    <a:pt x="4271" y="145001"/>
                    <a:pt x="0" y="140730"/>
                    <a:pt x="0" y="135461"/>
                  </a:cubicBezTo>
                  <a:lnTo>
                    <a:pt x="0" y="9540"/>
                  </a:lnTo>
                  <a:cubicBezTo>
                    <a:pt x="0" y="4271"/>
                    <a:pt x="4271" y="0"/>
                    <a:pt x="9540" y="0"/>
                  </a:cubicBezTo>
                  <a:close/>
                </a:path>
              </a:pathLst>
            </a:custGeom>
            <a:solidFill>
              <a:srgbClr val="244389">
                <a:alpha val="18824"/>
              </a:srgbClr>
            </a:solidFill>
            <a:ln w="38100" cap="sq">
              <a:solidFill>
                <a:srgbClr val="FFFFFF">
                  <a:alpha val="18824"/>
                </a:srgbClr>
              </a:solidFill>
              <a:prstDash val="solid"/>
              <a:miter/>
            </a:ln>
          </p:spPr>
          <p:txBody>
            <a:bodyPr/>
            <a:lstStyle/>
            <a:p>
              <a:endParaRPr lang="en-US"/>
            </a:p>
          </p:txBody>
        </p:sp>
        <p:sp>
          <p:nvSpPr>
            <p:cNvPr id="4" name="TextBox 4"/>
            <p:cNvSpPr txBox="1"/>
            <p:nvPr/>
          </p:nvSpPr>
          <p:spPr>
            <a:xfrm>
              <a:off x="0" y="-38100"/>
              <a:ext cx="2287793" cy="18310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318584" y="860317"/>
            <a:ext cx="336766" cy="336766"/>
          </a:xfrm>
          <a:custGeom>
            <a:avLst/>
            <a:gdLst/>
            <a:ahLst/>
            <a:cxnLst/>
            <a:rect l="l" t="t" r="r" b="b"/>
            <a:pathLst>
              <a:path w="336766" h="336766">
                <a:moveTo>
                  <a:pt x="0" y="0"/>
                </a:moveTo>
                <a:lnTo>
                  <a:pt x="336765" y="0"/>
                </a:lnTo>
                <a:lnTo>
                  <a:pt x="336765" y="336766"/>
                </a:lnTo>
                <a:lnTo>
                  <a:pt x="0" y="3367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6" name="Group 6"/>
          <p:cNvGrpSpPr/>
          <p:nvPr/>
        </p:nvGrpSpPr>
        <p:grpSpPr>
          <a:xfrm>
            <a:off x="11477552" y="2155331"/>
            <a:ext cx="5246370" cy="5246370"/>
            <a:chOff x="0" y="0"/>
            <a:chExt cx="739505" cy="739505"/>
          </a:xfrm>
        </p:grpSpPr>
        <p:sp>
          <p:nvSpPr>
            <p:cNvPr id="7" name="Freeform 7"/>
            <p:cNvSpPr/>
            <p:nvPr/>
          </p:nvSpPr>
          <p:spPr>
            <a:xfrm>
              <a:off x="0" y="0"/>
              <a:ext cx="739505" cy="739505"/>
            </a:xfrm>
            <a:custGeom>
              <a:avLst/>
              <a:gdLst/>
              <a:ahLst/>
              <a:cxnLst/>
              <a:rect l="l" t="t" r="r" b="b"/>
              <a:pathLst>
                <a:path w="739505" h="739505">
                  <a:moveTo>
                    <a:pt x="106248" y="0"/>
                  </a:moveTo>
                  <a:lnTo>
                    <a:pt x="633256" y="0"/>
                  </a:lnTo>
                  <a:cubicBezTo>
                    <a:pt x="691936" y="0"/>
                    <a:pt x="739505" y="47569"/>
                    <a:pt x="739505" y="106248"/>
                  </a:cubicBezTo>
                  <a:lnTo>
                    <a:pt x="739505" y="633256"/>
                  </a:lnTo>
                  <a:cubicBezTo>
                    <a:pt x="739505" y="661435"/>
                    <a:pt x="728311" y="688460"/>
                    <a:pt x="708385" y="708385"/>
                  </a:cubicBezTo>
                  <a:cubicBezTo>
                    <a:pt x="688460" y="728311"/>
                    <a:pt x="661435" y="739505"/>
                    <a:pt x="633256" y="739505"/>
                  </a:cubicBezTo>
                  <a:lnTo>
                    <a:pt x="106248" y="739505"/>
                  </a:lnTo>
                  <a:cubicBezTo>
                    <a:pt x="78070" y="739505"/>
                    <a:pt x="51045" y="728311"/>
                    <a:pt x="31119" y="708385"/>
                  </a:cubicBezTo>
                  <a:cubicBezTo>
                    <a:pt x="11194" y="688460"/>
                    <a:pt x="0" y="661435"/>
                    <a:pt x="0" y="633256"/>
                  </a:cubicBezTo>
                  <a:lnTo>
                    <a:pt x="0" y="106248"/>
                  </a:lnTo>
                  <a:cubicBezTo>
                    <a:pt x="0" y="78070"/>
                    <a:pt x="11194" y="51045"/>
                    <a:pt x="31119" y="31119"/>
                  </a:cubicBezTo>
                  <a:cubicBezTo>
                    <a:pt x="51045" y="11194"/>
                    <a:pt x="78070" y="0"/>
                    <a:pt x="106248" y="0"/>
                  </a:cubicBezTo>
                  <a:close/>
                </a:path>
              </a:pathLst>
            </a:custGeom>
            <a:gradFill rotWithShape="1">
              <a:gsLst>
                <a:gs pos="0">
                  <a:srgbClr val="0C131D">
                    <a:alpha val="100000"/>
                  </a:srgbClr>
                </a:gs>
                <a:gs pos="100000">
                  <a:srgbClr val="0F2E4A">
                    <a:alpha val="100000"/>
                  </a:srgbClr>
                </a:gs>
              </a:gsLst>
              <a:lin ang="0"/>
            </a:gradFill>
            <a:ln cap="rnd">
              <a:noFill/>
              <a:prstDash val="solid"/>
              <a:round/>
            </a:ln>
          </p:spPr>
          <p:txBody>
            <a:bodyPr/>
            <a:lstStyle/>
            <a:p>
              <a:endParaRPr lang="en-US"/>
            </a:p>
          </p:txBody>
        </p:sp>
        <p:sp>
          <p:nvSpPr>
            <p:cNvPr id="8" name="TextBox 8"/>
            <p:cNvSpPr txBox="1"/>
            <p:nvPr/>
          </p:nvSpPr>
          <p:spPr>
            <a:xfrm>
              <a:off x="0" y="-38100"/>
              <a:ext cx="739505" cy="77760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rot="-2251509" flipH="1">
            <a:off x="12633556" y="237602"/>
            <a:ext cx="5407364" cy="11206973"/>
          </a:xfrm>
          <a:custGeom>
            <a:avLst/>
            <a:gdLst/>
            <a:ahLst/>
            <a:cxnLst/>
            <a:rect l="l" t="t" r="r" b="b"/>
            <a:pathLst>
              <a:path w="5407364" h="11206973">
                <a:moveTo>
                  <a:pt x="5407364" y="0"/>
                </a:moveTo>
                <a:lnTo>
                  <a:pt x="0" y="0"/>
                </a:lnTo>
                <a:lnTo>
                  <a:pt x="0" y="11206973"/>
                </a:lnTo>
                <a:lnTo>
                  <a:pt x="5407364" y="11206973"/>
                </a:lnTo>
                <a:lnTo>
                  <a:pt x="5407364" y="0"/>
                </a:lnTo>
                <a:close/>
              </a:path>
            </a:pathLst>
          </a:custGeom>
          <a:blipFill>
            <a:blip r:embed="rId5"/>
            <a:stretch>
              <a:fillRect/>
            </a:stretch>
          </a:blipFill>
        </p:spPr>
        <p:txBody>
          <a:bodyPr/>
          <a:lstStyle/>
          <a:p>
            <a:endParaRPr lang="en-US"/>
          </a:p>
        </p:txBody>
      </p:sp>
      <p:sp>
        <p:nvSpPr>
          <p:cNvPr id="10" name="Freeform 10"/>
          <p:cNvSpPr/>
          <p:nvPr/>
        </p:nvSpPr>
        <p:spPr>
          <a:xfrm>
            <a:off x="1488140" y="779906"/>
            <a:ext cx="490819" cy="444414"/>
          </a:xfrm>
          <a:custGeom>
            <a:avLst/>
            <a:gdLst/>
            <a:ahLst/>
            <a:cxnLst/>
            <a:rect l="l" t="t" r="r" b="b"/>
            <a:pathLst>
              <a:path w="490819" h="444414">
                <a:moveTo>
                  <a:pt x="0" y="0"/>
                </a:moveTo>
                <a:lnTo>
                  <a:pt x="490819" y="0"/>
                </a:lnTo>
                <a:lnTo>
                  <a:pt x="490819" y="444414"/>
                </a:lnTo>
                <a:lnTo>
                  <a:pt x="0" y="44441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Freeform 11"/>
          <p:cNvSpPr/>
          <p:nvPr/>
        </p:nvSpPr>
        <p:spPr>
          <a:xfrm>
            <a:off x="9620886" y="1725020"/>
            <a:ext cx="2031358" cy="2100088"/>
          </a:xfrm>
          <a:custGeom>
            <a:avLst/>
            <a:gdLst/>
            <a:ahLst/>
            <a:cxnLst/>
            <a:rect l="l" t="t" r="r" b="b"/>
            <a:pathLst>
              <a:path w="2031358" h="2100088">
                <a:moveTo>
                  <a:pt x="0" y="0"/>
                </a:moveTo>
                <a:lnTo>
                  <a:pt x="2031358" y="0"/>
                </a:lnTo>
                <a:lnTo>
                  <a:pt x="2031358" y="2100088"/>
                </a:lnTo>
                <a:lnTo>
                  <a:pt x="0" y="2100088"/>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2" name="TextBox 12"/>
          <p:cNvSpPr txBox="1"/>
          <p:nvPr/>
        </p:nvSpPr>
        <p:spPr>
          <a:xfrm>
            <a:off x="2153772" y="880383"/>
            <a:ext cx="4677409" cy="281559"/>
          </a:xfrm>
          <a:prstGeom prst="rect">
            <a:avLst/>
          </a:prstGeom>
        </p:spPr>
        <p:txBody>
          <a:bodyPr lIns="0" tIns="0" rIns="0" bIns="0" rtlCol="0" anchor="t">
            <a:spAutoFit/>
          </a:bodyPr>
          <a:lstStyle/>
          <a:p>
            <a:pPr algn="l">
              <a:lnSpc>
                <a:spcPts val="1953"/>
              </a:lnSpc>
            </a:pPr>
            <a:r>
              <a:rPr lang="en-US" sz="2100" b="1">
                <a:solidFill>
                  <a:srgbClr val="FFFFFF"/>
                </a:solidFill>
                <a:latin typeface="Poppins Bold"/>
                <a:ea typeface="Poppins Bold"/>
                <a:cs typeface="Poppins Bold"/>
                <a:sym typeface="Poppins Bold"/>
              </a:rPr>
              <a:t>GEN AI</a:t>
            </a:r>
          </a:p>
        </p:txBody>
      </p:sp>
      <p:sp>
        <p:nvSpPr>
          <p:cNvPr id="13" name="TextBox 13"/>
          <p:cNvSpPr txBox="1"/>
          <p:nvPr/>
        </p:nvSpPr>
        <p:spPr>
          <a:xfrm>
            <a:off x="1183340" y="1887352"/>
            <a:ext cx="7960660" cy="1244223"/>
          </a:xfrm>
          <a:prstGeom prst="rect">
            <a:avLst/>
          </a:prstGeom>
        </p:spPr>
        <p:txBody>
          <a:bodyPr lIns="0" tIns="0" rIns="0" bIns="0" rtlCol="0" anchor="t">
            <a:spAutoFit/>
          </a:bodyPr>
          <a:lstStyle/>
          <a:p>
            <a:pPr algn="l">
              <a:lnSpc>
                <a:spcPts val="4708"/>
              </a:lnSpc>
            </a:pPr>
            <a:r>
              <a:rPr lang="en-US" sz="4400" b="1" dirty="0">
                <a:solidFill>
                  <a:srgbClr val="FFFFFF"/>
                </a:solidFill>
                <a:latin typeface="Poppins Bold"/>
                <a:ea typeface="Poppins Bold"/>
                <a:cs typeface="Poppins Bold"/>
                <a:sym typeface="Poppins Bold"/>
              </a:rPr>
              <a:t>Data Science vs AI vs Neural Networks vs GEN AI</a:t>
            </a:r>
          </a:p>
        </p:txBody>
      </p:sp>
      <p:pic>
        <p:nvPicPr>
          <p:cNvPr id="16" name="Picture 15">
            <a:extLst>
              <a:ext uri="{FF2B5EF4-FFF2-40B4-BE49-F238E27FC236}">
                <a16:creationId xmlns:a16="http://schemas.microsoft.com/office/drawing/2014/main" id="{9E610FDA-BA8F-0BC0-DF3C-A1462AC51CAE}"/>
              </a:ext>
            </a:extLst>
          </p:cNvPr>
          <p:cNvPicPr>
            <a:picLocks noChangeAspect="1"/>
          </p:cNvPicPr>
          <p:nvPr/>
        </p:nvPicPr>
        <p:blipFill>
          <a:blip r:embed="rId10"/>
          <a:stretch>
            <a:fillRect/>
          </a:stretch>
        </p:blipFill>
        <p:spPr>
          <a:xfrm>
            <a:off x="1564078" y="3447505"/>
            <a:ext cx="9130046" cy="63251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514350"/>
            <a:ext cx="16230600" cy="1028700"/>
            <a:chOff x="0" y="0"/>
            <a:chExt cx="2287793" cy="145001"/>
          </a:xfrm>
        </p:grpSpPr>
        <p:sp>
          <p:nvSpPr>
            <p:cNvPr id="3" name="Freeform 3"/>
            <p:cNvSpPr/>
            <p:nvPr/>
          </p:nvSpPr>
          <p:spPr>
            <a:xfrm>
              <a:off x="0" y="0"/>
              <a:ext cx="2287793" cy="145001"/>
            </a:xfrm>
            <a:custGeom>
              <a:avLst/>
              <a:gdLst/>
              <a:ahLst/>
              <a:cxnLst/>
              <a:rect l="l" t="t" r="r" b="b"/>
              <a:pathLst>
                <a:path w="2287793" h="145001">
                  <a:moveTo>
                    <a:pt x="9540" y="0"/>
                  </a:moveTo>
                  <a:lnTo>
                    <a:pt x="2278253" y="0"/>
                  </a:lnTo>
                  <a:cubicBezTo>
                    <a:pt x="2280783" y="0"/>
                    <a:pt x="2283209" y="1005"/>
                    <a:pt x="2284999" y="2794"/>
                  </a:cubicBezTo>
                  <a:cubicBezTo>
                    <a:pt x="2286788" y="4583"/>
                    <a:pt x="2287793" y="7010"/>
                    <a:pt x="2287793" y="9540"/>
                  </a:cubicBezTo>
                  <a:lnTo>
                    <a:pt x="2287793" y="135461"/>
                  </a:lnTo>
                  <a:cubicBezTo>
                    <a:pt x="2287793" y="137991"/>
                    <a:pt x="2286788" y="140418"/>
                    <a:pt x="2284999" y="142207"/>
                  </a:cubicBezTo>
                  <a:cubicBezTo>
                    <a:pt x="2283209" y="143996"/>
                    <a:pt x="2280783" y="145001"/>
                    <a:pt x="2278253" y="145001"/>
                  </a:cubicBezTo>
                  <a:lnTo>
                    <a:pt x="9540" y="145001"/>
                  </a:lnTo>
                  <a:cubicBezTo>
                    <a:pt x="4271" y="145001"/>
                    <a:pt x="0" y="140730"/>
                    <a:pt x="0" y="135461"/>
                  </a:cubicBezTo>
                  <a:lnTo>
                    <a:pt x="0" y="9540"/>
                  </a:lnTo>
                  <a:cubicBezTo>
                    <a:pt x="0" y="4271"/>
                    <a:pt x="4271" y="0"/>
                    <a:pt x="9540" y="0"/>
                  </a:cubicBezTo>
                  <a:close/>
                </a:path>
              </a:pathLst>
            </a:custGeom>
            <a:solidFill>
              <a:srgbClr val="244389">
                <a:alpha val="18824"/>
              </a:srgbClr>
            </a:solidFill>
            <a:ln w="38100" cap="sq">
              <a:solidFill>
                <a:srgbClr val="FFFFFF">
                  <a:alpha val="18824"/>
                </a:srgbClr>
              </a:solidFill>
              <a:prstDash val="solid"/>
              <a:miter/>
            </a:ln>
          </p:spPr>
          <p:txBody>
            <a:bodyPr/>
            <a:lstStyle/>
            <a:p>
              <a:endParaRPr lang="en-US"/>
            </a:p>
          </p:txBody>
        </p:sp>
        <p:sp>
          <p:nvSpPr>
            <p:cNvPr id="4" name="TextBox 4"/>
            <p:cNvSpPr txBox="1"/>
            <p:nvPr/>
          </p:nvSpPr>
          <p:spPr>
            <a:xfrm>
              <a:off x="0" y="-38100"/>
              <a:ext cx="2287793" cy="18310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318584" y="860317"/>
            <a:ext cx="336766" cy="336766"/>
          </a:xfrm>
          <a:custGeom>
            <a:avLst/>
            <a:gdLst/>
            <a:ahLst/>
            <a:cxnLst/>
            <a:rect l="l" t="t" r="r" b="b"/>
            <a:pathLst>
              <a:path w="336766" h="336766">
                <a:moveTo>
                  <a:pt x="0" y="0"/>
                </a:moveTo>
                <a:lnTo>
                  <a:pt x="336765" y="0"/>
                </a:lnTo>
                <a:lnTo>
                  <a:pt x="336765" y="336766"/>
                </a:lnTo>
                <a:lnTo>
                  <a:pt x="0" y="3367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 name="Freeform 6"/>
          <p:cNvSpPr/>
          <p:nvPr/>
        </p:nvSpPr>
        <p:spPr>
          <a:xfrm>
            <a:off x="1488140" y="779906"/>
            <a:ext cx="490819" cy="444414"/>
          </a:xfrm>
          <a:custGeom>
            <a:avLst/>
            <a:gdLst/>
            <a:ahLst/>
            <a:cxnLst/>
            <a:rect l="l" t="t" r="r" b="b"/>
            <a:pathLst>
              <a:path w="490819" h="444414">
                <a:moveTo>
                  <a:pt x="0" y="0"/>
                </a:moveTo>
                <a:lnTo>
                  <a:pt x="490819" y="0"/>
                </a:lnTo>
                <a:lnTo>
                  <a:pt x="490819" y="444414"/>
                </a:lnTo>
                <a:lnTo>
                  <a:pt x="0" y="44441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7" name="Group 7"/>
          <p:cNvGrpSpPr/>
          <p:nvPr/>
        </p:nvGrpSpPr>
        <p:grpSpPr>
          <a:xfrm>
            <a:off x="1488140" y="2081125"/>
            <a:ext cx="6124749" cy="6124749"/>
            <a:chOff x="0" y="0"/>
            <a:chExt cx="863317" cy="863317"/>
          </a:xfrm>
        </p:grpSpPr>
        <p:sp>
          <p:nvSpPr>
            <p:cNvPr id="8" name="Freeform 8"/>
            <p:cNvSpPr/>
            <p:nvPr/>
          </p:nvSpPr>
          <p:spPr>
            <a:xfrm>
              <a:off x="0" y="0"/>
              <a:ext cx="863317" cy="863317"/>
            </a:xfrm>
            <a:custGeom>
              <a:avLst/>
              <a:gdLst/>
              <a:ahLst/>
              <a:cxnLst/>
              <a:rect l="l" t="t" r="r" b="b"/>
              <a:pathLst>
                <a:path w="863317" h="863317">
                  <a:moveTo>
                    <a:pt x="91011" y="0"/>
                  </a:moveTo>
                  <a:lnTo>
                    <a:pt x="772306" y="0"/>
                  </a:lnTo>
                  <a:cubicBezTo>
                    <a:pt x="822570" y="0"/>
                    <a:pt x="863317" y="40747"/>
                    <a:pt x="863317" y="91011"/>
                  </a:cubicBezTo>
                  <a:lnTo>
                    <a:pt x="863317" y="772306"/>
                  </a:lnTo>
                  <a:cubicBezTo>
                    <a:pt x="863317" y="822570"/>
                    <a:pt x="822570" y="863317"/>
                    <a:pt x="772306" y="863317"/>
                  </a:cubicBezTo>
                  <a:lnTo>
                    <a:pt x="91011" y="863317"/>
                  </a:lnTo>
                  <a:cubicBezTo>
                    <a:pt x="40747" y="863317"/>
                    <a:pt x="0" y="822570"/>
                    <a:pt x="0" y="772306"/>
                  </a:cubicBezTo>
                  <a:lnTo>
                    <a:pt x="0" y="91011"/>
                  </a:lnTo>
                  <a:cubicBezTo>
                    <a:pt x="0" y="40747"/>
                    <a:pt x="40747" y="0"/>
                    <a:pt x="91011" y="0"/>
                  </a:cubicBezTo>
                  <a:close/>
                </a:path>
              </a:pathLst>
            </a:custGeom>
            <a:gradFill rotWithShape="1">
              <a:gsLst>
                <a:gs pos="0">
                  <a:srgbClr val="0C131D">
                    <a:alpha val="100000"/>
                  </a:srgbClr>
                </a:gs>
                <a:gs pos="100000">
                  <a:srgbClr val="0F2E4A">
                    <a:alpha val="100000"/>
                  </a:srgbClr>
                </a:gs>
              </a:gsLst>
              <a:lin ang="0"/>
            </a:gradFill>
            <a:ln cap="rnd">
              <a:noFill/>
              <a:prstDash val="solid"/>
              <a:round/>
            </a:ln>
          </p:spPr>
          <p:txBody>
            <a:bodyPr/>
            <a:lstStyle/>
            <a:p>
              <a:endParaRPr lang="en-US"/>
            </a:p>
          </p:txBody>
        </p:sp>
        <p:sp>
          <p:nvSpPr>
            <p:cNvPr id="9" name="TextBox 9"/>
            <p:cNvSpPr txBox="1"/>
            <p:nvPr/>
          </p:nvSpPr>
          <p:spPr>
            <a:xfrm>
              <a:off x="0" y="-38100"/>
              <a:ext cx="863317" cy="901417"/>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3066322" y="6527052"/>
            <a:ext cx="3657600" cy="871174"/>
          </a:xfrm>
          <a:custGeom>
            <a:avLst/>
            <a:gdLst/>
            <a:ahLst/>
            <a:cxnLst/>
            <a:rect l="l" t="t" r="r" b="b"/>
            <a:pathLst>
              <a:path w="3657600" h="871174">
                <a:moveTo>
                  <a:pt x="0" y="0"/>
                </a:moveTo>
                <a:lnTo>
                  <a:pt x="3657600" y="0"/>
                </a:lnTo>
                <a:lnTo>
                  <a:pt x="3657600" y="871174"/>
                </a:lnTo>
                <a:lnTo>
                  <a:pt x="0" y="871174"/>
                </a:lnTo>
                <a:lnTo>
                  <a:pt x="0" y="0"/>
                </a:lnTo>
                <a:close/>
              </a:path>
            </a:pathLst>
          </a:custGeom>
          <a:blipFill>
            <a:blip r:embed="rId6">
              <a:alphaModFix amt="30000"/>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1" name="TextBox 11"/>
          <p:cNvSpPr txBox="1"/>
          <p:nvPr/>
        </p:nvSpPr>
        <p:spPr>
          <a:xfrm>
            <a:off x="9803492" y="2609586"/>
            <a:ext cx="6515092" cy="612271"/>
          </a:xfrm>
          <a:prstGeom prst="rect">
            <a:avLst/>
          </a:prstGeom>
        </p:spPr>
        <p:txBody>
          <a:bodyPr lIns="0" tIns="0" rIns="0" bIns="0" rtlCol="0" anchor="t">
            <a:spAutoFit/>
          </a:bodyPr>
          <a:lstStyle/>
          <a:p>
            <a:pPr algn="l">
              <a:lnSpc>
                <a:spcPts val="4494"/>
              </a:lnSpc>
            </a:pPr>
            <a:r>
              <a:rPr lang="en-US" sz="4200" b="1">
                <a:solidFill>
                  <a:srgbClr val="FFFFFF"/>
                </a:solidFill>
                <a:latin typeface="Poppins Bold"/>
                <a:ea typeface="Poppins Bold"/>
                <a:cs typeface="Poppins Bold"/>
                <a:sym typeface="Poppins Bold"/>
              </a:rPr>
              <a:t>Current Trends - Gen AI</a:t>
            </a:r>
          </a:p>
        </p:txBody>
      </p:sp>
      <p:sp>
        <p:nvSpPr>
          <p:cNvPr id="12" name="Freeform 12"/>
          <p:cNvSpPr/>
          <p:nvPr/>
        </p:nvSpPr>
        <p:spPr>
          <a:xfrm>
            <a:off x="-1361862" y="8164257"/>
            <a:ext cx="5447285" cy="891374"/>
          </a:xfrm>
          <a:custGeom>
            <a:avLst/>
            <a:gdLst/>
            <a:ahLst/>
            <a:cxnLst/>
            <a:rect l="l" t="t" r="r" b="b"/>
            <a:pathLst>
              <a:path w="5447285" h="891374">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3" name="Freeform 13"/>
          <p:cNvSpPr/>
          <p:nvPr/>
        </p:nvSpPr>
        <p:spPr>
          <a:xfrm>
            <a:off x="15560029" y="2144849"/>
            <a:ext cx="5447285" cy="891374"/>
          </a:xfrm>
          <a:custGeom>
            <a:avLst/>
            <a:gdLst/>
            <a:ahLst/>
            <a:cxnLst/>
            <a:rect l="l" t="t" r="r" b="b"/>
            <a:pathLst>
              <a:path w="5447285" h="891374">
                <a:moveTo>
                  <a:pt x="0" y="0"/>
                </a:moveTo>
                <a:lnTo>
                  <a:pt x="5447285" y="0"/>
                </a:lnTo>
                <a:lnTo>
                  <a:pt x="5447285" y="891374"/>
                </a:lnTo>
                <a:lnTo>
                  <a:pt x="0" y="891374"/>
                </a:lnTo>
                <a:lnTo>
                  <a:pt x="0" y="0"/>
                </a:lnTo>
                <a:close/>
              </a:path>
            </a:pathLst>
          </a:custGeom>
          <a:blipFill>
            <a:blip r:embed="rId8">
              <a:alphaModFix amt="30000"/>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4" name="Freeform 14"/>
          <p:cNvSpPr/>
          <p:nvPr/>
        </p:nvSpPr>
        <p:spPr>
          <a:xfrm>
            <a:off x="1361780" y="2914507"/>
            <a:ext cx="7182601" cy="6141124"/>
          </a:xfrm>
          <a:custGeom>
            <a:avLst/>
            <a:gdLst/>
            <a:ahLst/>
            <a:cxnLst/>
            <a:rect l="l" t="t" r="r" b="b"/>
            <a:pathLst>
              <a:path w="7182601" h="6141124">
                <a:moveTo>
                  <a:pt x="0" y="0"/>
                </a:moveTo>
                <a:lnTo>
                  <a:pt x="7182601" y="0"/>
                </a:lnTo>
                <a:lnTo>
                  <a:pt x="7182601" y="6141124"/>
                </a:lnTo>
                <a:lnTo>
                  <a:pt x="0" y="6141124"/>
                </a:lnTo>
                <a:lnTo>
                  <a:pt x="0" y="0"/>
                </a:lnTo>
                <a:close/>
              </a:path>
            </a:pathLst>
          </a:custGeom>
          <a:blipFill>
            <a:blip r:embed="rId10"/>
            <a:stretch>
              <a:fillRect/>
            </a:stretch>
          </a:blipFill>
        </p:spPr>
        <p:txBody>
          <a:bodyPr/>
          <a:lstStyle/>
          <a:p>
            <a:endParaRPr lang="en-US"/>
          </a:p>
        </p:txBody>
      </p:sp>
      <p:sp>
        <p:nvSpPr>
          <p:cNvPr id="15" name="TextBox 15"/>
          <p:cNvSpPr txBox="1"/>
          <p:nvPr/>
        </p:nvSpPr>
        <p:spPr>
          <a:xfrm>
            <a:off x="2153772" y="880383"/>
            <a:ext cx="4677409" cy="281559"/>
          </a:xfrm>
          <a:prstGeom prst="rect">
            <a:avLst/>
          </a:prstGeom>
        </p:spPr>
        <p:txBody>
          <a:bodyPr lIns="0" tIns="0" rIns="0" bIns="0" rtlCol="0" anchor="t">
            <a:spAutoFit/>
          </a:bodyPr>
          <a:lstStyle/>
          <a:p>
            <a:pPr algn="l">
              <a:lnSpc>
                <a:spcPts val="1953"/>
              </a:lnSpc>
            </a:pPr>
            <a:r>
              <a:rPr lang="en-US" sz="2100" b="1">
                <a:solidFill>
                  <a:srgbClr val="FFFFFF"/>
                </a:solidFill>
                <a:latin typeface="Poppins Bold"/>
                <a:ea typeface="Poppins Bold"/>
                <a:cs typeface="Poppins Bold"/>
                <a:sym typeface="Poppins Bold"/>
              </a:rPr>
              <a:t>GEN AI</a:t>
            </a:r>
          </a:p>
        </p:txBody>
      </p:sp>
      <p:sp>
        <p:nvSpPr>
          <p:cNvPr id="16" name="TextBox 16"/>
          <p:cNvSpPr txBox="1"/>
          <p:nvPr/>
        </p:nvSpPr>
        <p:spPr>
          <a:xfrm>
            <a:off x="9734920" y="3438151"/>
            <a:ext cx="6920430" cy="4784726"/>
          </a:xfrm>
          <a:prstGeom prst="rect">
            <a:avLst/>
          </a:prstGeom>
        </p:spPr>
        <p:txBody>
          <a:bodyPr lIns="0" tIns="0" rIns="0" bIns="0" rtlCol="0" anchor="t">
            <a:spAutoFit/>
          </a:bodyPr>
          <a:lstStyle/>
          <a:p>
            <a:pPr marL="539748" lvl="1" indent="-269874" algn="just">
              <a:lnSpc>
                <a:spcPts val="4249"/>
              </a:lnSpc>
              <a:buFont typeface="Arial"/>
              <a:buChar char="•"/>
            </a:pPr>
            <a:r>
              <a:rPr lang="en-US" sz="2499">
                <a:solidFill>
                  <a:srgbClr val="FFFFFF"/>
                </a:solidFill>
                <a:latin typeface="Poppins"/>
                <a:ea typeface="Poppins"/>
                <a:cs typeface="Poppins"/>
                <a:sym typeface="Poppins"/>
              </a:rPr>
              <a:t>Valued at $45 billion in 2024, expected to grow to $60 billion by 2025 and upto &gt; $200 billion by 2030.</a:t>
            </a:r>
          </a:p>
          <a:p>
            <a:pPr algn="just">
              <a:lnSpc>
                <a:spcPts val="4249"/>
              </a:lnSpc>
            </a:pPr>
            <a:endParaRPr lang="en-US" sz="2499">
              <a:solidFill>
                <a:srgbClr val="FFFFFF"/>
              </a:solidFill>
              <a:latin typeface="Poppins"/>
              <a:ea typeface="Poppins"/>
              <a:cs typeface="Poppins"/>
              <a:sym typeface="Poppins"/>
            </a:endParaRPr>
          </a:p>
          <a:p>
            <a:pPr marL="539748" lvl="1" indent="-269874" algn="just">
              <a:lnSpc>
                <a:spcPts val="4249"/>
              </a:lnSpc>
              <a:buFont typeface="Arial"/>
              <a:buChar char="•"/>
            </a:pPr>
            <a:r>
              <a:rPr lang="en-US" sz="2499">
                <a:solidFill>
                  <a:srgbClr val="FFFFFF"/>
                </a:solidFill>
                <a:latin typeface="Poppins"/>
                <a:ea typeface="Poppins"/>
                <a:cs typeface="Poppins"/>
                <a:sym typeface="Poppins"/>
              </a:rPr>
              <a:t>Increasing demand for automation, personalization, and content creation across industries such as healthcare, manufacturing, and automotive is fueling market growth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359433" y="7491426"/>
            <a:ext cx="4442597" cy="945061"/>
          </a:xfrm>
          <a:custGeom>
            <a:avLst/>
            <a:gdLst/>
            <a:ahLst/>
            <a:cxnLst/>
            <a:rect l="l" t="t" r="r" b="b"/>
            <a:pathLst>
              <a:path w="4442597" h="945061">
                <a:moveTo>
                  <a:pt x="0" y="0"/>
                </a:moveTo>
                <a:lnTo>
                  <a:pt x="4442597" y="0"/>
                </a:lnTo>
                <a:lnTo>
                  <a:pt x="4442597" y="945061"/>
                </a:lnTo>
                <a:lnTo>
                  <a:pt x="0" y="945061"/>
                </a:lnTo>
                <a:lnTo>
                  <a:pt x="0" y="0"/>
                </a:lnTo>
                <a:close/>
              </a:path>
            </a:pathLst>
          </a:custGeom>
          <a:blipFill>
            <a:blip r:embed="rId3">
              <a:alphaModFix amt="30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1762721" y="6352435"/>
            <a:ext cx="6508073" cy="3904844"/>
          </a:xfrm>
          <a:custGeom>
            <a:avLst/>
            <a:gdLst/>
            <a:ahLst/>
            <a:cxnLst/>
            <a:rect l="l" t="t" r="r" b="b"/>
            <a:pathLst>
              <a:path w="6508073" h="3904844">
                <a:moveTo>
                  <a:pt x="0" y="0"/>
                </a:moveTo>
                <a:lnTo>
                  <a:pt x="6508072" y="0"/>
                </a:lnTo>
                <a:lnTo>
                  <a:pt x="6508072" y="3904843"/>
                </a:lnTo>
                <a:lnTo>
                  <a:pt x="0" y="3904843"/>
                </a:lnTo>
                <a:lnTo>
                  <a:pt x="0" y="0"/>
                </a:lnTo>
                <a:close/>
              </a:path>
            </a:pathLst>
          </a:custGeom>
          <a:blipFill>
            <a:blip r:embed="rId5"/>
            <a:stretch>
              <a:fillRect/>
            </a:stretch>
          </a:blipFill>
        </p:spPr>
        <p:txBody>
          <a:bodyPr/>
          <a:lstStyle/>
          <a:p>
            <a:endParaRPr lang="en-US" dirty="0"/>
          </a:p>
        </p:txBody>
      </p:sp>
      <p:sp>
        <p:nvSpPr>
          <p:cNvPr id="4" name="Freeform 4"/>
          <p:cNvSpPr/>
          <p:nvPr/>
        </p:nvSpPr>
        <p:spPr>
          <a:xfrm>
            <a:off x="10241" y="7542836"/>
            <a:ext cx="9442883" cy="2714443"/>
          </a:xfrm>
          <a:custGeom>
            <a:avLst/>
            <a:gdLst/>
            <a:ahLst/>
            <a:cxnLst/>
            <a:rect l="l" t="t" r="r" b="b"/>
            <a:pathLst>
              <a:path w="9442883" h="2714443">
                <a:moveTo>
                  <a:pt x="0" y="0"/>
                </a:moveTo>
                <a:lnTo>
                  <a:pt x="9442883" y="0"/>
                </a:lnTo>
                <a:lnTo>
                  <a:pt x="9442883" y="2714443"/>
                </a:lnTo>
                <a:lnTo>
                  <a:pt x="0" y="2714443"/>
                </a:lnTo>
                <a:lnTo>
                  <a:pt x="0" y="0"/>
                </a:lnTo>
                <a:close/>
              </a:path>
            </a:pathLst>
          </a:custGeom>
          <a:blipFill>
            <a:blip r:embed="rId6"/>
            <a:stretch>
              <a:fillRect b="-7945"/>
            </a:stretch>
          </a:blipFill>
        </p:spPr>
        <p:txBody>
          <a:bodyPr/>
          <a:lstStyle/>
          <a:p>
            <a:endParaRPr lang="en-US"/>
          </a:p>
        </p:txBody>
      </p:sp>
      <p:sp>
        <p:nvSpPr>
          <p:cNvPr id="5" name="Freeform 5"/>
          <p:cNvSpPr/>
          <p:nvPr/>
        </p:nvSpPr>
        <p:spPr>
          <a:xfrm>
            <a:off x="10081219" y="20448"/>
            <a:ext cx="8206781" cy="3775367"/>
          </a:xfrm>
          <a:custGeom>
            <a:avLst/>
            <a:gdLst/>
            <a:ahLst/>
            <a:cxnLst/>
            <a:rect l="l" t="t" r="r" b="b"/>
            <a:pathLst>
              <a:path w="8206781" h="3775367">
                <a:moveTo>
                  <a:pt x="0" y="0"/>
                </a:moveTo>
                <a:lnTo>
                  <a:pt x="8206780" y="0"/>
                </a:lnTo>
                <a:lnTo>
                  <a:pt x="8206780" y="3775366"/>
                </a:lnTo>
                <a:lnTo>
                  <a:pt x="0" y="3775366"/>
                </a:lnTo>
                <a:lnTo>
                  <a:pt x="0" y="0"/>
                </a:lnTo>
                <a:close/>
              </a:path>
            </a:pathLst>
          </a:custGeom>
          <a:blipFill>
            <a:blip r:embed="rId7"/>
            <a:stretch>
              <a:fillRect/>
            </a:stretch>
          </a:blipFill>
        </p:spPr>
        <p:txBody>
          <a:bodyPr/>
          <a:lstStyle/>
          <a:p>
            <a:endParaRPr lang="en-US" dirty="0"/>
          </a:p>
        </p:txBody>
      </p:sp>
      <p:sp>
        <p:nvSpPr>
          <p:cNvPr id="6" name="Freeform 6"/>
          <p:cNvSpPr/>
          <p:nvPr/>
        </p:nvSpPr>
        <p:spPr>
          <a:xfrm>
            <a:off x="24844" y="1303729"/>
            <a:ext cx="4559527" cy="5297912"/>
          </a:xfrm>
          <a:custGeom>
            <a:avLst/>
            <a:gdLst/>
            <a:ahLst/>
            <a:cxnLst/>
            <a:rect l="l" t="t" r="r" b="b"/>
            <a:pathLst>
              <a:path w="4559527" h="5297912">
                <a:moveTo>
                  <a:pt x="0" y="0"/>
                </a:moveTo>
                <a:lnTo>
                  <a:pt x="4559526" y="0"/>
                </a:lnTo>
                <a:lnTo>
                  <a:pt x="4559526" y="5297912"/>
                </a:lnTo>
                <a:lnTo>
                  <a:pt x="0" y="5297912"/>
                </a:lnTo>
                <a:lnTo>
                  <a:pt x="0" y="0"/>
                </a:lnTo>
                <a:close/>
              </a:path>
            </a:pathLst>
          </a:custGeom>
          <a:blipFill>
            <a:blip r:embed="rId8"/>
            <a:stretch>
              <a:fillRect/>
            </a:stretch>
          </a:blipFill>
        </p:spPr>
        <p:txBody>
          <a:bodyPr/>
          <a:lstStyle/>
          <a:p>
            <a:endParaRPr lang="en-US"/>
          </a:p>
        </p:txBody>
      </p:sp>
      <p:grpSp>
        <p:nvGrpSpPr>
          <p:cNvPr id="7" name="Group 7"/>
          <p:cNvGrpSpPr/>
          <p:nvPr/>
        </p:nvGrpSpPr>
        <p:grpSpPr>
          <a:xfrm>
            <a:off x="7696502" y="3725368"/>
            <a:ext cx="1883668" cy="1883668"/>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F68B5"/>
            </a:solidFill>
          </p:spPr>
          <p:txBody>
            <a:bodyPr/>
            <a:lstStyle/>
            <a:p>
              <a:endParaRPr lang="en-US"/>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2799"/>
                </a:lnSpc>
              </a:pPr>
              <a:r>
                <a:rPr lang="en-US" sz="1999" b="1">
                  <a:solidFill>
                    <a:srgbClr val="FCFDFD"/>
                  </a:solidFill>
                  <a:latin typeface="Poppins Bold"/>
                  <a:ea typeface="Poppins Bold"/>
                  <a:cs typeface="Poppins Bold"/>
                  <a:sym typeface="Poppins Bold"/>
                </a:rPr>
                <a:t>GEN AI</a:t>
              </a:r>
            </a:p>
          </p:txBody>
        </p:sp>
      </p:grpSp>
      <p:sp>
        <p:nvSpPr>
          <p:cNvPr id="10" name="TextBox 10"/>
          <p:cNvSpPr txBox="1"/>
          <p:nvPr/>
        </p:nvSpPr>
        <p:spPr>
          <a:xfrm>
            <a:off x="188071" y="106899"/>
            <a:ext cx="9975645" cy="1051955"/>
          </a:xfrm>
          <a:prstGeom prst="rect">
            <a:avLst/>
          </a:prstGeom>
        </p:spPr>
        <p:txBody>
          <a:bodyPr lIns="0" tIns="0" rIns="0" bIns="0" rtlCol="0" anchor="t">
            <a:spAutoFit/>
          </a:bodyPr>
          <a:lstStyle/>
          <a:p>
            <a:pPr algn="l">
              <a:lnSpc>
                <a:spcPts val="8132"/>
              </a:lnSpc>
            </a:pPr>
            <a:r>
              <a:rPr lang="en-US" sz="6600" b="1" dirty="0">
                <a:solidFill>
                  <a:srgbClr val="FFFFFF"/>
                </a:solidFill>
                <a:latin typeface="Poppins Bold"/>
                <a:ea typeface="Poppins Bold"/>
                <a:cs typeface="Poppins Bold"/>
                <a:sym typeface="Poppins Bold"/>
              </a:rPr>
              <a:t>ACROSS</a:t>
            </a:r>
            <a:r>
              <a:rPr lang="en-US" sz="7600" b="1" dirty="0">
                <a:solidFill>
                  <a:srgbClr val="FFFFFF"/>
                </a:solidFill>
                <a:latin typeface="Poppins Bold"/>
                <a:ea typeface="Poppins Bold"/>
                <a:cs typeface="Poppins Bold"/>
                <a:sym typeface="Poppins Bold"/>
              </a:rPr>
              <a:t> </a:t>
            </a:r>
            <a:r>
              <a:rPr lang="en-US" sz="6600" b="1" dirty="0">
                <a:solidFill>
                  <a:srgbClr val="FFFFFF"/>
                </a:solidFill>
                <a:latin typeface="Poppins Bold"/>
                <a:ea typeface="Poppins Bold"/>
                <a:cs typeface="Poppins Bold"/>
                <a:sym typeface="Poppins Bold"/>
              </a:rPr>
              <a:t>INDUSTRIES</a:t>
            </a:r>
            <a:endParaRPr lang="en-US" sz="7600" b="1" dirty="0">
              <a:solidFill>
                <a:srgbClr val="FFFFFF"/>
              </a:solidFill>
              <a:latin typeface="Poppins Bold"/>
              <a:ea typeface="Poppins Bold"/>
              <a:cs typeface="Poppins Bold"/>
              <a:sym typeface="Poppins Bold"/>
            </a:endParaRPr>
          </a:p>
        </p:txBody>
      </p:sp>
      <p:sp>
        <p:nvSpPr>
          <p:cNvPr id="11" name="TextBox 11"/>
          <p:cNvSpPr txBox="1"/>
          <p:nvPr/>
        </p:nvSpPr>
        <p:spPr>
          <a:xfrm>
            <a:off x="10363200" y="5998481"/>
            <a:ext cx="6515092" cy="353954"/>
          </a:xfrm>
          <a:prstGeom prst="rect">
            <a:avLst/>
          </a:prstGeom>
        </p:spPr>
        <p:txBody>
          <a:bodyPr lIns="0" tIns="0" rIns="0" bIns="0" rtlCol="0" anchor="t">
            <a:spAutoFit/>
          </a:bodyPr>
          <a:lstStyle/>
          <a:p>
            <a:pPr algn="ctr">
              <a:lnSpc>
                <a:spcPts val="2568"/>
              </a:lnSpc>
            </a:pPr>
            <a:r>
              <a:rPr lang="en-US" sz="2400" b="1" dirty="0">
                <a:solidFill>
                  <a:srgbClr val="FFFFFF"/>
                </a:solidFill>
                <a:latin typeface="Poppins Bold"/>
                <a:ea typeface="Poppins Bold"/>
                <a:cs typeface="Poppins Bold"/>
                <a:sym typeface="Poppins Bold"/>
              </a:rPr>
              <a:t> HEALTHCARE INDUSTRY</a:t>
            </a:r>
          </a:p>
        </p:txBody>
      </p:sp>
      <p:sp>
        <p:nvSpPr>
          <p:cNvPr id="12" name="TextBox 12"/>
          <p:cNvSpPr txBox="1"/>
          <p:nvPr/>
        </p:nvSpPr>
        <p:spPr>
          <a:xfrm>
            <a:off x="10081219" y="3925141"/>
            <a:ext cx="6515092" cy="353954"/>
          </a:xfrm>
          <a:prstGeom prst="rect">
            <a:avLst/>
          </a:prstGeom>
        </p:spPr>
        <p:txBody>
          <a:bodyPr lIns="0" tIns="0" rIns="0" bIns="0" rtlCol="0" anchor="t">
            <a:spAutoFit/>
          </a:bodyPr>
          <a:lstStyle/>
          <a:p>
            <a:pPr algn="l">
              <a:lnSpc>
                <a:spcPts val="2568"/>
              </a:lnSpc>
            </a:pPr>
            <a:r>
              <a:rPr lang="en-US" sz="2400" b="1" dirty="0">
                <a:solidFill>
                  <a:srgbClr val="FFFFFF"/>
                </a:solidFill>
                <a:latin typeface="Poppins Bold"/>
                <a:ea typeface="Poppins Bold"/>
                <a:cs typeface="Poppins Bold"/>
                <a:sym typeface="Poppins Bold"/>
              </a:rPr>
              <a:t> AUTOMOTIVE INDUSTRY</a:t>
            </a:r>
          </a:p>
        </p:txBody>
      </p:sp>
      <p:sp>
        <p:nvSpPr>
          <p:cNvPr id="13" name="TextBox 13"/>
          <p:cNvSpPr txBox="1"/>
          <p:nvPr/>
        </p:nvSpPr>
        <p:spPr>
          <a:xfrm rot="5400000">
            <a:off x="1531925" y="4536817"/>
            <a:ext cx="6515092" cy="353954"/>
          </a:xfrm>
          <a:prstGeom prst="rect">
            <a:avLst/>
          </a:prstGeom>
        </p:spPr>
        <p:txBody>
          <a:bodyPr lIns="0" tIns="0" rIns="0" bIns="0" rtlCol="0" anchor="t">
            <a:spAutoFit/>
          </a:bodyPr>
          <a:lstStyle/>
          <a:p>
            <a:pPr algn="l">
              <a:lnSpc>
                <a:spcPts val="2568"/>
              </a:lnSpc>
            </a:pPr>
            <a:r>
              <a:rPr lang="en-US" sz="2400" b="1" dirty="0">
                <a:solidFill>
                  <a:srgbClr val="FFFFFF"/>
                </a:solidFill>
                <a:latin typeface="Poppins Bold"/>
                <a:ea typeface="Poppins Bold"/>
                <a:cs typeface="Poppins Bold"/>
                <a:sym typeface="Poppins Bold"/>
              </a:rPr>
              <a:t> SUPPLYCHAIN INDUSTRY</a:t>
            </a:r>
          </a:p>
        </p:txBody>
      </p:sp>
      <p:sp>
        <p:nvSpPr>
          <p:cNvPr id="14" name="AutoShape 14"/>
          <p:cNvSpPr/>
          <p:nvPr/>
        </p:nvSpPr>
        <p:spPr>
          <a:xfrm flipH="1">
            <a:off x="6566014" y="5785365"/>
            <a:ext cx="1358787" cy="1171089"/>
          </a:xfrm>
          <a:prstGeom prst="line">
            <a:avLst/>
          </a:prstGeom>
          <a:ln w="38100" cap="flat">
            <a:solidFill>
              <a:srgbClr val="FFFFFF"/>
            </a:solidFill>
            <a:prstDash val="solid"/>
            <a:headEnd type="none" w="sm" len="sm"/>
            <a:tailEnd type="arrow" w="med" len="sm"/>
          </a:ln>
        </p:spPr>
        <p:txBody>
          <a:bodyPr/>
          <a:lstStyle/>
          <a:p>
            <a:endParaRPr lang="en-US"/>
          </a:p>
        </p:txBody>
      </p:sp>
      <p:sp>
        <p:nvSpPr>
          <p:cNvPr id="15" name="AutoShape 15"/>
          <p:cNvSpPr/>
          <p:nvPr/>
        </p:nvSpPr>
        <p:spPr>
          <a:xfrm flipH="1" flipV="1">
            <a:off x="5791200" y="3925141"/>
            <a:ext cx="1732634" cy="374848"/>
          </a:xfrm>
          <a:prstGeom prst="line">
            <a:avLst/>
          </a:prstGeom>
          <a:ln w="38100" cap="flat">
            <a:solidFill>
              <a:srgbClr val="FFFFFF"/>
            </a:solidFill>
            <a:prstDash val="solid"/>
            <a:headEnd type="none" w="sm" len="sm"/>
            <a:tailEnd type="arrow" w="med" len="sm"/>
          </a:ln>
        </p:spPr>
        <p:txBody>
          <a:bodyPr/>
          <a:lstStyle/>
          <a:p>
            <a:endParaRPr lang="en-US" dirty="0"/>
          </a:p>
        </p:txBody>
      </p:sp>
      <p:sp>
        <p:nvSpPr>
          <p:cNvPr id="16" name="AutoShape 16"/>
          <p:cNvSpPr/>
          <p:nvPr/>
        </p:nvSpPr>
        <p:spPr>
          <a:xfrm flipV="1">
            <a:off x="9144000" y="3092654"/>
            <a:ext cx="608837" cy="500268"/>
          </a:xfrm>
          <a:prstGeom prst="line">
            <a:avLst/>
          </a:prstGeom>
          <a:ln w="38100" cap="flat">
            <a:solidFill>
              <a:srgbClr val="FFFFFF"/>
            </a:solidFill>
            <a:prstDash val="solid"/>
            <a:headEnd type="none" w="sm" len="sm"/>
            <a:tailEnd type="arrow" w="med" len="sm"/>
          </a:ln>
        </p:spPr>
        <p:txBody>
          <a:bodyPr/>
          <a:lstStyle/>
          <a:p>
            <a:endParaRPr lang="en-US"/>
          </a:p>
        </p:txBody>
      </p:sp>
      <p:sp>
        <p:nvSpPr>
          <p:cNvPr id="17" name="AutoShape 17"/>
          <p:cNvSpPr/>
          <p:nvPr/>
        </p:nvSpPr>
        <p:spPr>
          <a:xfrm>
            <a:off x="9752838" y="5318415"/>
            <a:ext cx="1677162" cy="680066"/>
          </a:xfrm>
          <a:prstGeom prst="line">
            <a:avLst/>
          </a:prstGeom>
          <a:ln w="38100" cap="flat">
            <a:solidFill>
              <a:srgbClr val="FFFFFF"/>
            </a:solidFill>
            <a:prstDash val="solid"/>
            <a:headEnd type="none" w="sm" len="sm"/>
            <a:tailEnd type="arrow" w="med" len="sm"/>
          </a:ln>
        </p:spPr>
        <p:txBody>
          <a:bodyPr/>
          <a:lstStyle/>
          <a:p>
            <a:endParaRPr lang="en-US"/>
          </a:p>
        </p:txBody>
      </p:sp>
      <p:sp>
        <p:nvSpPr>
          <p:cNvPr id="18" name="TextBox 18"/>
          <p:cNvSpPr txBox="1"/>
          <p:nvPr/>
        </p:nvSpPr>
        <p:spPr>
          <a:xfrm>
            <a:off x="17206" y="7157266"/>
            <a:ext cx="6515092" cy="353954"/>
          </a:xfrm>
          <a:prstGeom prst="rect">
            <a:avLst/>
          </a:prstGeom>
        </p:spPr>
        <p:txBody>
          <a:bodyPr lIns="0" tIns="0" rIns="0" bIns="0" rtlCol="0" anchor="t">
            <a:spAutoFit/>
          </a:bodyPr>
          <a:lstStyle/>
          <a:p>
            <a:pPr algn="l">
              <a:lnSpc>
                <a:spcPts val="2568"/>
              </a:lnSpc>
            </a:pPr>
            <a:r>
              <a:rPr lang="en-US" sz="2400" b="1" dirty="0">
                <a:solidFill>
                  <a:srgbClr val="FFFFFF"/>
                </a:solidFill>
                <a:latin typeface="Poppins Bold"/>
                <a:ea typeface="Poppins Bold"/>
                <a:cs typeface="Poppins Bold"/>
                <a:sym typeface="Poppins Bold"/>
              </a:rPr>
              <a:t> MANUFACTURING INDUSTRY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sp>
        <p:nvSpPr>
          <p:cNvPr id="2" name="Freeform 2"/>
          <p:cNvSpPr/>
          <p:nvPr/>
        </p:nvSpPr>
        <p:spPr>
          <a:xfrm>
            <a:off x="14000279" y="7276061"/>
            <a:ext cx="5447285" cy="891374"/>
          </a:xfrm>
          <a:custGeom>
            <a:avLst/>
            <a:gdLst/>
            <a:ahLst/>
            <a:cxnLst/>
            <a:rect l="l" t="t" r="r" b="b"/>
            <a:pathLst>
              <a:path w="5447285" h="891374">
                <a:moveTo>
                  <a:pt x="0" y="0"/>
                </a:moveTo>
                <a:lnTo>
                  <a:pt x="5447285" y="0"/>
                </a:lnTo>
                <a:lnTo>
                  <a:pt x="5447285" y="891374"/>
                </a:lnTo>
                <a:lnTo>
                  <a:pt x="0" y="891374"/>
                </a:lnTo>
                <a:lnTo>
                  <a:pt x="0" y="0"/>
                </a:lnTo>
                <a:close/>
              </a:path>
            </a:pathLst>
          </a:custGeom>
          <a:blipFill>
            <a:blip r:embed="rId2">
              <a:alphaModFix amt="30000"/>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1359433" y="7491426"/>
            <a:ext cx="4442597" cy="945061"/>
          </a:xfrm>
          <a:custGeom>
            <a:avLst/>
            <a:gdLst/>
            <a:ahLst/>
            <a:cxnLst/>
            <a:rect l="l" t="t" r="r" b="b"/>
            <a:pathLst>
              <a:path w="4442597" h="945061">
                <a:moveTo>
                  <a:pt x="0" y="0"/>
                </a:moveTo>
                <a:lnTo>
                  <a:pt x="4442597" y="0"/>
                </a:lnTo>
                <a:lnTo>
                  <a:pt x="4442597" y="945061"/>
                </a:lnTo>
                <a:lnTo>
                  <a:pt x="0" y="945061"/>
                </a:lnTo>
                <a:lnTo>
                  <a:pt x="0" y="0"/>
                </a:lnTo>
                <a:close/>
              </a:path>
            </a:pathLst>
          </a:custGeom>
          <a:blipFill>
            <a:blip r:embed="rId4">
              <a:alphaModFix amt="30000"/>
              <a:extLst>
                <a:ext uri="{96DAC541-7B7A-43D3-8B79-37D633B846F1}">
                  <asvg:svgBlip xmlns:asvg="http://schemas.microsoft.com/office/drawing/2016/SVG/main" r:embed="rId5"/>
                </a:ext>
              </a:extLst>
            </a:blip>
            <a:stretch>
              <a:fillRect/>
            </a:stretch>
          </a:blipFill>
        </p:spPr>
        <p:txBody>
          <a:bodyPr/>
          <a:lstStyle/>
          <a:p>
            <a:endParaRPr lang="en-US"/>
          </a:p>
        </p:txBody>
      </p:sp>
      <p:graphicFrame>
        <p:nvGraphicFramePr>
          <p:cNvPr id="4" name="Table 4"/>
          <p:cNvGraphicFramePr>
            <a:graphicFrameLocks noGrp="1"/>
          </p:cNvGraphicFramePr>
          <p:nvPr/>
        </p:nvGraphicFramePr>
        <p:xfrm>
          <a:off x="2945718" y="1766901"/>
          <a:ext cx="11054561" cy="5724525"/>
        </p:xfrm>
        <a:graphic>
          <a:graphicData uri="http://schemas.openxmlformats.org/drawingml/2006/table">
            <a:tbl>
              <a:tblPr/>
              <a:tblGrid>
                <a:gridCol w="2790918">
                  <a:extLst>
                    <a:ext uri="{9D8B030D-6E8A-4147-A177-3AD203B41FA5}">
                      <a16:colId xmlns:a16="http://schemas.microsoft.com/office/drawing/2014/main" val="20000"/>
                    </a:ext>
                  </a:extLst>
                </a:gridCol>
                <a:gridCol w="2766971">
                  <a:extLst>
                    <a:ext uri="{9D8B030D-6E8A-4147-A177-3AD203B41FA5}">
                      <a16:colId xmlns:a16="http://schemas.microsoft.com/office/drawing/2014/main" val="20001"/>
                    </a:ext>
                  </a:extLst>
                </a:gridCol>
                <a:gridCol w="2766971">
                  <a:extLst>
                    <a:ext uri="{9D8B030D-6E8A-4147-A177-3AD203B41FA5}">
                      <a16:colId xmlns:a16="http://schemas.microsoft.com/office/drawing/2014/main" val="20002"/>
                    </a:ext>
                  </a:extLst>
                </a:gridCol>
                <a:gridCol w="2729701">
                  <a:extLst>
                    <a:ext uri="{9D8B030D-6E8A-4147-A177-3AD203B41FA5}">
                      <a16:colId xmlns:a16="http://schemas.microsoft.com/office/drawing/2014/main" val="20003"/>
                    </a:ext>
                  </a:extLst>
                </a:gridCol>
              </a:tblGrid>
              <a:tr h="1417397">
                <a:tc>
                  <a:txBody>
                    <a:bodyPr/>
                    <a:lstStyle/>
                    <a:p>
                      <a:pPr algn="ctr">
                        <a:lnSpc>
                          <a:spcPts val="2799"/>
                        </a:lnSpc>
                        <a:defRPr/>
                      </a:pPr>
                      <a:r>
                        <a:rPr lang="en-US" sz="1999" b="1">
                          <a:solidFill>
                            <a:srgbClr val="FFFFFF"/>
                          </a:solidFill>
                          <a:latin typeface="Poppins Bold"/>
                          <a:ea typeface="Poppins Bold"/>
                          <a:cs typeface="Poppins Bold"/>
                          <a:sym typeface="Poppins Bold"/>
                        </a:rPr>
                        <a:t>YEAR</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2799"/>
                        </a:lnSpc>
                        <a:defRPr/>
                      </a:pPr>
                      <a:r>
                        <a:rPr lang="en-US" sz="1999" b="1">
                          <a:solidFill>
                            <a:srgbClr val="FFFFFF"/>
                          </a:solidFill>
                          <a:latin typeface="Poppins Bold"/>
                          <a:ea typeface="Poppins Bold"/>
                          <a:cs typeface="Poppins Bold"/>
                          <a:sym typeface="Poppins Bold"/>
                        </a:rPr>
                        <a:t>TRADITIONAL SYSTEMS</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2799"/>
                        </a:lnSpc>
                        <a:defRPr/>
                      </a:pPr>
                      <a:r>
                        <a:rPr lang="en-US" sz="1999" b="1">
                          <a:solidFill>
                            <a:srgbClr val="FFFFFF"/>
                          </a:solidFill>
                          <a:latin typeface="Poppins Bold"/>
                          <a:ea typeface="Poppins Bold"/>
                          <a:cs typeface="Poppins Bold"/>
                          <a:sym typeface="Poppins Bold"/>
                        </a:rPr>
                        <a:t>AI ADOPTION</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tc>
                  <a:txBody>
                    <a:bodyPr/>
                    <a:lstStyle/>
                    <a:p>
                      <a:pPr algn="ctr">
                        <a:lnSpc>
                          <a:spcPts val="2799"/>
                        </a:lnSpc>
                        <a:defRPr/>
                      </a:pPr>
                      <a:r>
                        <a:rPr lang="en-US" sz="1999" b="1">
                          <a:solidFill>
                            <a:srgbClr val="FFFFFF"/>
                          </a:solidFill>
                          <a:latin typeface="Poppins Bold"/>
                          <a:ea typeface="Poppins Bold"/>
                          <a:cs typeface="Poppins Bold"/>
                          <a:sym typeface="Poppins Bold"/>
                        </a:rPr>
                        <a:t>CLOUD</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9999"/>
                    </a:solidFill>
                  </a:tcPr>
                </a:tc>
                <a:extLst>
                  <a:ext uri="{0D108BD9-81ED-4DB2-BD59-A6C34878D82A}">
                    <a16:rowId xmlns:a16="http://schemas.microsoft.com/office/drawing/2014/main" val="10000"/>
                  </a:ext>
                </a:extLst>
              </a:tr>
              <a:tr h="1076782">
                <a:tc>
                  <a:txBody>
                    <a:bodyPr/>
                    <a:lstStyle/>
                    <a:p>
                      <a:pPr algn="ctr">
                        <a:lnSpc>
                          <a:spcPts val="3079"/>
                        </a:lnSpc>
                        <a:defRPr/>
                      </a:pPr>
                      <a:r>
                        <a:rPr lang="en-US" sz="2199" b="1">
                          <a:solidFill>
                            <a:srgbClr val="3D1D66"/>
                          </a:solidFill>
                          <a:latin typeface="Poppins Bold"/>
                          <a:ea typeface="Poppins Bold"/>
                          <a:cs typeface="Poppins Bold"/>
                          <a:sym typeface="Poppins Bold"/>
                        </a:rPr>
                        <a:t>2022</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DOMINANT</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EMERGING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GROWING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1"/>
                  </a:ext>
                </a:extLst>
              </a:tr>
              <a:tr h="1076782">
                <a:tc>
                  <a:txBody>
                    <a:bodyPr/>
                    <a:lstStyle/>
                    <a:p>
                      <a:pPr algn="ctr">
                        <a:lnSpc>
                          <a:spcPts val="3079"/>
                        </a:lnSpc>
                        <a:defRPr/>
                      </a:pPr>
                      <a:r>
                        <a:rPr lang="en-US" sz="2199" b="1">
                          <a:solidFill>
                            <a:srgbClr val="3D1D66"/>
                          </a:solidFill>
                          <a:latin typeface="Poppins Bold"/>
                          <a:ea typeface="Poppins Bold"/>
                          <a:cs typeface="Poppins Bold"/>
                          <a:sym typeface="Poppins Bold"/>
                        </a:rPr>
                        <a:t>2023</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DECLINING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EXPANDING</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2659"/>
                        </a:lnSpc>
                        <a:defRPr/>
                      </a:pPr>
                      <a:r>
                        <a:rPr lang="en-US" sz="1899" b="1">
                          <a:solidFill>
                            <a:srgbClr val="3D1D66"/>
                          </a:solidFill>
                          <a:latin typeface="Poppins Bold"/>
                          <a:ea typeface="Poppins Bold"/>
                          <a:cs typeface="Poppins Bold"/>
                          <a:sym typeface="Poppins Bold"/>
                        </a:rPr>
                        <a:t>STRONG GROWTH</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2"/>
                  </a:ext>
                </a:extLst>
              </a:tr>
              <a:tr h="1076782">
                <a:tc>
                  <a:txBody>
                    <a:bodyPr/>
                    <a:lstStyle/>
                    <a:p>
                      <a:pPr algn="ctr">
                        <a:lnSpc>
                          <a:spcPts val="3079"/>
                        </a:lnSpc>
                        <a:defRPr/>
                      </a:pPr>
                      <a:r>
                        <a:rPr lang="en-US" sz="2199" b="1">
                          <a:solidFill>
                            <a:srgbClr val="3D1D66"/>
                          </a:solidFill>
                          <a:latin typeface="Poppins Bold"/>
                          <a:ea typeface="Poppins Bold"/>
                          <a:cs typeface="Poppins Bold"/>
                          <a:sym typeface="Poppins Bold"/>
                        </a:rPr>
                        <a:t>2024</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LIMITED</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MAINSTREAM</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WIDESPREAD</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3"/>
                  </a:ext>
                </a:extLst>
              </a:tr>
              <a:tr h="1076782">
                <a:tc>
                  <a:txBody>
                    <a:bodyPr/>
                    <a:lstStyle/>
                    <a:p>
                      <a:pPr algn="ctr">
                        <a:lnSpc>
                          <a:spcPts val="3079"/>
                        </a:lnSpc>
                        <a:defRPr/>
                      </a:pPr>
                      <a:r>
                        <a:rPr lang="en-US" sz="2199" b="1">
                          <a:solidFill>
                            <a:srgbClr val="3D1D66"/>
                          </a:solidFill>
                          <a:latin typeface="Poppins Bold"/>
                          <a:ea typeface="Poppins Bold"/>
                          <a:cs typeface="Poppins Bold"/>
                          <a:sym typeface="Poppins Bold"/>
                        </a:rPr>
                        <a:t>2025</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CDCD"/>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MINIMAL</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UBIQUITOUS</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tc>
                  <a:txBody>
                    <a:bodyPr/>
                    <a:lstStyle/>
                    <a:p>
                      <a:pPr algn="ctr">
                        <a:lnSpc>
                          <a:spcPts val="3079"/>
                        </a:lnSpc>
                        <a:defRPr/>
                      </a:pPr>
                      <a:r>
                        <a:rPr lang="en-US" sz="2199" b="1">
                          <a:solidFill>
                            <a:srgbClr val="3D1D66"/>
                          </a:solidFill>
                          <a:latin typeface="Poppins Bold"/>
                          <a:ea typeface="Poppins Bold"/>
                          <a:cs typeface="Poppins Bold"/>
                          <a:sym typeface="Poppins Bold"/>
                        </a:rPr>
                        <a:t>DOMINANT</a:t>
                      </a:r>
                      <a:endParaRPr lang="en-US" sz="1100"/>
                    </a:p>
                  </a:txBody>
                  <a:tcPr marL="190500" marR="190500" marT="190500" marB="190500" anchor="ctr">
                    <a:lnL w="0" cap="flat" cmpd="sng" algn="ctr">
                      <a:solidFill>
                        <a:srgbClr val="FF9999"/>
                      </a:solidFill>
                      <a:prstDash val="solid"/>
                      <a:round/>
                      <a:headEnd type="none" w="med" len="med"/>
                      <a:tailEnd type="none" w="med" len="med"/>
                    </a:lnL>
                    <a:lnR w="0" cap="flat" cmpd="sng" algn="ctr">
                      <a:solidFill>
                        <a:srgbClr val="FF9999"/>
                      </a:solidFill>
                      <a:prstDash val="solid"/>
                      <a:round/>
                      <a:headEnd type="none" w="med" len="med"/>
                      <a:tailEnd type="none" w="med" len="med"/>
                    </a:lnR>
                    <a:lnT w="0" cap="flat" cmpd="sng" algn="ctr">
                      <a:solidFill>
                        <a:srgbClr val="FF9999"/>
                      </a:solidFill>
                      <a:prstDash val="solid"/>
                      <a:round/>
                      <a:headEnd type="none" w="med" len="med"/>
                      <a:tailEnd type="none" w="med" len="med"/>
                    </a:lnT>
                    <a:lnB w="0" cap="flat" cmpd="sng" algn="ctr">
                      <a:solidFill>
                        <a:srgbClr val="FF9999"/>
                      </a:solidFill>
                      <a:prstDash val="solid"/>
                      <a:round/>
                      <a:headEnd type="none" w="med" len="med"/>
                      <a:tailEnd type="none" w="med" len="med"/>
                    </a:lnB>
                    <a:solidFill>
                      <a:srgbClr val="FFE3E3"/>
                    </a:solidFill>
                  </a:tcPr>
                </a:tc>
                <a:extLst>
                  <a:ext uri="{0D108BD9-81ED-4DB2-BD59-A6C34878D82A}">
                    <a16:rowId xmlns:a16="http://schemas.microsoft.com/office/drawing/2014/main" val="10004"/>
                  </a:ext>
                </a:extLst>
              </a:tr>
            </a:tbl>
          </a:graphicData>
        </a:graphic>
      </p:graphicFrame>
      <p:sp>
        <p:nvSpPr>
          <p:cNvPr id="5" name="TextBox 5"/>
          <p:cNvSpPr txBox="1"/>
          <p:nvPr/>
        </p:nvSpPr>
        <p:spPr>
          <a:xfrm>
            <a:off x="861866" y="668336"/>
            <a:ext cx="9862709" cy="739779"/>
          </a:xfrm>
          <a:prstGeom prst="rect">
            <a:avLst/>
          </a:prstGeom>
        </p:spPr>
        <p:txBody>
          <a:bodyPr lIns="0" tIns="0" rIns="0" bIns="0" rtlCol="0" anchor="t">
            <a:spAutoFit/>
          </a:bodyPr>
          <a:lstStyle/>
          <a:p>
            <a:pPr algn="l">
              <a:lnSpc>
                <a:spcPts val="5350"/>
              </a:lnSpc>
            </a:pPr>
            <a:r>
              <a:rPr lang="en-US" sz="5000" b="1">
                <a:solidFill>
                  <a:srgbClr val="FFFFFF"/>
                </a:solidFill>
                <a:latin typeface="Poppins Bold"/>
                <a:ea typeface="Poppins Bold"/>
                <a:cs typeface="Poppins Bold"/>
                <a:sym typeface="Poppins Bold"/>
              </a:rPr>
              <a:t>CHANGING DYNAMICS</a:t>
            </a:r>
          </a:p>
        </p:txBody>
      </p:sp>
      <p:sp>
        <p:nvSpPr>
          <p:cNvPr id="6" name="TextBox 6"/>
          <p:cNvSpPr txBox="1"/>
          <p:nvPr/>
        </p:nvSpPr>
        <p:spPr>
          <a:xfrm>
            <a:off x="3083164" y="8110285"/>
            <a:ext cx="10917115" cy="895886"/>
          </a:xfrm>
          <a:prstGeom prst="rect">
            <a:avLst/>
          </a:prstGeom>
        </p:spPr>
        <p:txBody>
          <a:bodyPr lIns="0" tIns="0" rIns="0" bIns="0" rtlCol="0" anchor="t">
            <a:spAutoFit/>
          </a:bodyPr>
          <a:lstStyle/>
          <a:p>
            <a:pPr marL="280672" lvl="1" algn="l">
              <a:lnSpc>
                <a:spcPts val="3640"/>
              </a:lnSpc>
            </a:pPr>
            <a:r>
              <a:rPr lang="en-US" sz="2600" dirty="0">
                <a:solidFill>
                  <a:srgbClr val="FFFFFF"/>
                </a:solidFill>
                <a:latin typeface="Canva Sans"/>
                <a:ea typeface="Canva Sans"/>
                <a:cs typeface="Canva Sans"/>
                <a:sym typeface="Canva Sans"/>
              </a:rPr>
              <a:t>                                     Cloud computing                   Traditional IT systems</a:t>
            </a:r>
          </a:p>
          <a:p>
            <a:pPr marL="3023872" lvl="7">
              <a:lnSpc>
                <a:spcPts val="3640"/>
              </a:lnSpc>
            </a:pPr>
            <a:r>
              <a:rPr lang="en-US" sz="2600" dirty="0">
                <a:solidFill>
                  <a:srgbClr val="FFFFFF"/>
                </a:solidFill>
                <a:latin typeface="Canva Sans"/>
                <a:ea typeface="Canva Sans"/>
                <a:cs typeface="Canva Sans"/>
                <a:sym typeface="Canva Sans"/>
              </a:rPr>
              <a:t>AI adoption                            cloud integration </a:t>
            </a:r>
          </a:p>
        </p:txBody>
      </p:sp>
      <p:sp>
        <p:nvSpPr>
          <p:cNvPr id="7" name="Arrow: Up 6">
            <a:extLst>
              <a:ext uri="{FF2B5EF4-FFF2-40B4-BE49-F238E27FC236}">
                <a16:creationId xmlns:a16="http://schemas.microsoft.com/office/drawing/2014/main" id="{357B8222-C5C8-FD48-1929-FD33907D23C6}"/>
              </a:ext>
            </a:extLst>
          </p:cNvPr>
          <p:cNvSpPr/>
          <p:nvPr/>
        </p:nvSpPr>
        <p:spPr>
          <a:xfrm>
            <a:off x="5606434" y="8079562"/>
            <a:ext cx="304800" cy="457200"/>
          </a:xfrm>
          <a:prstGeom prst="up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72953B40-BD09-F97C-0A94-006BECB4DA08}"/>
              </a:ext>
            </a:extLst>
          </p:cNvPr>
          <p:cNvSpPr/>
          <p:nvPr/>
        </p:nvSpPr>
        <p:spPr>
          <a:xfrm flipH="1">
            <a:off x="9419538" y="8128739"/>
            <a:ext cx="304801" cy="457200"/>
          </a:xfrm>
          <a:prstGeom prst="down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Up 8">
            <a:extLst>
              <a:ext uri="{FF2B5EF4-FFF2-40B4-BE49-F238E27FC236}">
                <a16:creationId xmlns:a16="http://schemas.microsoft.com/office/drawing/2014/main" id="{D5376F51-58F4-1C4B-C83C-4C9021559F34}"/>
              </a:ext>
            </a:extLst>
          </p:cNvPr>
          <p:cNvSpPr/>
          <p:nvPr/>
        </p:nvSpPr>
        <p:spPr>
          <a:xfrm>
            <a:off x="5640820" y="8520099"/>
            <a:ext cx="304800" cy="457200"/>
          </a:xfrm>
          <a:prstGeom prst="up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Up 9">
            <a:extLst>
              <a:ext uri="{FF2B5EF4-FFF2-40B4-BE49-F238E27FC236}">
                <a16:creationId xmlns:a16="http://schemas.microsoft.com/office/drawing/2014/main" id="{8210F5A6-5038-E396-8797-3901B0057E50}"/>
              </a:ext>
            </a:extLst>
          </p:cNvPr>
          <p:cNvSpPr/>
          <p:nvPr/>
        </p:nvSpPr>
        <p:spPr>
          <a:xfrm>
            <a:off x="9354995" y="8542927"/>
            <a:ext cx="304800" cy="457200"/>
          </a:xfrm>
          <a:prstGeom prst="upArrow">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514350"/>
            <a:ext cx="16230600" cy="1028700"/>
            <a:chOff x="0" y="0"/>
            <a:chExt cx="2287793" cy="145001"/>
          </a:xfrm>
        </p:grpSpPr>
        <p:sp>
          <p:nvSpPr>
            <p:cNvPr id="3" name="Freeform 3"/>
            <p:cNvSpPr/>
            <p:nvPr/>
          </p:nvSpPr>
          <p:spPr>
            <a:xfrm>
              <a:off x="0" y="0"/>
              <a:ext cx="2287793" cy="145001"/>
            </a:xfrm>
            <a:custGeom>
              <a:avLst/>
              <a:gdLst/>
              <a:ahLst/>
              <a:cxnLst/>
              <a:rect l="l" t="t" r="r" b="b"/>
              <a:pathLst>
                <a:path w="2287793" h="145001">
                  <a:moveTo>
                    <a:pt x="9540" y="0"/>
                  </a:moveTo>
                  <a:lnTo>
                    <a:pt x="2278253" y="0"/>
                  </a:lnTo>
                  <a:cubicBezTo>
                    <a:pt x="2280783" y="0"/>
                    <a:pt x="2283209" y="1005"/>
                    <a:pt x="2284999" y="2794"/>
                  </a:cubicBezTo>
                  <a:cubicBezTo>
                    <a:pt x="2286788" y="4583"/>
                    <a:pt x="2287793" y="7010"/>
                    <a:pt x="2287793" y="9540"/>
                  </a:cubicBezTo>
                  <a:lnTo>
                    <a:pt x="2287793" y="135461"/>
                  </a:lnTo>
                  <a:cubicBezTo>
                    <a:pt x="2287793" y="137991"/>
                    <a:pt x="2286788" y="140418"/>
                    <a:pt x="2284999" y="142207"/>
                  </a:cubicBezTo>
                  <a:cubicBezTo>
                    <a:pt x="2283209" y="143996"/>
                    <a:pt x="2280783" y="145001"/>
                    <a:pt x="2278253" y="145001"/>
                  </a:cubicBezTo>
                  <a:lnTo>
                    <a:pt x="9540" y="145001"/>
                  </a:lnTo>
                  <a:cubicBezTo>
                    <a:pt x="4271" y="145001"/>
                    <a:pt x="0" y="140730"/>
                    <a:pt x="0" y="135461"/>
                  </a:cubicBezTo>
                  <a:lnTo>
                    <a:pt x="0" y="9540"/>
                  </a:lnTo>
                  <a:cubicBezTo>
                    <a:pt x="0" y="4271"/>
                    <a:pt x="4271" y="0"/>
                    <a:pt x="9540" y="0"/>
                  </a:cubicBezTo>
                  <a:close/>
                </a:path>
              </a:pathLst>
            </a:custGeom>
            <a:solidFill>
              <a:srgbClr val="244389">
                <a:alpha val="18824"/>
              </a:srgbClr>
            </a:solidFill>
            <a:ln w="38100" cap="sq">
              <a:solidFill>
                <a:srgbClr val="FFFFFF">
                  <a:alpha val="18824"/>
                </a:srgbClr>
              </a:solidFill>
              <a:prstDash val="solid"/>
              <a:miter/>
            </a:ln>
          </p:spPr>
          <p:txBody>
            <a:bodyPr/>
            <a:lstStyle/>
            <a:p>
              <a:endParaRPr lang="en-US"/>
            </a:p>
          </p:txBody>
        </p:sp>
        <p:sp>
          <p:nvSpPr>
            <p:cNvPr id="4" name="TextBox 4"/>
            <p:cNvSpPr txBox="1"/>
            <p:nvPr/>
          </p:nvSpPr>
          <p:spPr>
            <a:xfrm>
              <a:off x="0" y="-38100"/>
              <a:ext cx="2287793" cy="18310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318584" y="860317"/>
            <a:ext cx="336766" cy="336766"/>
          </a:xfrm>
          <a:custGeom>
            <a:avLst/>
            <a:gdLst/>
            <a:ahLst/>
            <a:cxnLst/>
            <a:rect l="l" t="t" r="r" b="b"/>
            <a:pathLst>
              <a:path w="336766" h="336766">
                <a:moveTo>
                  <a:pt x="0" y="0"/>
                </a:moveTo>
                <a:lnTo>
                  <a:pt x="336765" y="0"/>
                </a:lnTo>
                <a:lnTo>
                  <a:pt x="336765" y="336766"/>
                </a:lnTo>
                <a:lnTo>
                  <a:pt x="0" y="3367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488140" y="779906"/>
            <a:ext cx="490819" cy="444414"/>
          </a:xfrm>
          <a:custGeom>
            <a:avLst/>
            <a:gdLst/>
            <a:ahLst/>
            <a:cxnLst/>
            <a:rect l="l" t="t" r="r" b="b"/>
            <a:pathLst>
              <a:path w="490819" h="444414">
                <a:moveTo>
                  <a:pt x="0" y="0"/>
                </a:moveTo>
                <a:lnTo>
                  <a:pt x="490819" y="0"/>
                </a:lnTo>
                <a:lnTo>
                  <a:pt x="490819" y="444414"/>
                </a:lnTo>
                <a:lnTo>
                  <a:pt x="0" y="44441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Freeform 7"/>
          <p:cNvSpPr/>
          <p:nvPr/>
        </p:nvSpPr>
        <p:spPr>
          <a:xfrm>
            <a:off x="-1335365" y="7637170"/>
            <a:ext cx="2823505" cy="1072932"/>
          </a:xfrm>
          <a:custGeom>
            <a:avLst/>
            <a:gdLst/>
            <a:ahLst/>
            <a:cxnLst/>
            <a:rect l="l" t="t" r="r" b="b"/>
            <a:pathLst>
              <a:path w="2823505" h="1072932">
                <a:moveTo>
                  <a:pt x="0" y="0"/>
                </a:moveTo>
                <a:lnTo>
                  <a:pt x="2823505" y="0"/>
                </a:lnTo>
                <a:lnTo>
                  <a:pt x="2823505" y="1072932"/>
                </a:lnTo>
                <a:lnTo>
                  <a:pt x="0" y="1072932"/>
                </a:lnTo>
                <a:lnTo>
                  <a:pt x="0" y="0"/>
                </a:lnTo>
                <a:close/>
              </a:path>
            </a:pathLst>
          </a:custGeom>
          <a:blipFill>
            <a:blip r:embed="rId7">
              <a:alphaModFix amt="30000"/>
              <a:extLst>
                <a:ext uri="{96DAC541-7B7A-43D3-8B79-37D633B846F1}">
                  <asvg:svgBlip xmlns:asvg="http://schemas.microsoft.com/office/drawing/2016/SVG/main" r:embed="rId8"/>
                </a:ext>
              </a:extLst>
            </a:blip>
            <a:stretch>
              <a:fillRect/>
            </a:stretch>
          </a:blipFill>
        </p:spPr>
        <p:txBody>
          <a:bodyPr/>
          <a:lstStyle/>
          <a:p>
            <a:endParaRPr lang="en-US"/>
          </a:p>
        </p:txBody>
      </p:sp>
      <p:sp>
        <p:nvSpPr>
          <p:cNvPr id="8" name="Freeform 8"/>
          <p:cNvSpPr/>
          <p:nvPr/>
        </p:nvSpPr>
        <p:spPr>
          <a:xfrm rot="-5400000">
            <a:off x="1505365" y="3080271"/>
            <a:ext cx="456369" cy="4114800"/>
          </a:xfrm>
          <a:custGeom>
            <a:avLst/>
            <a:gdLst/>
            <a:ahLst/>
            <a:cxnLst/>
            <a:rect l="l" t="t" r="r" b="b"/>
            <a:pathLst>
              <a:path w="456369" h="4114800">
                <a:moveTo>
                  <a:pt x="0" y="0"/>
                </a:moveTo>
                <a:lnTo>
                  <a:pt x="456369" y="0"/>
                </a:lnTo>
                <a:lnTo>
                  <a:pt x="45636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9" name="TextBox 9"/>
          <p:cNvSpPr txBox="1"/>
          <p:nvPr/>
        </p:nvSpPr>
        <p:spPr>
          <a:xfrm>
            <a:off x="2153772" y="880383"/>
            <a:ext cx="4677409" cy="281559"/>
          </a:xfrm>
          <a:prstGeom prst="rect">
            <a:avLst/>
          </a:prstGeom>
        </p:spPr>
        <p:txBody>
          <a:bodyPr lIns="0" tIns="0" rIns="0" bIns="0" rtlCol="0" anchor="t">
            <a:spAutoFit/>
          </a:bodyPr>
          <a:lstStyle/>
          <a:p>
            <a:pPr algn="l">
              <a:lnSpc>
                <a:spcPts val="1953"/>
              </a:lnSpc>
            </a:pPr>
            <a:r>
              <a:rPr lang="en-US" sz="2100" b="1">
                <a:solidFill>
                  <a:srgbClr val="FFFFFF"/>
                </a:solidFill>
                <a:latin typeface="Poppins Bold"/>
                <a:ea typeface="Poppins Bold"/>
                <a:cs typeface="Poppins Bold"/>
                <a:sym typeface="Poppins Bold"/>
              </a:rPr>
              <a:t>GEN AI</a:t>
            </a:r>
          </a:p>
        </p:txBody>
      </p:sp>
      <p:sp>
        <p:nvSpPr>
          <p:cNvPr id="10" name="TextBox 10"/>
          <p:cNvSpPr txBox="1"/>
          <p:nvPr/>
        </p:nvSpPr>
        <p:spPr>
          <a:xfrm>
            <a:off x="1028700" y="1898393"/>
            <a:ext cx="15525750" cy="739779"/>
          </a:xfrm>
          <a:prstGeom prst="rect">
            <a:avLst/>
          </a:prstGeom>
        </p:spPr>
        <p:txBody>
          <a:bodyPr lIns="0" tIns="0" rIns="0" bIns="0" rtlCol="0" anchor="t">
            <a:spAutoFit/>
          </a:bodyPr>
          <a:lstStyle/>
          <a:p>
            <a:pPr algn="l">
              <a:lnSpc>
                <a:spcPts val="5350"/>
              </a:lnSpc>
            </a:pPr>
            <a:r>
              <a:rPr lang="en-US" sz="5000" b="1">
                <a:solidFill>
                  <a:srgbClr val="FFFFFF"/>
                </a:solidFill>
                <a:latin typeface="Poppins Bold"/>
                <a:ea typeface="Poppins Bold"/>
                <a:cs typeface="Poppins Bold"/>
                <a:sym typeface="Poppins Bold"/>
              </a:rPr>
              <a:t>Technological Advancements in Generative AI</a:t>
            </a:r>
          </a:p>
        </p:txBody>
      </p:sp>
      <p:sp>
        <p:nvSpPr>
          <p:cNvPr id="11" name="Freeform 11"/>
          <p:cNvSpPr/>
          <p:nvPr/>
        </p:nvSpPr>
        <p:spPr>
          <a:xfrm rot="-5400000">
            <a:off x="4264292" y="3080271"/>
            <a:ext cx="456369" cy="4114800"/>
          </a:xfrm>
          <a:custGeom>
            <a:avLst/>
            <a:gdLst/>
            <a:ahLst/>
            <a:cxnLst/>
            <a:rect l="l" t="t" r="r" b="b"/>
            <a:pathLst>
              <a:path w="456369" h="4114800">
                <a:moveTo>
                  <a:pt x="0" y="0"/>
                </a:moveTo>
                <a:lnTo>
                  <a:pt x="456369" y="0"/>
                </a:lnTo>
                <a:lnTo>
                  <a:pt x="45636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2" name="Freeform 12"/>
          <p:cNvSpPr/>
          <p:nvPr/>
        </p:nvSpPr>
        <p:spPr>
          <a:xfrm rot="-5400000">
            <a:off x="7585113" y="3080271"/>
            <a:ext cx="456369" cy="4114800"/>
          </a:xfrm>
          <a:custGeom>
            <a:avLst/>
            <a:gdLst/>
            <a:ahLst/>
            <a:cxnLst/>
            <a:rect l="l" t="t" r="r" b="b"/>
            <a:pathLst>
              <a:path w="456369" h="4114800">
                <a:moveTo>
                  <a:pt x="0" y="0"/>
                </a:moveTo>
                <a:lnTo>
                  <a:pt x="456369" y="0"/>
                </a:lnTo>
                <a:lnTo>
                  <a:pt x="45636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3" name="Freeform 13"/>
          <p:cNvSpPr/>
          <p:nvPr/>
        </p:nvSpPr>
        <p:spPr>
          <a:xfrm rot="-5400000">
            <a:off x="10345729" y="3080271"/>
            <a:ext cx="456369" cy="4114800"/>
          </a:xfrm>
          <a:custGeom>
            <a:avLst/>
            <a:gdLst/>
            <a:ahLst/>
            <a:cxnLst/>
            <a:rect l="l" t="t" r="r" b="b"/>
            <a:pathLst>
              <a:path w="456369" h="4114800">
                <a:moveTo>
                  <a:pt x="0" y="0"/>
                </a:moveTo>
                <a:lnTo>
                  <a:pt x="456368" y="0"/>
                </a:lnTo>
                <a:lnTo>
                  <a:pt x="456368"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4" name="Freeform 14"/>
          <p:cNvSpPr/>
          <p:nvPr/>
        </p:nvSpPr>
        <p:spPr>
          <a:xfrm rot="-5400000">
            <a:off x="13339536" y="3086100"/>
            <a:ext cx="456369" cy="4114800"/>
          </a:xfrm>
          <a:custGeom>
            <a:avLst/>
            <a:gdLst/>
            <a:ahLst/>
            <a:cxnLst/>
            <a:rect l="l" t="t" r="r" b="b"/>
            <a:pathLst>
              <a:path w="456369" h="4114800">
                <a:moveTo>
                  <a:pt x="0" y="0"/>
                </a:moveTo>
                <a:lnTo>
                  <a:pt x="456369" y="0"/>
                </a:lnTo>
                <a:lnTo>
                  <a:pt x="45636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5" name="Freeform 15"/>
          <p:cNvSpPr/>
          <p:nvPr/>
        </p:nvSpPr>
        <p:spPr>
          <a:xfrm rot="-5400000">
            <a:off x="16258782" y="3080271"/>
            <a:ext cx="456369" cy="4114800"/>
          </a:xfrm>
          <a:custGeom>
            <a:avLst/>
            <a:gdLst/>
            <a:ahLst/>
            <a:cxnLst/>
            <a:rect l="l" t="t" r="r" b="b"/>
            <a:pathLst>
              <a:path w="456369" h="4114800">
                <a:moveTo>
                  <a:pt x="0" y="0"/>
                </a:moveTo>
                <a:lnTo>
                  <a:pt x="456369" y="0"/>
                </a:lnTo>
                <a:lnTo>
                  <a:pt x="456369"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US"/>
          </a:p>
        </p:txBody>
      </p:sp>
      <p:sp>
        <p:nvSpPr>
          <p:cNvPr id="16" name="TextBox 16"/>
          <p:cNvSpPr txBox="1"/>
          <p:nvPr/>
        </p:nvSpPr>
        <p:spPr>
          <a:xfrm>
            <a:off x="1351061" y="5473891"/>
            <a:ext cx="853560" cy="406458"/>
          </a:xfrm>
          <a:prstGeom prst="rect">
            <a:avLst/>
          </a:prstGeom>
        </p:spPr>
        <p:txBody>
          <a:bodyPr wrap="square" lIns="0" tIns="0" rIns="0" bIns="0" rtlCol="0" anchor="t">
            <a:spAutoFit/>
          </a:bodyPr>
          <a:lstStyle/>
          <a:p>
            <a:pPr algn="ctr">
              <a:lnSpc>
                <a:spcPts val="3360"/>
              </a:lnSpc>
            </a:pPr>
            <a:r>
              <a:rPr lang="en-US" sz="2400" b="1" dirty="0">
                <a:solidFill>
                  <a:srgbClr val="FFFFFF"/>
                </a:solidFill>
                <a:latin typeface="Canva Sans Bold"/>
                <a:ea typeface="Canva Sans Bold"/>
                <a:cs typeface="Canva Sans Bold"/>
                <a:sym typeface="Canva Sans Bold"/>
              </a:rPr>
              <a:t>2020</a:t>
            </a:r>
          </a:p>
        </p:txBody>
      </p:sp>
      <p:sp>
        <p:nvSpPr>
          <p:cNvPr id="17" name="TextBox 17"/>
          <p:cNvSpPr txBox="1"/>
          <p:nvPr/>
        </p:nvSpPr>
        <p:spPr>
          <a:xfrm>
            <a:off x="4136003" y="5473891"/>
            <a:ext cx="712946" cy="396238"/>
          </a:xfrm>
          <a:prstGeom prst="rect">
            <a:avLst/>
          </a:prstGeom>
        </p:spPr>
        <p:txBody>
          <a:bodyPr lIns="0" tIns="0" rIns="0" bIns="0" rtlCol="0" anchor="t">
            <a:spAutoFit/>
          </a:bodyPr>
          <a:lstStyle/>
          <a:p>
            <a:pPr algn="ctr">
              <a:lnSpc>
                <a:spcPts val="3360"/>
              </a:lnSpc>
            </a:pPr>
            <a:r>
              <a:rPr lang="en-US" sz="2400" b="1">
                <a:solidFill>
                  <a:srgbClr val="FFFFFF"/>
                </a:solidFill>
                <a:latin typeface="Canva Sans Bold"/>
                <a:ea typeface="Canva Sans Bold"/>
                <a:cs typeface="Canva Sans Bold"/>
                <a:sym typeface="Canva Sans Bold"/>
              </a:rPr>
              <a:t>2021</a:t>
            </a:r>
          </a:p>
        </p:txBody>
      </p:sp>
      <p:sp>
        <p:nvSpPr>
          <p:cNvPr id="18" name="TextBox 18"/>
          <p:cNvSpPr txBox="1"/>
          <p:nvPr/>
        </p:nvSpPr>
        <p:spPr>
          <a:xfrm>
            <a:off x="7452240" y="5473891"/>
            <a:ext cx="853560" cy="406458"/>
          </a:xfrm>
          <a:prstGeom prst="rect">
            <a:avLst/>
          </a:prstGeom>
        </p:spPr>
        <p:txBody>
          <a:bodyPr wrap="square" lIns="0" tIns="0" rIns="0" bIns="0" rtlCol="0" anchor="t">
            <a:spAutoFit/>
          </a:bodyPr>
          <a:lstStyle/>
          <a:p>
            <a:pPr algn="ctr">
              <a:lnSpc>
                <a:spcPts val="3360"/>
              </a:lnSpc>
            </a:pPr>
            <a:r>
              <a:rPr lang="en-US" sz="2400" b="1">
                <a:solidFill>
                  <a:srgbClr val="FFFFFF"/>
                </a:solidFill>
                <a:latin typeface="Canva Sans Bold"/>
                <a:ea typeface="Canva Sans Bold"/>
                <a:cs typeface="Canva Sans Bold"/>
                <a:sym typeface="Canva Sans Bold"/>
              </a:rPr>
              <a:t>2022</a:t>
            </a:r>
          </a:p>
        </p:txBody>
      </p:sp>
      <p:sp>
        <p:nvSpPr>
          <p:cNvPr id="19" name="TextBox 19"/>
          <p:cNvSpPr txBox="1"/>
          <p:nvPr/>
        </p:nvSpPr>
        <p:spPr>
          <a:xfrm>
            <a:off x="10209906" y="5473891"/>
            <a:ext cx="732473" cy="396238"/>
          </a:xfrm>
          <a:prstGeom prst="rect">
            <a:avLst/>
          </a:prstGeom>
        </p:spPr>
        <p:txBody>
          <a:bodyPr lIns="0" tIns="0" rIns="0" bIns="0" rtlCol="0" anchor="t">
            <a:spAutoFit/>
          </a:bodyPr>
          <a:lstStyle/>
          <a:p>
            <a:pPr algn="ctr">
              <a:lnSpc>
                <a:spcPts val="3360"/>
              </a:lnSpc>
            </a:pPr>
            <a:r>
              <a:rPr lang="en-US" sz="2400" b="1">
                <a:solidFill>
                  <a:srgbClr val="FFFFFF"/>
                </a:solidFill>
                <a:latin typeface="Canva Sans Bold"/>
                <a:ea typeface="Canva Sans Bold"/>
                <a:cs typeface="Canva Sans Bold"/>
                <a:sym typeface="Canva Sans Bold"/>
              </a:rPr>
              <a:t>2023</a:t>
            </a:r>
          </a:p>
        </p:txBody>
      </p:sp>
      <p:sp>
        <p:nvSpPr>
          <p:cNvPr id="20" name="TextBox 20"/>
          <p:cNvSpPr txBox="1"/>
          <p:nvPr/>
        </p:nvSpPr>
        <p:spPr>
          <a:xfrm>
            <a:off x="13147337" y="5473891"/>
            <a:ext cx="741998" cy="396238"/>
          </a:xfrm>
          <a:prstGeom prst="rect">
            <a:avLst/>
          </a:prstGeom>
        </p:spPr>
        <p:txBody>
          <a:bodyPr lIns="0" tIns="0" rIns="0" bIns="0" rtlCol="0" anchor="t">
            <a:spAutoFit/>
          </a:bodyPr>
          <a:lstStyle/>
          <a:p>
            <a:pPr algn="ctr">
              <a:lnSpc>
                <a:spcPts val="3360"/>
              </a:lnSpc>
            </a:pPr>
            <a:r>
              <a:rPr lang="en-US" sz="2400" b="1">
                <a:solidFill>
                  <a:srgbClr val="FFFFFF"/>
                </a:solidFill>
                <a:latin typeface="Canva Sans Bold"/>
                <a:ea typeface="Canva Sans Bold"/>
                <a:cs typeface="Canva Sans Bold"/>
                <a:sym typeface="Canva Sans Bold"/>
              </a:rPr>
              <a:t>2024</a:t>
            </a:r>
          </a:p>
        </p:txBody>
      </p:sp>
      <p:sp>
        <p:nvSpPr>
          <p:cNvPr id="21" name="TextBox 21"/>
          <p:cNvSpPr txBox="1"/>
          <p:nvPr/>
        </p:nvSpPr>
        <p:spPr>
          <a:xfrm>
            <a:off x="16104254" y="5473891"/>
            <a:ext cx="832685" cy="406458"/>
          </a:xfrm>
          <a:prstGeom prst="rect">
            <a:avLst/>
          </a:prstGeom>
        </p:spPr>
        <p:txBody>
          <a:bodyPr wrap="square" lIns="0" tIns="0" rIns="0" bIns="0" rtlCol="0" anchor="t">
            <a:spAutoFit/>
          </a:bodyPr>
          <a:lstStyle/>
          <a:p>
            <a:pPr algn="ctr">
              <a:lnSpc>
                <a:spcPts val="3360"/>
              </a:lnSpc>
            </a:pPr>
            <a:r>
              <a:rPr lang="en-US" sz="2400" b="1" dirty="0">
                <a:solidFill>
                  <a:srgbClr val="FFFFFF"/>
                </a:solidFill>
                <a:latin typeface="Canva Sans Bold"/>
                <a:ea typeface="Canva Sans Bold"/>
                <a:cs typeface="Canva Sans Bold"/>
                <a:sym typeface="Canva Sans Bold"/>
              </a:rPr>
              <a:t>2025</a:t>
            </a:r>
          </a:p>
        </p:txBody>
      </p:sp>
      <p:sp>
        <p:nvSpPr>
          <p:cNvPr id="22" name="TextBox 22"/>
          <p:cNvSpPr txBox="1"/>
          <p:nvPr/>
        </p:nvSpPr>
        <p:spPr>
          <a:xfrm>
            <a:off x="719795" y="5987481"/>
            <a:ext cx="2027508" cy="989964"/>
          </a:xfrm>
          <a:prstGeom prst="rect">
            <a:avLst/>
          </a:prstGeom>
        </p:spPr>
        <p:txBody>
          <a:bodyPr lIns="0" tIns="0" rIns="0" bIns="0" rtlCol="0" anchor="t">
            <a:spAutoFit/>
          </a:bodyPr>
          <a:lstStyle/>
          <a:p>
            <a:pPr algn="ctr">
              <a:lnSpc>
                <a:spcPts val="2660"/>
              </a:lnSpc>
            </a:pPr>
            <a:r>
              <a:rPr lang="en-US" sz="1900">
                <a:solidFill>
                  <a:srgbClr val="FFFFFF"/>
                </a:solidFill>
                <a:latin typeface="Canva Sans"/>
                <a:ea typeface="Canva Sans"/>
                <a:cs typeface="Canva Sans"/>
                <a:sym typeface="Canva Sans"/>
              </a:rPr>
              <a:t>GANs improvement by NVIDIA</a:t>
            </a:r>
          </a:p>
        </p:txBody>
      </p:sp>
      <p:sp>
        <p:nvSpPr>
          <p:cNvPr id="23" name="TextBox 23"/>
          <p:cNvSpPr txBox="1"/>
          <p:nvPr/>
        </p:nvSpPr>
        <p:spPr>
          <a:xfrm>
            <a:off x="3478723" y="5987481"/>
            <a:ext cx="2027508" cy="656589"/>
          </a:xfrm>
          <a:prstGeom prst="rect">
            <a:avLst/>
          </a:prstGeom>
        </p:spPr>
        <p:txBody>
          <a:bodyPr lIns="0" tIns="0" rIns="0" bIns="0" rtlCol="0" anchor="t">
            <a:spAutoFit/>
          </a:bodyPr>
          <a:lstStyle/>
          <a:p>
            <a:pPr algn="ctr">
              <a:lnSpc>
                <a:spcPts val="2660"/>
              </a:lnSpc>
            </a:pPr>
            <a:r>
              <a:rPr lang="en-US" sz="1900">
                <a:solidFill>
                  <a:srgbClr val="FFFFFF"/>
                </a:solidFill>
                <a:latin typeface="Canva Sans"/>
                <a:ea typeface="Canva Sans"/>
                <a:cs typeface="Canva Sans"/>
                <a:sym typeface="Canva Sans"/>
              </a:rPr>
              <a:t> DALL-E and CLIP by OPENAI</a:t>
            </a:r>
          </a:p>
        </p:txBody>
      </p:sp>
      <p:sp>
        <p:nvSpPr>
          <p:cNvPr id="24" name="TextBox 24"/>
          <p:cNvSpPr txBox="1"/>
          <p:nvPr/>
        </p:nvSpPr>
        <p:spPr>
          <a:xfrm>
            <a:off x="6831181" y="5974905"/>
            <a:ext cx="2027508" cy="989964"/>
          </a:xfrm>
          <a:prstGeom prst="rect">
            <a:avLst/>
          </a:prstGeom>
        </p:spPr>
        <p:txBody>
          <a:bodyPr lIns="0" tIns="0" rIns="0" bIns="0" rtlCol="0" anchor="t">
            <a:spAutoFit/>
          </a:bodyPr>
          <a:lstStyle/>
          <a:p>
            <a:pPr algn="ctr">
              <a:lnSpc>
                <a:spcPts val="2660"/>
              </a:lnSpc>
            </a:pPr>
            <a:r>
              <a:rPr lang="en-US" sz="1900" dirty="0">
                <a:solidFill>
                  <a:srgbClr val="FFFFFF"/>
                </a:solidFill>
                <a:latin typeface="Canva Sans"/>
                <a:ea typeface="Canva Sans"/>
                <a:cs typeface="Canva Sans"/>
                <a:sym typeface="Canva Sans"/>
              </a:rPr>
              <a:t> CHATGPT release by OPENAI</a:t>
            </a:r>
          </a:p>
        </p:txBody>
      </p:sp>
      <p:sp>
        <p:nvSpPr>
          <p:cNvPr id="25" name="TextBox 25"/>
          <p:cNvSpPr txBox="1"/>
          <p:nvPr/>
        </p:nvSpPr>
        <p:spPr>
          <a:xfrm>
            <a:off x="9592114" y="5987481"/>
            <a:ext cx="2027508" cy="656589"/>
          </a:xfrm>
          <a:prstGeom prst="rect">
            <a:avLst/>
          </a:prstGeom>
        </p:spPr>
        <p:txBody>
          <a:bodyPr lIns="0" tIns="0" rIns="0" bIns="0" rtlCol="0" anchor="t">
            <a:spAutoFit/>
          </a:bodyPr>
          <a:lstStyle/>
          <a:p>
            <a:pPr algn="ctr">
              <a:lnSpc>
                <a:spcPts val="2660"/>
              </a:lnSpc>
            </a:pPr>
            <a:r>
              <a:rPr lang="en-US" sz="1900">
                <a:solidFill>
                  <a:srgbClr val="FFFFFF"/>
                </a:solidFill>
                <a:latin typeface="Canva Sans"/>
                <a:ea typeface="Canva Sans"/>
                <a:cs typeface="Canva Sans"/>
                <a:sym typeface="Canva Sans"/>
              </a:rPr>
              <a:t> GPT-4 release by OPENAI</a:t>
            </a:r>
          </a:p>
        </p:txBody>
      </p:sp>
      <p:sp>
        <p:nvSpPr>
          <p:cNvPr id="26" name="TextBox 26"/>
          <p:cNvSpPr txBox="1"/>
          <p:nvPr/>
        </p:nvSpPr>
        <p:spPr>
          <a:xfrm>
            <a:off x="12553966" y="5987481"/>
            <a:ext cx="2027508" cy="989964"/>
          </a:xfrm>
          <a:prstGeom prst="rect">
            <a:avLst/>
          </a:prstGeom>
        </p:spPr>
        <p:txBody>
          <a:bodyPr lIns="0" tIns="0" rIns="0" bIns="0" rtlCol="0" anchor="t">
            <a:spAutoFit/>
          </a:bodyPr>
          <a:lstStyle/>
          <a:p>
            <a:pPr algn="ctr">
              <a:lnSpc>
                <a:spcPts val="2660"/>
              </a:lnSpc>
            </a:pPr>
            <a:r>
              <a:rPr lang="en-US" sz="1900">
                <a:solidFill>
                  <a:srgbClr val="FFFFFF"/>
                </a:solidFill>
                <a:latin typeface="Canva Sans"/>
                <a:ea typeface="Canva Sans"/>
                <a:cs typeface="Canva Sans"/>
                <a:sym typeface="Canva Sans"/>
              </a:rPr>
              <a:t> CHATGPT-5 and Orion expected release</a:t>
            </a:r>
          </a:p>
        </p:txBody>
      </p:sp>
      <p:sp>
        <p:nvSpPr>
          <p:cNvPr id="27" name="TextBox 27"/>
          <p:cNvSpPr txBox="1"/>
          <p:nvPr/>
        </p:nvSpPr>
        <p:spPr>
          <a:xfrm>
            <a:off x="15540696" y="5987481"/>
            <a:ext cx="2027508" cy="989964"/>
          </a:xfrm>
          <a:prstGeom prst="rect">
            <a:avLst/>
          </a:prstGeom>
        </p:spPr>
        <p:txBody>
          <a:bodyPr lIns="0" tIns="0" rIns="0" bIns="0" rtlCol="0" anchor="t">
            <a:spAutoFit/>
          </a:bodyPr>
          <a:lstStyle/>
          <a:p>
            <a:pPr algn="ctr">
              <a:lnSpc>
                <a:spcPts val="2660"/>
              </a:lnSpc>
            </a:pPr>
            <a:r>
              <a:rPr lang="en-US" sz="1900">
                <a:solidFill>
                  <a:srgbClr val="FFFFFF"/>
                </a:solidFill>
                <a:latin typeface="Canva Sans"/>
                <a:ea typeface="Canva Sans"/>
                <a:cs typeface="Canva Sans"/>
                <a:sym typeface="Canva Sans"/>
              </a:rPr>
              <a:t>Increased adoption of diffusion models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rgbClr val="0C131D">
                <a:alpha val="100000"/>
              </a:srgbClr>
            </a:gs>
            <a:gs pos="100000">
              <a:srgbClr val="0F2E4A">
                <a:alpha val="100000"/>
              </a:srgbClr>
            </a:gs>
          </a:gsLst>
          <a:lin ang="0"/>
        </a:gradFill>
        <a:effectLst/>
      </p:bgPr>
    </p:bg>
    <p:spTree>
      <p:nvGrpSpPr>
        <p:cNvPr id="1" name=""/>
        <p:cNvGrpSpPr/>
        <p:nvPr/>
      </p:nvGrpSpPr>
      <p:grpSpPr>
        <a:xfrm>
          <a:off x="0" y="0"/>
          <a:ext cx="0" cy="0"/>
          <a:chOff x="0" y="0"/>
          <a:chExt cx="0" cy="0"/>
        </a:xfrm>
      </p:grpSpPr>
      <p:grpSp>
        <p:nvGrpSpPr>
          <p:cNvPr id="2" name="Group 2"/>
          <p:cNvGrpSpPr/>
          <p:nvPr/>
        </p:nvGrpSpPr>
        <p:grpSpPr>
          <a:xfrm>
            <a:off x="1028700" y="514350"/>
            <a:ext cx="16230600" cy="1028700"/>
            <a:chOff x="0" y="0"/>
            <a:chExt cx="2287793" cy="145001"/>
          </a:xfrm>
        </p:grpSpPr>
        <p:sp>
          <p:nvSpPr>
            <p:cNvPr id="3" name="Freeform 3"/>
            <p:cNvSpPr/>
            <p:nvPr/>
          </p:nvSpPr>
          <p:spPr>
            <a:xfrm>
              <a:off x="0" y="0"/>
              <a:ext cx="2287793" cy="145001"/>
            </a:xfrm>
            <a:custGeom>
              <a:avLst/>
              <a:gdLst/>
              <a:ahLst/>
              <a:cxnLst/>
              <a:rect l="l" t="t" r="r" b="b"/>
              <a:pathLst>
                <a:path w="2287793" h="145001">
                  <a:moveTo>
                    <a:pt x="9540" y="0"/>
                  </a:moveTo>
                  <a:lnTo>
                    <a:pt x="2278253" y="0"/>
                  </a:lnTo>
                  <a:cubicBezTo>
                    <a:pt x="2280783" y="0"/>
                    <a:pt x="2283209" y="1005"/>
                    <a:pt x="2284999" y="2794"/>
                  </a:cubicBezTo>
                  <a:cubicBezTo>
                    <a:pt x="2286788" y="4583"/>
                    <a:pt x="2287793" y="7010"/>
                    <a:pt x="2287793" y="9540"/>
                  </a:cubicBezTo>
                  <a:lnTo>
                    <a:pt x="2287793" y="135461"/>
                  </a:lnTo>
                  <a:cubicBezTo>
                    <a:pt x="2287793" y="137991"/>
                    <a:pt x="2286788" y="140418"/>
                    <a:pt x="2284999" y="142207"/>
                  </a:cubicBezTo>
                  <a:cubicBezTo>
                    <a:pt x="2283209" y="143996"/>
                    <a:pt x="2280783" y="145001"/>
                    <a:pt x="2278253" y="145001"/>
                  </a:cubicBezTo>
                  <a:lnTo>
                    <a:pt x="9540" y="145001"/>
                  </a:lnTo>
                  <a:cubicBezTo>
                    <a:pt x="4271" y="145001"/>
                    <a:pt x="0" y="140730"/>
                    <a:pt x="0" y="135461"/>
                  </a:cubicBezTo>
                  <a:lnTo>
                    <a:pt x="0" y="9540"/>
                  </a:lnTo>
                  <a:cubicBezTo>
                    <a:pt x="0" y="4271"/>
                    <a:pt x="4271" y="0"/>
                    <a:pt x="9540" y="0"/>
                  </a:cubicBezTo>
                  <a:close/>
                </a:path>
              </a:pathLst>
            </a:custGeom>
            <a:solidFill>
              <a:srgbClr val="244389">
                <a:alpha val="18824"/>
              </a:srgbClr>
            </a:solidFill>
            <a:ln w="38100" cap="sq">
              <a:solidFill>
                <a:srgbClr val="FFFFFF">
                  <a:alpha val="18824"/>
                </a:srgbClr>
              </a:solidFill>
              <a:prstDash val="solid"/>
              <a:miter/>
            </a:ln>
          </p:spPr>
          <p:txBody>
            <a:bodyPr/>
            <a:lstStyle/>
            <a:p>
              <a:endParaRPr lang="en-US"/>
            </a:p>
          </p:txBody>
        </p:sp>
        <p:sp>
          <p:nvSpPr>
            <p:cNvPr id="4" name="TextBox 4"/>
            <p:cNvSpPr txBox="1"/>
            <p:nvPr/>
          </p:nvSpPr>
          <p:spPr>
            <a:xfrm>
              <a:off x="0" y="-38100"/>
              <a:ext cx="2287793" cy="183101"/>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6318584" y="860317"/>
            <a:ext cx="336766" cy="336766"/>
          </a:xfrm>
          <a:custGeom>
            <a:avLst/>
            <a:gdLst/>
            <a:ahLst/>
            <a:cxnLst/>
            <a:rect l="l" t="t" r="r" b="b"/>
            <a:pathLst>
              <a:path w="336766" h="336766">
                <a:moveTo>
                  <a:pt x="0" y="0"/>
                </a:moveTo>
                <a:lnTo>
                  <a:pt x="336765" y="0"/>
                </a:lnTo>
                <a:lnTo>
                  <a:pt x="336765" y="336766"/>
                </a:lnTo>
                <a:lnTo>
                  <a:pt x="0" y="33676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a:off x="1488140" y="779906"/>
            <a:ext cx="490819" cy="444414"/>
          </a:xfrm>
          <a:custGeom>
            <a:avLst/>
            <a:gdLst/>
            <a:ahLst/>
            <a:cxnLst/>
            <a:rect l="l" t="t" r="r" b="b"/>
            <a:pathLst>
              <a:path w="490819" h="444414">
                <a:moveTo>
                  <a:pt x="0" y="0"/>
                </a:moveTo>
                <a:lnTo>
                  <a:pt x="490819" y="0"/>
                </a:lnTo>
                <a:lnTo>
                  <a:pt x="490819" y="444414"/>
                </a:lnTo>
                <a:lnTo>
                  <a:pt x="0" y="44441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7" name="TextBox 7"/>
          <p:cNvSpPr txBox="1"/>
          <p:nvPr/>
        </p:nvSpPr>
        <p:spPr>
          <a:xfrm>
            <a:off x="2153772" y="880383"/>
            <a:ext cx="4677409" cy="281559"/>
          </a:xfrm>
          <a:prstGeom prst="rect">
            <a:avLst/>
          </a:prstGeom>
        </p:spPr>
        <p:txBody>
          <a:bodyPr lIns="0" tIns="0" rIns="0" bIns="0" rtlCol="0" anchor="t">
            <a:spAutoFit/>
          </a:bodyPr>
          <a:lstStyle/>
          <a:p>
            <a:pPr algn="l">
              <a:lnSpc>
                <a:spcPts val="1953"/>
              </a:lnSpc>
            </a:pPr>
            <a:r>
              <a:rPr lang="en-US" sz="2100" b="1">
                <a:solidFill>
                  <a:srgbClr val="FFFFFF"/>
                </a:solidFill>
                <a:latin typeface="Poppins Bold"/>
                <a:ea typeface="Poppins Bold"/>
                <a:cs typeface="Poppins Bold"/>
                <a:sym typeface="Poppins Bold"/>
              </a:rPr>
              <a:t>GEN AI</a:t>
            </a:r>
          </a:p>
        </p:txBody>
      </p:sp>
      <p:sp>
        <p:nvSpPr>
          <p:cNvPr id="8" name="TextBox 8"/>
          <p:cNvSpPr txBox="1"/>
          <p:nvPr/>
        </p:nvSpPr>
        <p:spPr>
          <a:xfrm>
            <a:off x="1978959" y="2233920"/>
            <a:ext cx="11289275" cy="739779"/>
          </a:xfrm>
          <a:prstGeom prst="rect">
            <a:avLst/>
          </a:prstGeom>
        </p:spPr>
        <p:txBody>
          <a:bodyPr lIns="0" tIns="0" rIns="0" bIns="0" rtlCol="0" anchor="t">
            <a:spAutoFit/>
          </a:bodyPr>
          <a:lstStyle/>
          <a:p>
            <a:pPr algn="l">
              <a:lnSpc>
                <a:spcPts val="5350"/>
              </a:lnSpc>
            </a:pPr>
            <a:r>
              <a:rPr lang="en-US" sz="5000" b="1" dirty="0">
                <a:solidFill>
                  <a:srgbClr val="FFFFFF"/>
                </a:solidFill>
                <a:latin typeface="Poppins Bold"/>
                <a:ea typeface="Poppins Bold"/>
                <a:cs typeface="Poppins Bold"/>
                <a:sym typeface="Poppins Bold"/>
              </a:rPr>
              <a:t>WAY FORWARD and CONCLUSION</a:t>
            </a:r>
          </a:p>
        </p:txBody>
      </p:sp>
      <p:sp>
        <p:nvSpPr>
          <p:cNvPr id="10" name="Freeform 10"/>
          <p:cNvSpPr/>
          <p:nvPr/>
        </p:nvSpPr>
        <p:spPr>
          <a:xfrm flipH="1">
            <a:off x="15007655" y="1837212"/>
            <a:ext cx="5447285" cy="891374"/>
          </a:xfrm>
          <a:custGeom>
            <a:avLst/>
            <a:gdLst/>
            <a:ahLst/>
            <a:cxnLst/>
            <a:rect l="l" t="t" r="r" b="b"/>
            <a:pathLst>
              <a:path w="5447285" h="891374">
                <a:moveTo>
                  <a:pt x="5447285" y="0"/>
                </a:moveTo>
                <a:lnTo>
                  <a:pt x="0" y="0"/>
                </a:lnTo>
                <a:lnTo>
                  <a:pt x="0" y="891373"/>
                </a:lnTo>
                <a:lnTo>
                  <a:pt x="5447285" y="891373"/>
                </a:lnTo>
                <a:lnTo>
                  <a:pt x="5447285" y="0"/>
                </a:lnTo>
                <a:close/>
              </a:path>
            </a:pathLst>
          </a:custGeom>
          <a:blipFill>
            <a:blip r:embed="rId7">
              <a:alphaModFix amt="30000"/>
              <a:extLst>
                <a:ext uri="{96DAC541-7B7A-43D3-8B79-37D633B846F1}">
                  <asvg:svgBlip xmlns:asvg="http://schemas.microsoft.com/office/drawing/2016/SVG/main" r:embed="rId8"/>
                </a:ext>
              </a:extLst>
            </a:blip>
            <a:stretch>
              <a:fillRect/>
            </a:stretch>
          </a:blipFill>
        </p:spPr>
        <p:txBody>
          <a:bodyPr/>
          <a:lstStyle/>
          <a:p>
            <a:endParaRPr lang="en-US"/>
          </a:p>
        </p:txBody>
      </p:sp>
      <p:pic>
        <p:nvPicPr>
          <p:cNvPr id="1026" name="Picture 2" descr="senayakut.com">
            <a:extLst>
              <a:ext uri="{FF2B5EF4-FFF2-40B4-BE49-F238E27FC236}">
                <a16:creationId xmlns:a16="http://schemas.microsoft.com/office/drawing/2014/main" id="{5EB37C0F-2088-2A11-445C-C3B297A67F1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029449" y="3022748"/>
            <a:ext cx="10229851" cy="5775931"/>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6">
            <a:extLst>
              <a:ext uri="{FF2B5EF4-FFF2-40B4-BE49-F238E27FC236}">
                <a16:creationId xmlns:a16="http://schemas.microsoft.com/office/drawing/2014/main" id="{350AEC14-FB64-EDFC-EC2F-849EAD3D6457}"/>
              </a:ext>
            </a:extLst>
          </p:cNvPr>
          <p:cNvSpPr txBox="1"/>
          <p:nvPr/>
        </p:nvSpPr>
        <p:spPr>
          <a:xfrm>
            <a:off x="395968" y="4381457"/>
            <a:ext cx="6400800" cy="2278957"/>
          </a:xfrm>
          <a:prstGeom prst="rect">
            <a:avLst/>
          </a:prstGeom>
        </p:spPr>
        <p:txBody>
          <a:bodyPr wrap="square" lIns="0" tIns="0" rIns="0" bIns="0" rtlCol="0" anchor="t">
            <a:spAutoFit/>
          </a:bodyPr>
          <a:lstStyle/>
          <a:p>
            <a:pPr marL="561344" lvl="1" indent="-280672" algn="l">
              <a:lnSpc>
                <a:spcPts val="3640"/>
              </a:lnSpc>
              <a:buFont typeface="Arial"/>
              <a:buChar char="•"/>
            </a:pPr>
            <a:r>
              <a:rPr lang="en-US" sz="2800" b="0" i="0" dirty="0">
                <a:solidFill>
                  <a:schemeClr val="bg1"/>
                </a:solidFill>
                <a:effectLst/>
                <a:latin typeface="__fkGroteskNeue_598ab8"/>
              </a:rPr>
              <a:t>Employing </a:t>
            </a:r>
            <a:r>
              <a:rPr lang="en-US" sz="2800" b="0" i="0" dirty="0" err="1">
                <a:solidFill>
                  <a:schemeClr val="bg1"/>
                </a:solidFill>
                <a:effectLst/>
                <a:latin typeface="__fkGroteskNeue_598ab8"/>
              </a:rPr>
              <a:t>LoRA</a:t>
            </a:r>
            <a:r>
              <a:rPr lang="en-US" sz="2800" b="0" i="0" dirty="0">
                <a:solidFill>
                  <a:schemeClr val="bg1"/>
                </a:solidFill>
                <a:effectLst/>
                <a:latin typeface="__fkGroteskNeue_598ab8"/>
              </a:rPr>
              <a:t> for efficient fine-tuning</a:t>
            </a:r>
          </a:p>
          <a:p>
            <a:pPr marL="561344" lvl="1" indent="-280672" algn="l">
              <a:lnSpc>
                <a:spcPts val="3640"/>
              </a:lnSpc>
              <a:buFont typeface="Arial"/>
              <a:buChar char="•"/>
            </a:pPr>
            <a:r>
              <a:rPr lang="en-US" sz="2800" b="0" i="0" dirty="0">
                <a:solidFill>
                  <a:schemeClr val="bg1"/>
                </a:solidFill>
                <a:effectLst/>
                <a:latin typeface="__fkGroteskNeue_598ab8"/>
              </a:rPr>
              <a:t>Using platforms like Hugging Face or custom ChatGPT applications to build domain-specific solutions</a:t>
            </a:r>
          </a:p>
          <a:p>
            <a:pPr marL="561344" lvl="1" indent="-280672" algn="l">
              <a:lnSpc>
                <a:spcPts val="3640"/>
              </a:lnSpc>
              <a:buFont typeface="Arial"/>
              <a:buChar char="•"/>
            </a:pPr>
            <a:endParaRPr lang="en-US" sz="2600" dirty="0">
              <a:solidFill>
                <a:schemeClr val="bg1"/>
              </a:solidFill>
              <a:latin typeface="Canva Sans"/>
              <a:ea typeface="Canva Sans"/>
              <a:cs typeface="Canva Sans"/>
              <a:sym typeface="Canv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C64CE99-2615-AE44-B780-8D2AF83AB3B9}"/>
              </a:ext>
            </a:extLst>
          </p:cNvPr>
          <p:cNvSpPr txBox="1"/>
          <p:nvPr/>
        </p:nvSpPr>
        <p:spPr>
          <a:xfrm>
            <a:off x="3886200" y="1790700"/>
            <a:ext cx="1262525" cy="1477328"/>
          </a:xfrm>
          <a:prstGeom prst="rect">
            <a:avLst/>
          </a:prstGeom>
          <a:noFill/>
        </p:spPr>
        <p:txBody>
          <a:bodyPr wrap="none" rtlCol="0">
            <a:spAutoFit/>
          </a:bodyPr>
          <a:lstStyle/>
          <a:p>
            <a:r>
              <a:rPr lang="en-US" dirty="0"/>
              <a:t>Future Jobs</a:t>
            </a:r>
          </a:p>
          <a:p>
            <a:endParaRPr lang="en-US" dirty="0"/>
          </a:p>
          <a:p>
            <a:endParaRPr lang="en-US" dirty="0"/>
          </a:p>
          <a:p>
            <a:endParaRPr lang="en-US" dirty="0"/>
          </a:p>
          <a:p>
            <a:endParaRPr lang="en-US" dirty="0"/>
          </a:p>
        </p:txBody>
      </p:sp>
      <p:sp>
        <p:nvSpPr>
          <p:cNvPr id="3" name="Rectangle 1">
            <a:extLst>
              <a:ext uri="{FF2B5EF4-FFF2-40B4-BE49-F238E27FC236}">
                <a16:creationId xmlns:a16="http://schemas.microsoft.com/office/drawing/2014/main" id="{116FA0E4-49ED-6EC2-7DEA-D63052E3CB43}"/>
              </a:ext>
            </a:extLst>
          </p:cNvPr>
          <p:cNvSpPr>
            <a:spLocks noChangeArrowheads="1"/>
          </p:cNvSpPr>
          <p:nvPr/>
        </p:nvSpPr>
        <p:spPr bwMode="auto">
          <a:xfrm>
            <a:off x="3886200" y="369570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Scientist</a:t>
            </a:r>
            <a:r>
              <a:rPr kumimoji="0" lang="en-US" altLang="en-US" sz="1800" b="0" i="0" u="none" strike="noStrike" cap="none" normalizeH="0" baseline="0" dirty="0">
                <a:ln>
                  <a:noFill/>
                </a:ln>
                <a:solidFill>
                  <a:schemeClr val="tx1"/>
                </a:solidFill>
                <a:effectLst/>
                <a:latin typeface="Arial" panose="020B0604020202020204" pitchFamily="34" charset="0"/>
              </a:rPr>
              <a:t>: Analyzing large datasets to derive insights and build predictive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Engineer</a:t>
            </a:r>
            <a:r>
              <a:rPr kumimoji="0" lang="en-US" altLang="en-US" sz="1800" b="0" i="0" u="none" strike="noStrike" cap="none" normalizeH="0" baseline="0" dirty="0">
                <a:ln>
                  <a:noFill/>
                </a:ln>
                <a:solidFill>
                  <a:schemeClr val="tx1"/>
                </a:solidFill>
                <a:effectLst/>
                <a:latin typeface="Arial" panose="020B0604020202020204" pitchFamily="34" charset="0"/>
              </a:rPr>
              <a:t>: Designing and implementing AI systems and algorithms.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Machine Learning Engineer</a:t>
            </a:r>
            <a:r>
              <a:rPr kumimoji="0" lang="en-US" altLang="en-US" sz="1800" b="0" i="0" u="none" strike="noStrike" cap="none" normalizeH="0" baseline="0" dirty="0">
                <a:ln>
                  <a:noFill/>
                </a:ln>
                <a:solidFill>
                  <a:schemeClr val="tx1"/>
                </a:solidFill>
                <a:effectLst/>
                <a:latin typeface="Arial" panose="020B0604020202020204" pitchFamily="34" charset="0"/>
              </a:rPr>
              <a:t>: Developing and training machine learning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Ethicist</a:t>
            </a:r>
            <a:r>
              <a:rPr kumimoji="0" lang="en-US" altLang="en-US" sz="1800" b="0" i="0" u="none" strike="noStrike" cap="none" normalizeH="0" baseline="0" dirty="0">
                <a:ln>
                  <a:noFill/>
                </a:ln>
                <a:solidFill>
                  <a:schemeClr val="tx1"/>
                </a:solidFill>
                <a:effectLst/>
                <a:latin typeface="Arial" panose="020B0604020202020204" pitchFamily="34" charset="0"/>
              </a:rPr>
              <a:t>: Ensuring AI systems are developed and used ethically and responsibly.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Product Manager</a:t>
            </a:r>
            <a:r>
              <a:rPr kumimoji="0" lang="en-US" altLang="en-US" sz="1800" b="0" i="0" u="none" strike="noStrike" cap="none" normalizeH="0" baseline="0" dirty="0">
                <a:ln>
                  <a:noFill/>
                </a:ln>
                <a:solidFill>
                  <a:schemeClr val="tx1"/>
                </a:solidFill>
                <a:effectLst/>
                <a:latin typeface="Arial" panose="020B0604020202020204" pitchFamily="34" charset="0"/>
              </a:rPr>
              <a:t>: Overseeing the development and deployment of AI products.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Research Scientist</a:t>
            </a:r>
            <a:r>
              <a:rPr kumimoji="0" lang="en-US" altLang="en-US" sz="1800" b="0" i="0" u="none" strike="noStrike" cap="none" normalizeH="0" baseline="0" dirty="0">
                <a:ln>
                  <a:noFill/>
                </a:ln>
                <a:solidFill>
                  <a:schemeClr val="tx1"/>
                </a:solidFill>
                <a:effectLst/>
                <a:latin typeface="Arial" panose="020B0604020202020204" pitchFamily="34" charset="0"/>
              </a:rPr>
              <a:t>: Conducting research to advance AI technologies.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Policy Analyst</a:t>
            </a:r>
            <a:r>
              <a:rPr kumimoji="0" lang="en-US" altLang="en-US" sz="1800" b="0" i="0" u="none" strike="noStrike" cap="none" normalizeH="0" baseline="0" dirty="0">
                <a:ln>
                  <a:noFill/>
                </a:ln>
                <a:solidFill>
                  <a:schemeClr val="tx1"/>
                </a:solidFill>
                <a:effectLst/>
                <a:latin typeface="Arial" panose="020B0604020202020204" pitchFamily="34" charset="0"/>
              </a:rPr>
              <a:t>: Developing policies and regulations for AI use.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AI-Trained Customer Support Specialist</a:t>
            </a:r>
            <a:r>
              <a:rPr kumimoji="0" lang="en-US" altLang="en-US" sz="1800" b="0" i="0" u="none" strike="noStrike" cap="none" normalizeH="0" baseline="0" dirty="0">
                <a:ln>
                  <a:noFill/>
                </a:ln>
                <a:solidFill>
                  <a:schemeClr val="tx1"/>
                </a:solidFill>
                <a:effectLst/>
                <a:latin typeface="Arial" panose="020B0604020202020204" pitchFamily="34" charset="0"/>
              </a:rPr>
              <a:t>: Using AI tools to provide efficient customer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AI-Trained Content Creator</a:t>
            </a:r>
            <a:r>
              <a:rPr kumimoji="0" lang="en-US" altLang="en-US" sz="1800" b="0" i="0" u="none" strike="noStrike" cap="none" normalizeH="0" baseline="0" dirty="0">
                <a:ln>
                  <a:noFill/>
                </a:ln>
                <a:solidFill>
                  <a:schemeClr val="tx1"/>
                </a:solidFill>
                <a:effectLst/>
                <a:latin typeface="Arial" panose="020B0604020202020204" pitchFamily="34" charset="0"/>
              </a:rPr>
              <a:t>: Generating creative content using AI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AI-Trained Software Developer</a:t>
            </a:r>
            <a:r>
              <a:rPr kumimoji="0" lang="en-US" altLang="en-US" sz="1800" b="0" i="0" u="none" strike="noStrike" cap="none" normalizeH="0" baseline="0" dirty="0">
                <a:ln>
                  <a:noFill/>
                </a:ln>
                <a:solidFill>
                  <a:schemeClr val="tx1"/>
                </a:solidFill>
                <a:effectLst/>
                <a:latin typeface="Arial" panose="020B0604020202020204" pitchFamily="34" charset="0"/>
              </a:rPr>
              <a:t>: Using AI to automate and enhance software development processes.</a:t>
            </a:r>
          </a:p>
        </p:txBody>
      </p:sp>
    </p:spTree>
    <p:extLst>
      <p:ext uri="{BB962C8B-B14F-4D97-AF65-F5344CB8AC3E}">
        <p14:creationId xmlns:p14="http://schemas.microsoft.com/office/powerpoint/2010/main" val="12166378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14574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267</TotalTime>
  <Words>1270</Words>
  <Application>Microsoft Office PowerPoint</Application>
  <PresentationFormat>Custom</PresentationFormat>
  <Paragraphs>115</Paragraphs>
  <Slides>9</Slides>
  <Notes>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__fkGroteskNeue_598ab8</vt:lpstr>
      <vt:lpstr>Arial</vt:lpstr>
      <vt:lpstr>Calibri</vt:lpstr>
      <vt:lpstr>Canva Sans Bold</vt:lpstr>
      <vt:lpstr>Aptos</vt:lpstr>
      <vt:lpstr>Poppins</vt:lpstr>
      <vt:lpstr>Canva Sans</vt:lpstr>
      <vt:lpstr>Poppins Bold</vt:lpstr>
      <vt:lpstr>var(--font-fk-grotesk)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Futuristic Artificial Intelligence Presentation</dc:title>
  <cp:lastModifiedBy>Annapurna Rachapudi</cp:lastModifiedBy>
  <cp:revision>2</cp:revision>
  <dcterms:created xsi:type="dcterms:W3CDTF">2006-08-16T00:00:00Z</dcterms:created>
  <dcterms:modified xsi:type="dcterms:W3CDTF">2024-11-04T12:13:37Z</dcterms:modified>
  <dc:identifier>DAGVYqszhJU</dc:identifier>
</cp:coreProperties>
</file>